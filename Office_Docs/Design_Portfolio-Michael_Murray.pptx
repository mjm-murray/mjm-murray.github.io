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8"/>
  </p:notesMasterIdLst>
  <p:sldIdLst>
    <p:sldId id="256" r:id="rId2"/>
    <p:sldId id="257" r:id="rId3"/>
    <p:sldId id="324" r:id="rId4"/>
    <p:sldId id="314" r:id="rId5"/>
    <p:sldId id="271" r:id="rId6"/>
    <p:sldId id="258" r:id="rId7"/>
    <p:sldId id="296" r:id="rId8"/>
    <p:sldId id="297" r:id="rId9"/>
    <p:sldId id="299" r:id="rId10"/>
    <p:sldId id="312" r:id="rId11"/>
    <p:sldId id="300" r:id="rId12"/>
    <p:sldId id="318" r:id="rId13"/>
    <p:sldId id="301" r:id="rId14"/>
    <p:sldId id="302" r:id="rId15"/>
    <p:sldId id="298" r:id="rId16"/>
    <p:sldId id="316" r:id="rId17"/>
    <p:sldId id="310" r:id="rId18"/>
    <p:sldId id="308" r:id="rId19"/>
    <p:sldId id="311" r:id="rId20"/>
    <p:sldId id="304" r:id="rId21"/>
    <p:sldId id="307" r:id="rId22"/>
    <p:sldId id="320" r:id="rId23"/>
    <p:sldId id="326" r:id="rId24"/>
    <p:sldId id="325" r:id="rId25"/>
    <p:sldId id="321" r:id="rId26"/>
    <p:sldId id="322" r:id="rId27"/>
  </p:sldIdLst>
  <p:sldSz cx="9144000" cy="5143500" type="screen16x9"/>
  <p:notesSz cx="6858000" cy="9144000"/>
  <p:embeddedFontLst>
    <p:embeddedFont>
      <p:font typeface="Helvetica" panose="020B0604020202020204" pitchFamily="34" charset="0"/>
      <p:regular r:id="rId29"/>
      <p:bold r:id="rId30"/>
      <p:italic r:id="rId31"/>
      <p:boldItalic r:id="rId32"/>
    </p:embeddedFont>
    <p:embeddedFont>
      <p:font typeface="Lato" panose="020F0502020204030203" pitchFamily="34" charset="0"/>
      <p:regular r:id="rId33"/>
      <p:bold r:id="rId34"/>
      <p:italic r:id="rId35"/>
      <p:boldItalic r:id="rId36"/>
    </p:embeddedFont>
    <p:embeddedFont>
      <p:font typeface="Space Mono"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ECFDAE-E12B-4E73-82F9-652A42C1272F}" v="369" dt="2026-10-12T20:16:08.334"/>
    <p1510:client id="{DA801311-126B-47D1-9F1D-19F7475427C6}" v="102" dt="2026-10-12T15:17:23.153"/>
    <p1510:client id="{F7089E6D-F934-47A7-B577-518708A993C0}" v="25" dt="2026-10-12T15:18:47.601"/>
  </p1510:revLst>
</p1510:revInfo>
</file>

<file path=ppt/tableStyles.xml><?xml version="1.0" encoding="utf-8"?>
<a:tblStyleLst xmlns:a="http://schemas.openxmlformats.org/drawingml/2006/main" def="{070474B8-8DAE-4E05-B427-F86ECBEBCD6A}">
  <a:tblStyle styleId="{070474B8-8DAE-4E05-B427-F86ECBEBCD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947D1BF-E943-44C0-9B89-D65D1091A74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04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17" tIns="91417" rIns="91417" bIns="91417"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p: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540583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618374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2ce3930b2b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22ce3930b2b_0_21: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824125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677519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967344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732834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829163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439308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823774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3e65845f0e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13e65845f0e_1_12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519422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bd6c00e730_0_205: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367215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884614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234246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650066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751917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3e65845f0e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13e65845f0e_1_12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259946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045537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406550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a:extLst>
            <a:ext uri="{FF2B5EF4-FFF2-40B4-BE49-F238E27FC236}">
              <a16:creationId xmlns:a16="http://schemas.microsoft.com/office/drawing/2014/main" id="{7F61D349-4AF8-1596-4EEB-964486703A0C}"/>
            </a:ext>
          </a:extLst>
        </p:cNvPr>
        <p:cNvGrpSpPr/>
        <p:nvPr/>
      </p:nvGrpSpPr>
      <p:grpSpPr>
        <a:xfrm>
          <a:off x="0" y="0"/>
          <a:ext cx="0" cy="0"/>
          <a:chOff x="0" y="0"/>
          <a:chExt cx="0" cy="0"/>
        </a:xfrm>
      </p:grpSpPr>
      <p:sp>
        <p:nvSpPr>
          <p:cNvPr id="648" name="Google Shape;648;g127ae41f31c_0_18:notes">
            <a:extLst>
              <a:ext uri="{FF2B5EF4-FFF2-40B4-BE49-F238E27FC236}">
                <a16:creationId xmlns:a16="http://schemas.microsoft.com/office/drawing/2014/main" id="{8323BD9A-903B-6BF8-3AE2-68AF7D171D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a:extLst>
              <a:ext uri="{FF2B5EF4-FFF2-40B4-BE49-F238E27FC236}">
                <a16:creationId xmlns:a16="http://schemas.microsoft.com/office/drawing/2014/main" id="{02F1EE40-2BB0-0BAC-0BFD-020CA72FF5E3}"/>
              </a:ext>
            </a:extLst>
          </p:cNvPr>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4041096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85609" y="43121"/>
            <a:ext cx="9683641" cy="5349465"/>
            <a:chOff x="-185610" y="43117"/>
            <a:chExt cx="9683641" cy="5349465"/>
          </a:xfrm>
        </p:grpSpPr>
        <p:grpSp>
          <p:nvGrpSpPr>
            <p:cNvPr id="10" name="Google Shape;10;p2"/>
            <p:cNvGrpSpPr/>
            <p:nvPr/>
          </p:nvGrpSpPr>
          <p:grpSpPr>
            <a:xfrm>
              <a:off x="-185610" y="4182408"/>
              <a:ext cx="9329602" cy="1210174"/>
              <a:chOff x="1859848" y="4008665"/>
              <a:chExt cx="3610527" cy="468334"/>
            </a:xfrm>
          </p:grpSpPr>
          <p:sp>
            <p:nvSpPr>
              <p:cNvPr id="11" name="Google Shape;11;p2"/>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2" name="Google Shape;12;p2"/>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3" name="Google Shape;13;p2"/>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 name="Google Shape;14;p2"/>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 name="Google Shape;15;p2"/>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6" name="Google Shape;16;p2"/>
            <p:cNvGrpSpPr/>
            <p:nvPr/>
          </p:nvGrpSpPr>
          <p:grpSpPr>
            <a:xfrm>
              <a:off x="7210473" y="43117"/>
              <a:ext cx="2287558" cy="535375"/>
              <a:chOff x="2175592" y="2937274"/>
              <a:chExt cx="927790" cy="217138"/>
            </a:xfrm>
          </p:grpSpPr>
          <p:sp>
            <p:nvSpPr>
              <p:cNvPr id="17" name="Google Shape;17;p2"/>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 name="Google Shape;18;p2"/>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9" name="Google Shape;19;p2"/>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0" name="Google Shape;20;p2"/>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1" name="Google Shape;21;p2"/>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 name="Google Shape;22;p2"/>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 name="Google Shape;23;p2"/>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4" name="Google Shape;24;p2"/>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
        <p:nvSpPr>
          <p:cNvPr id="25" name="Google Shape;25;p2"/>
          <p:cNvSpPr txBox="1">
            <a:spLocks noGrp="1"/>
          </p:cNvSpPr>
          <p:nvPr>
            <p:ph type="ctrTitle"/>
          </p:nvPr>
        </p:nvSpPr>
        <p:spPr>
          <a:xfrm>
            <a:off x="2385900" y="1198676"/>
            <a:ext cx="6045000" cy="22431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191919"/>
              </a:buClr>
              <a:buSzPts val="5200"/>
              <a:buNone/>
              <a:defRPr sz="4501"/>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txBox="1">
            <a:spLocks noGrp="1"/>
          </p:cNvSpPr>
          <p:nvPr>
            <p:ph type="subTitle" idx="1"/>
          </p:nvPr>
        </p:nvSpPr>
        <p:spPr>
          <a:xfrm>
            <a:off x="3902050" y="3469025"/>
            <a:ext cx="4528800" cy="475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0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7" name="Google Shape;27;p2"/>
          <p:cNvGrpSpPr/>
          <p:nvPr/>
        </p:nvGrpSpPr>
        <p:grpSpPr>
          <a:xfrm>
            <a:off x="7990311" y="4110367"/>
            <a:ext cx="1087328" cy="1554067"/>
            <a:chOff x="8056685" y="4250574"/>
            <a:chExt cx="1087328" cy="1554067"/>
          </a:xfrm>
        </p:grpSpPr>
        <p:sp>
          <p:nvSpPr>
            <p:cNvPr id="28" name="Google Shape;28;p2"/>
            <p:cNvSpPr/>
            <p:nvPr/>
          </p:nvSpPr>
          <p:spPr>
            <a:xfrm>
              <a:off x="8056685" y="47172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9" name="Google Shape;29;p2"/>
            <p:cNvSpPr/>
            <p:nvPr/>
          </p:nvSpPr>
          <p:spPr>
            <a:xfrm>
              <a:off x="8644317" y="4250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sp>
        <p:nvSpPr>
          <p:cNvPr id="75" name="Google Shape;75;p5"/>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5"/>
          <p:cNvSpPr txBox="1">
            <a:spLocks noGrp="1"/>
          </p:cNvSpPr>
          <p:nvPr>
            <p:ph type="subTitle" idx="1"/>
          </p:nvPr>
        </p:nvSpPr>
        <p:spPr>
          <a:xfrm>
            <a:off x="1545475" y="2389646"/>
            <a:ext cx="2874300" cy="129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7" name="Google Shape;77;p5"/>
          <p:cNvSpPr txBox="1">
            <a:spLocks noGrp="1"/>
          </p:cNvSpPr>
          <p:nvPr>
            <p:ph type="subTitle" idx="2"/>
          </p:nvPr>
        </p:nvSpPr>
        <p:spPr>
          <a:xfrm>
            <a:off x="4724228" y="2389633"/>
            <a:ext cx="2874300" cy="129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b="0">
                <a:solidFill>
                  <a:schemeClr val="dk1"/>
                </a:solidFill>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78" name="Google Shape;78;p5"/>
          <p:cNvSpPr txBox="1">
            <a:spLocks noGrp="1"/>
          </p:cNvSpPr>
          <p:nvPr>
            <p:ph type="subTitle" idx="3"/>
          </p:nvPr>
        </p:nvSpPr>
        <p:spPr>
          <a:xfrm>
            <a:off x="1545463" y="2037608"/>
            <a:ext cx="2874300" cy="4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79" name="Google Shape;79;p5"/>
          <p:cNvSpPr txBox="1">
            <a:spLocks noGrp="1"/>
          </p:cNvSpPr>
          <p:nvPr>
            <p:ph type="subTitle" idx="4"/>
          </p:nvPr>
        </p:nvSpPr>
        <p:spPr>
          <a:xfrm>
            <a:off x="4724233" y="2037602"/>
            <a:ext cx="2874300" cy="4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80" name="Google Shape;80;p5"/>
          <p:cNvGrpSpPr/>
          <p:nvPr/>
        </p:nvGrpSpPr>
        <p:grpSpPr>
          <a:xfrm rot="10800000" flipH="1">
            <a:off x="-530284" y="47624"/>
            <a:ext cx="1587003" cy="1087440"/>
            <a:chOff x="-416690" y="4028937"/>
            <a:chExt cx="1587003" cy="1087440"/>
          </a:xfrm>
        </p:grpSpPr>
        <p:sp>
          <p:nvSpPr>
            <p:cNvPr id="81" name="Google Shape;81;p5"/>
            <p:cNvSpPr/>
            <p:nvPr/>
          </p:nvSpPr>
          <p:spPr>
            <a:xfrm>
              <a:off x="-416690" y="402893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2" name="Google Shape;82;p5"/>
            <p:cNvSpPr/>
            <p:nvPr/>
          </p:nvSpPr>
          <p:spPr>
            <a:xfrm>
              <a:off x="670617" y="4616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83" name="Google Shape;83;p5"/>
          <p:cNvGrpSpPr/>
          <p:nvPr/>
        </p:nvGrpSpPr>
        <p:grpSpPr>
          <a:xfrm>
            <a:off x="3531711" y="4185346"/>
            <a:ext cx="9375082" cy="1210174"/>
            <a:chOff x="3379311" y="4309346"/>
            <a:chExt cx="9375082" cy="1210174"/>
          </a:xfrm>
        </p:grpSpPr>
        <p:grpSp>
          <p:nvGrpSpPr>
            <p:cNvPr id="84" name="Google Shape;84;p5"/>
            <p:cNvGrpSpPr/>
            <p:nvPr/>
          </p:nvGrpSpPr>
          <p:grpSpPr>
            <a:xfrm>
              <a:off x="3424790" y="4309346"/>
              <a:ext cx="9329602" cy="1210174"/>
              <a:chOff x="1859848" y="4008665"/>
              <a:chExt cx="3610527" cy="468334"/>
            </a:xfrm>
          </p:grpSpPr>
          <p:sp>
            <p:nvSpPr>
              <p:cNvPr id="85" name="Google Shape;85;p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6" name="Google Shape;86;p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7" name="Google Shape;87;p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8" name="Google Shape;88;p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9" name="Google Shape;89;p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90" name="Google Shape;90;p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1" name="Google Shape;91;p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2" name="Google Shape;92;p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3" name="Google Shape;93;p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4" name="Google Shape;94;p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6"/>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7" name="Google Shape;97;p6"/>
          <p:cNvGrpSpPr/>
          <p:nvPr/>
        </p:nvGrpSpPr>
        <p:grpSpPr>
          <a:xfrm>
            <a:off x="8015890" y="80077"/>
            <a:ext cx="1394075" cy="535357"/>
            <a:chOff x="7247818" y="1391030"/>
            <a:chExt cx="1023926" cy="392692"/>
          </a:xfrm>
        </p:grpSpPr>
        <p:sp>
          <p:nvSpPr>
            <p:cNvPr id="98" name="Google Shape;98;p6"/>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9" name="Google Shape;99;p6"/>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0" name="Google Shape;100;p6"/>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1" name="Google Shape;101;p6"/>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2" name="Google Shape;102;p6"/>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3" name="Google Shape;103;p6"/>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4" name="Google Shape;104;p6"/>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05" name="Google Shape;105;p6"/>
          <p:cNvGrpSpPr/>
          <p:nvPr/>
        </p:nvGrpSpPr>
        <p:grpSpPr>
          <a:xfrm flipH="1">
            <a:off x="-538559" y="3343088"/>
            <a:ext cx="1235734" cy="1729664"/>
            <a:chOff x="8566584" y="1819088"/>
            <a:chExt cx="1235734" cy="1729664"/>
          </a:xfrm>
        </p:grpSpPr>
        <p:sp>
          <p:nvSpPr>
            <p:cNvPr id="106" name="Google Shape;106;p6"/>
            <p:cNvSpPr/>
            <p:nvPr/>
          </p:nvSpPr>
          <p:spPr>
            <a:xfrm rot="10800000">
              <a:off x="8714994" y="18190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7" name="Google Shape;107;p6"/>
            <p:cNvSpPr/>
            <p:nvPr/>
          </p:nvSpPr>
          <p:spPr>
            <a:xfrm rot="10800000">
              <a:off x="8566584" y="2906530"/>
              <a:ext cx="642050" cy="64222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2317950" y="1450551"/>
            <a:ext cx="4508100" cy="22425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38" name="Google Shape;138;p8"/>
          <p:cNvGrpSpPr/>
          <p:nvPr/>
        </p:nvGrpSpPr>
        <p:grpSpPr>
          <a:xfrm>
            <a:off x="-158239" y="-384435"/>
            <a:ext cx="1266008" cy="1778904"/>
            <a:chOff x="8536310" y="1682288"/>
            <a:chExt cx="1266008" cy="1778904"/>
          </a:xfrm>
        </p:grpSpPr>
        <p:sp>
          <p:nvSpPr>
            <p:cNvPr id="139" name="Google Shape;139;p8"/>
            <p:cNvSpPr/>
            <p:nvPr/>
          </p:nvSpPr>
          <p:spPr>
            <a:xfrm rot="10800000">
              <a:off x="8714994"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0" name="Google Shape;140;p8"/>
            <p:cNvSpPr/>
            <p:nvPr/>
          </p:nvSpPr>
          <p:spPr>
            <a:xfrm rot="10800000">
              <a:off x="8536310"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41" name="Google Shape;141;p8"/>
          <p:cNvGrpSpPr/>
          <p:nvPr/>
        </p:nvGrpSpPr>
        <p:grpSpPr>
          <a:xfrm>
            <a:off x="3379311" y="97488"/>
            <a:ext cx="9375082" cy="5422033"/>
            <a:chOff x="3379311" y="97486"/>
            <a:chExt cx="9375082" cy="5422033"/>
          </a:xfrm>
        </p:grpSpPr>
        <p:grpSp>
          <p:nvGrpSpPr>
            <p:cNvPr id="142" name="Google Shape;142;p8"/>
            <p:cNvGrpSpPr/>
            <p:nvPr/>
          </p:nvGrpSpPr>
          <p:grpSpPr>
            <a:xfrm flipH="1">
              <a:off x="7654812" y="97486"/>
              <a:ext cx="1394075" cy="535357"/>
              <a:chOff x="7247818" y="1391030"/>
              <a:chExt cx="1023926" cy="392692"/>
            </a:xfrm>
          </p:grpSpPr>
          <p:sp>
            <p:nvSpPr>
              <p:cNvPr id="143" name="Google Shape;143;p8"/>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4" name="Google Shape;144;p8"/>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5" name="Google Shape;145;p8"/>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6" name="Google Shape;146;p8"/>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7" name="Google Shape;147;p8"/>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8" name="Google Shape;148;p8"/>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9" name="Google Shape;149;p8"/>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50" name="Google Shape;150;p8"/>
            <p:cNvGrpSpPr/>
            <p:nvPr/>
          </p:nvGrpSpPr>
          <p:grpSpPr>
            <a:xfrm>
              <a:off x="3379311" y="4309346"/>
              <a:ext cx="9375082" cy="1210174"/>
              <a:chOff x="3379311" y="4309346"/>
              <a:chExt cx="9375082" cy="1210174"/>
            </a:xfrm>
          </p:grpSpPr>
          <p:grpSp>
            <p:nvGrpSpPr>
              <p:cNvPr id="151" name="Google Shape;151;p8"/>
              <p:cNvGrpSpPr/>
              <p:nvPr/>
            </p:nvGrpSpPr>
            <p:grpSpPr>
              <a:xfrm>
                <a:off x="3424790" y="4309346"/>
                <a:ext cx="9329602" cy="1210174"/>
                <a:chOff x="1859848" y="4008665"/>
                <a:chExt cx="3610527" cy="468334"/>
              </a:xfrm>
            </p:grpSpPr>
            <p:sp>
              <p:nvSpPr>
                <p:cNvPr id="152" name="Google Shape;152;p8"/>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3" name="Google Shape;153;p8"/>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4" name="Google Shape;154;p8"/>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5" name="Google Shape;155;p8"/>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6" name="Google Shape;156;p8"/>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157" name="Google Shape;157;p8"/>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8" name="Google Shape;158;p8"/>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9" name="Google Shape;159;p8"/>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60" name="Google Shape;160;p8"/>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61" name="Google Shape;161;p8"/>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2241450" y="152025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4" name="Google Shape;164;p9"/>
          <p:cNvSpPr txBox="1">
            <a:spLocks noGrp="1"/>
          </p:cNvSpPr>
          <p:nvPr>
            <p:ph type="subTitle" idx="1"/>
          </p:nvPr>
        </p:nvSpPr>
        <p:spPr>
          <a:xfrm>
            <a:off x="2241550" y="23620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grpSp>
        <p:nvGrpSpPr>
          <p:cNvPr id="165" name="Google Shape;165;p9"/>
          <p:cNvGrpSpPr/>
          <p:nvPr/>
        </p:nvGrpSpPr>
        <p:grpSpPr>
          <a:xfrm>
            <a:off x="8132885" y="4098178"/>
            <a:ext cx="1087328" cy="1554067"/>
            <a:chOff x="8056685" y="4021974"/>
            <a:chExt cx="1087328" cy="1554067"/>
          </a:xfrm>
        </p:grpSpPr>
        <p:sp>
          <p:nvSpPr>
            <p:cNvPr id="166" name="Google Shape;166;p9"/>
            <p:cNvSpPr/>
            <p:nvPr/>
          </p:nvSpPr>
          <p:spPr>
            <a:xfrm>
              <a:off x="8056685" y="44886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67" name="Google Shape;167;p9"/>
            <p:cNvSpPr/>
            <p:nvPr/>
          </p:nvSpPr>
          <p:spPr>
            <a:xfrm>
              <a:off x="8644317" y="40219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68" name="Google Shape;168;p9"/>
          <p:cNvGrpSpPr/>
          <p:nvPr/>
        </p:nvGrpSpPr>
        <p:grpSpPr>
          <a:xfrm>
            <a:off x="-552145" y="-4092920"/>
            <a:ext cx="9940427" cy="9329602"/>
            <a:chOff x="-552146" y="-4092920"/>
            <a:chExt cx="9940427" cy="9329602"/>
          </a:xfrm>
        </p:grpSpPr>
        <p:grpSp>
          <p:nvGrpSpPr>
            <p:cNvPr id="169" name="Google Shape;169;p9"/>
            <p:cNvGrpSpPr/>
            <p:nvPr/>
          </p:nvGrpSpPr>
          <p:grpSpPr>
            <a:xfrm>
              <a:off x="7100723" y="25936"/>
              <a:ext cx="2287558" cy="535377"/>
              <a:chOff x="2175592" y="2937274"/>
              <a:chExt cx="927790" cy="217139"/>
            </a:xfrm>
          </p:grpSpPr>
          <p:sp>
            <p:nvSpPr>
              <p:cNvPr id="170" name="Google Shape;170;p9"/>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1" name="Google Shape;171;p9"/>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2" name="Google Shape;172;p9"/>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3" name="Google Shape;173;p9"/>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4" name="Google Shape;174;p9"/>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5" name="Google Shape;175;p9"/>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6" name="Google Shape;176;p9"/>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7" name="Google Shape;177;p9"/>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78" name="Google Shape;178;p9"/>
            <p:cNvGrpSpPr/>
            <p:nvPr/>
          </p:nvGrpSpPr>
          <p:grpSpPr>
            <a:xfrm rot="5400000">
              <a:off x="-4611860" y="-33206"/>
              <a:ext cx="9329602" cy="1210174"/>
              <a:chOff x="1859848" y="4008665"/>
              <a:chExt cx="3610527" cy="468334"/>
            </a:xfrm>
          </p:grpSpPr>
          <p:sp>
            <p:nvSpPr>
              <p:cNvPr id="179" name="Google Shape;179;p9"/>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0" name="Google Shape;180;p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1" name="Google Shape;181;p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2" name="Google Shape;182;p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3" name="Google Shape;183;p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4"/>
        <p:cNvGrpSpPr/>
        <p:nvPr/>
      </p:nvGrpSpPr>
      <p:grpSpPr>
        <a:xfrm>
          <a:off x="0" y="0"/>
          <a:ext cx="0" cy="0"/>
          <a:chOff x="0" y="0"/>
          <a:chExt cx="0" cy="0"/>
        </a:xfrm>
      </p:grpSpPr>
      <p:sp>
        <p:nvSpPr>
          <p:cNvPr id="185" name="Google Shape;185;p10"/>
          <p:cNvSpPr>
            <a:spLocks noGrp="1"/>
          </p:cNvSpPr>
          <p:nvPr>
            <p:ph type="pic" idx="2"/>
          </p:nvPr>
        </p:nvSpPr>
        <p:spPr>
          <a:xfrm>
            <a:off x="0" y="0"/>
            <a:ext cx="9144000" cy="5143500"/>
          </a:xfrm>
          <a:prstGeom prst="rect">
            <a:avLst/>
          </a:prstGeom>
          <a:noFill/>
          <a:ln>
            <a:noFill/>
          </a:ln>
        </p:spPr>
      </p:sp>
      <p:sp>
        <p:nvSpPr>
          <p:cNvPr id="186" name="Google Shape;186;p10"/>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2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_1">
    <p:spTree>
      <p:nvGrpSpPr>
        <p:cNvPr id="1" name="Shape 222"/>
        <p:cNvGrpSpPr/>
        <p:nvPr/>
      </p:nvGrpSpPr>
      <p:grpSpPr>
        <a:xfrm>
          <a:off x="0" y="0"/>
          <a:ext cx="0" cy="0"/>
          <a:chOff x="0" y="0"/>
          <a:chExt cx="0" cy="0"/>
        </a:xfrm>
      </p:grpSpPr>
      <p:grpSp>
        <p:nvGrpSpPr>
          <p:cNvPr id="223" name="Google Shape;223;p13"/>
          <p:cNvGrpSpPr/>
          <p:nvPr/>
        </p:nvGrpSpPr>
        <p:grpSpPr>
          <a:xfrm>
            <a:off x="133663" y="-247144"/>
            <a:ext cx="9237498" cy="9329602"/>
            <a:chOff x="133663" y="-247145"/>
            <a:chExt cx="9237498" cy="9329602"/>
          </a:xfrm>
        </p:grpSpPr>
        <p:grpSp>
          <p:nvGrpSpPr>
            <p:cNvPr id="224" name="Google Shape;224;p13"/>
            <p:cNvGrpSpPr/>
            <p:nvPr/>
          </p:nvGrpSpPr>
          <p:grpSpPr>
            <a:xfrm rot="5400000">
              <a:off x="4101273" y="3812569"/>
              <a:ext cx="9329602" cy="1210174"/>
              <a:chOff x="1859848" y="4008665"/>
              <a:chExt cx="3610527" cy="468334"/>
            </a:xfrm>
          </p:grpSpPr>
          <p:sp>
            <p:nvSpPr>
              <p:cNvPr id="225" name="Google Shape;225;p13"/>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6" name="Google Shape;226;p13"/>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7" name="Google Shape;227;p13"/>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8" name="Google Shape;228;p13"/>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9" name="Google Shape;229;p13"/>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230" name="Google Shape;230;p13"/>
            <p:cNvGrpSpPr/>
            <p:nvPr/>
          </p:nvGrpSpPr>
          <p:grpSpPr>
            <a:xfrm rot="5400000" flipH="1">
              <a:off x="-571700" y="4159766"/>
              <a:ext cx="1946102" cy="535377"/>
              <a:chOff x="4494663" y="3046829"/>
              <a:chExt cx="789302" cy="217139"/>
            </a:xfrm>
          </p:grpSpPr>
          <p:sp>
            <p:nvSpPr>
              <p:cNvPr id="231" name="Google Shape;231;p13"/>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2" name="Google Shape;232;p13"/>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3" name="Google Shape;233;p13"/>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4" name="Google Shape;234;p13"/>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5" name="Google Shape;235;p13"/>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6" name="Google Shape;236;p13"/>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7" name="Google Shape;237;p13"/>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8" name="Google Shape;238;p13"/>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
        <p:nvSpPr>
          <p:cNvPr id="239" name="Google Shape;239;p13"/>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13"/>
          <p:cNvSpPr txBox="1">
            <a:spLocks noGrp="1"/>
          </p:cNvSpPr>
          <p:nvPr>
            <p:ph type="title" idx="2" hasCustomPrompt="1"/>
          </p:nvPr>
        </p:nvSpPr>
        <p:spPr>
          <a:xfrm>
            <a:off x="1423313" y="1431189"/>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1" name="Google Shape;241;p13"/>
          <p:cNvSpPr txBox="1">
            <a:spLocks noGrp="1"/>
          </p:cNvSpPr>
          <p:nvPr>
            <p:ph type="title" idx="3" hasCustomPrompt="1"/>
          </p:nvPr>
        </p:nvSpPr>
        <p:spPr>
          <a:xfrm>
            <a:off x="1423313" y="3101301"/>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2" name="Google Shape;242;p13"/>
          <p:cNvSpPr txBox="1">
            <a:spLocks noGrp="1"/>
          </p:cNvSpPr>
          <p:nvPr>
            <p:ph type="title" idx="4" hasCustomPrompt="1"/>
          </p:nvPr>
        </p:nvSpPr>
        <p:spPr>
          <a:xfrm>
            <a:off x="4118688" y="1431189"/>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3" name="Google Shape;243;p13"/>
          <p:cNvSpPr txBox="1">
            <a:spLocks noGrp="1"/>
          </p:cNvSpPr>
          <p:nvPr>
            <p:ph type="title" idx="5" hasCustomPrompt="1"/>
          </p:nvPr>
        </p:nvSpPr>
        <p:spPr>
          <a:xfrm>
            <a:off x="4118688" y="3101301"/>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4" name="Google Shape;244;p13"/>
          <p:cNvSpPr txBox="1">
            <a:spLocks noGrp="1"/>
          </p:cNvSpPr>
          <p:nvPr>
            <p:ph type="subTitle" idx="1"/>
          </p:nvPr>
        </p:nvSpPr>
        <p:spPr>
          <a:xfrm>
            <a:off x="71310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5" name="Google Shape;245;p13"/>
          <p:cNvSpPr txBox="1">
            <a:spLocks noGrp="1"/>
          </p:cNvSpPr>
          <p:nvPr>
            <p:ph type="subTitle" idx="6"/>
          </p:nvPr>
        </p:nvSpPr>
        <p:spPr>
          <a:xfrm>
            <a:off x="340845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6" name="Google Shape;246;p13"/>
          <p:cNvSpPr txBox="1">
            <a:spLocks noGrp="1"/>
          </p:cNvSpPr>
          <p:nvPr>
            <p:ph type="subTitle" idx="7"/>
          </p:nvPr>
        </p:nvSpPr>
        <p:spPr>
          <a:xfrm>
            <a:off x="71310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7" name="Google Shape;247;p13"/>
          <p:cNvSpPr txBox="1">
            <a:spLocks noGrp="1"/>
          </p:cNvSpPr>
          <p:nvPr>
            <p:ph type="subTitle" idx="8"/>
          </p:nvPr>
        </p:nvSpPr>
        <p:spPr>
          <a:xfrm>
            <a:off x="340845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8" name="Google Shape;248;p13"/>
          <p:cNvSpPr txBox="1">
            <a:spLocks noGrp="1"/>
          </p:cNvSpPr>
          <p:nvPr>
            <p:ph type="title" idx="9" hasCustomPrompt="1"/>
          </p:nvPr>
        </p:nvSpPr>
        <p:spPr>
          <a:xfrm>
            <a:off x="6814038" y="1431189"/>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9" name="Google Shape;249;p13"/>
          <p:cNvSpPr txBox="1">
            <a:spLocks noGrp="1"/>
          </p:cNvSpPr>
          <p:nvPr>
            <p:ph type="title" idx="13" hasCustomPrompt="1"/>
          </p:nvPr>
        </p:nvSpPr>
        <p:spPr>
          <a:xfrm>
            <a:off x="6814038" y="3101301"/>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50" name="Google Shape;250;p13"/>
          <p:cNvSpPr txBox="1">
            <a:spLocks noGrp="1"/>
          </p:cNvSpPr>
          <p:nvPr>
            <p:ph type="subTitle" idx="14"/>
          </p:nvPr>
        </p:nvSpPr>
        <p:spPr>
          <a:xfrm>
            <a:off x="610380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51" name="Google Shape;251;p13"/>
          <p:cNvSpPr txBox="1">
            <a:spLocks noGrp="1"/>
          </p:cNvSpPr>
          <p:nvPr>
            <p:ph type="subTitle" idx="15"/>
          </p:nvPr>
        </p:nvSpPr>
        <p:spPr>
          <a:xfrm>
            <a:off x="610380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252" name="Google Shape;252;p13"/>
          <p:cNvGrpSpPr/>
          <p:nvPr/>
        </p:nvGrpSpPr>
        <p:grpSpPr>
          <a:xfrm>
            <a:off x="8295096" y="-179969"/>
            <a:ext cx="1023926" cy="1024447"/>
            <a:chOff x="5690549" y="1784557"/>
            <a:chExt cx="570782" cy="571072"/>
          </a:xfrm>
        </p:grpSpPr>
        <p:sp>
          <p:nvSpPr>
            <p:cNvPr id="253" name="Google Shape;253;p13"/>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54" name="Google Shape;254;p13"/>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55" name="Google Shape;255;p13"/>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389"/>
        <p:cNvGrpSpPr/>
        <p:nvPr/>
      </p:nvGrpSpPr>
      <p:grpSpPr>
        <a:xfrm>
          <a:off x="0" y="0"/>
          <a:ext cx="0" cy="0"/>
          <a:chOff x="0" y="0"/>
          <a:chExt cx="0" cy="0"/>
        </a:xfrm>
      </p:grpSpPr>
      <p:sp>
        <p:nvSpPr>
          <p:cNvPr id="390" name="Google Shape;390;p19"/>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1" name="Google Shape;391;p19"/>
          <p:cNvSpPr txBox="1">
            <a:spLocks noGrp="1"/>
          </p:cNvSpPr>
          <p:nvPr>
            <p:ph type="subTitle" idx="1"/>
          </p:nvPr>
        </p:nvSpPr>
        <p:spPr>
          <a:xfrm>
            <a:off x="712925" y="1780826"/>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2" name="Google Shape;392;p19"/>
          <p:cNvSpPr txBox="1">
            <a:spLocks noGrp="1"/>
          </p:cNvSpPr>
          <p:nvPr>
            <p:ph type="subTitle" idx="2"/>
          </p:nvPr>
        </p:nvSpPr>
        <p:spPr>
          <a:xfrm>
            <a:off x="3373496" y="1780826"/>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3" name="Google Shape;393;p19"/>
          <p:cNvSpPr txBox="1">
            <a:spLocks noGrp="1"/>
          </p:cNvSpPr>
          <p:nvPr>
            <p:ph type="subTitle" idx="3"/>
          </p:nvPr>
        </p:nvSpPr>
        <p:spPr>
          <a:xfrm>
            <a:off x="712925" y="3519026"/>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4" name="Google Shape;394;p19"/>
          <p:cNvSpPr txBox="1">
            <a:spLocks noGrp="1"/>
          </p:cNvSpPr>
          <p:nvPr>
            <p:ph type="subTitle" idx="4"/>
          </p:nvPr>
        </p:nvSpPr>
        <p:spPr>
          <a:xfrm>
            <a:off x="3373537" y="3519026"/>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5" name="Google Shape;395;p19"/>
          <p:cNvSpPr txBox="1">
            <a:spLocks noGrp="1"/>
          </p:cNvSpPr>
          <p:nvPr>
            <p:ph type="subTitle" idx="5"/>
          </p:nvPr>
        </p:nvSpPr>
        <p:spPr>
          <a:xfrm>
            <a:off x="6034028" y="1780826"/>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6" name="Google Shape;396;p19"/>
          <p:cNvSpPr txBox="1">
            <a:spLocks noGrp="1"/>
          </p:cNvSpPr>
          <p:nvPr>
            <p:ph type="subTitle" idx="6"/>
          </p:nvPr>
        </p:nvSpPr>
        <p:spPr>
          <a:xfrm>
            <a:off x="6034148" y="3519026"/>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7" name="Google Shape;397;p19"/>
          <p:cNvSpPr txBox="1">
            <a:spLocks noGrp="1"/>
          </p:cNvSpPr>
          <p:nvPr>
            <p:ph type="subTitle" idx="7"/>
          </p:nvPr>
        </p:nvSpPr>
        <p:spPr>
          <a:xfrm>
            <a:off x="3373465" y="1462228"/>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8" name="Google Shape;398;p19"/>
          <p:cNvSpPr txBox="1">
            <a:spLocks noGrp="1"/>
          </p:cNvSpPr>
          <p:nvPr>
            <p:ph type="subTitle" idx="8"/>
          </p:nvPr>
        </p:nvSpPr>
        <p:spPr>
          <a:xfrm>
            <a:off x="3373465" y="3200425"/>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9" name="Google Shape;399;p19"/>
          <p:cNvSpPr txBox="1">
            <a:spLocks noGrp="1"/>
          </p:cNvSpPr>
          <p:nvPr>
            <p:ph type="subTitle" idx="9"/>
          </p:nvPr>
        </p:nvSpPr>
        <p:spPr>
          <a:xfrm>
            <a:off x="6034198" y="1462228"/>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0" name="Google Shape;400;p19"/>
          <p:cNvSpPr txBox="1">
            <a:spLocks noGrp="1"/>
          </p:cNvSpPr>
          <p:nvPr>
            <p:ph type="subTitle" idx="13"/>
          </p:nvPr>
        </p:nvSpPr>
        <p:spPr>
          <a:xfrm>
            <a:off x="6034198" y="3200425"/>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1" name="Google Shape;401;p19"/>
          <p:cNvSpPr txBox="1">
            <a:spLocks noGrp="1"/>
          </p:cNvSpPr>
          <p:nvPr>
            <p:ph type="subTitle" idx="14"/>
          </p:nvPr>
        </p:nvSpPr>
        <p:spPr>
          <a:xfrm>
            <a:off x="712925" y="1462228"/>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2" name="Google Shape;402;p19"/>
          <p:cNvSpPr txBox="1">
            <a:spLocks noGrp="1"/>
          </p:cNvSpPr>
          <p:nvPr>
            <p:ph type="subTitle" idx="15"/>
          </p:nvPr>
        </p:nvSpPr>
        <p:spPr>
          <a:xfrm>
            <a:off x="712925" y="3200425"/>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403" name="Google Shape;403;p19"/>
          <p:cNvGrpSpPr/>
          <p:nvPr/>
        </p:nvGrpSpPr>
        <p:grpSpPr>
          <a:xfrm flipH="1">
            <a:off x="8118372" y="-548037"/>
            <a:ext cx="1398033" cy="1787504"/>
            <a:chOff x="8432985" y="1472763"/>
            <a:chExt cx="1398033" cy="1787504"/>
          </a:xfrm>
        </p:grpSpPr>
        <p:sp>
          <p:nvSpPr>
            <p:cNvPr id="404" name="Google Shape;404;p19"/>
            <p:cNvSpPr/>
            <p:nvPr/>
          </p:nvSpPr>
          <p:spPr>
            <a:xfrm rot="10800000">
              <a:off x="8743694" y="14727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05" name="Google Shape;405;p19"/>
            <p:cNvSpPr/>
            <p:nvPr/>
          </p:nvSpPr>
          <p:spPr>
            <a:xfrm rot="10800000">
              <a:off x="8432985" y="252858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406" name="Google Shape;406;p19"/>
          <p:cNvGrpSpPr/>
          <p:nvPr/>
        </p:nvGrpSpPr>
        <p:grpSpPr>
          <a:xfrm flipH="1">
            <a:off x="-3646219" y="-64829"/>
            <a:ext cx="9375082" cy="5538261"/>
            <a:chOff x="3379311" y="-64831"/>
            <a:chExt cx="9375082" cy="5538261"/>
          </a:xfrm>
        </p:grpSpPr>
        <p:grpSp>
          <p:nvGrpSpPr>
            <p:cNvPr id="407" name="Google Shape;407;p19"/>
            <p:cNvGrpSpPr/>
            <p:nvPr/>
          </p:nvGrpSpPr>
          <p:grpSpPr>
            <a:xfrm flipH="1">
              <a:off x="7654812" y="-64831"/>
              <a:ext cx="1394075" cy="535357"/>
              <a:chOff x="7247818" y="1391030"/>
              <a:chExt cx="1023926" cy="392692"/>
            </a:xfrm>
          </p:grpSpPr>
          <p:sp>
            <p:nvSpPr>
              <p:cNvPr id="408" name="Google Shape;408;p19"/>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09" name="Google Shape;409;p19"/>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0" name="Google Shape;410;p19"/>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1" name="Google Shape;411;p19"/>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2" name="Google Shape;412;p19"/>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3" name="Google Shape;413;p19"/>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4" name="Google Shape;414;p19"/>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415" name="Google Shape;415;p19"/>
            <p:cNvGrpSpPr/>
            <p:nvPr/>
          </p:nvGrpSpPr>
          <p:grpSpPr>
            <a:xfrm>
              <a:off x="3379311" y="4374187"/>
              <a:ext cx="9375082" cy="1099243"/>
              <a:chOff x="3379311" y="4309346"/>
              <a:chExt cx="9375082" cy="1099243"/>
            </a:xfrm>
          </p:grpSpPr>
          <p:grpSp>
            <p:nvGrpSpPr>
              <p:cNvPr id="416" name="Google Shape;416;p19"/>
              <p:cNvGrpSpPr/>
              <p:nvPr/>
            </p:nvGrpSpPr>
            <p:grpSpPr>
              <a:xfrm>
                <a:off x="3424790" y="4309346"/>
                <a:ext cx="9329602" cy="1099243"/>
                <a:chOff x="1859848" y="4008665"/>
                <a:chExt cx="3610527" cy="425404"/>
              </a:xfrm>
            </p:grpSpPr>
            <p:sp>
              <p:nvSpPr>
                <p:cNvPr id="417" name="Google Shape;417;p1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8" name="Google Shape;418;p1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9" name="Google Shape;419;p1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0" name="Google Shape;420;p1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421" name="Google Shape;421;p19"/>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2" name="Google Shape;422;p19"/>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3" name="Google Shape;423;p19"/>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4" name="Google Shape;424;p19"/>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444"/>
        <p:cNvGrpSpPr/>
        <p:nvPr/>
      </p:nvGrpSpPr>
      <p:grpSpPr>
        <a:xfrm>
          <a:off x="0" y="0"/>
          <a:ext cx="0" cy="0"/>
          <a:chOff x="0" y="0"/>
          <a:chExt cx="0" cy="0"/>
        </a:xfrm>
      </p:grpSpPr>
      <p:sp>
        <p:nvSpPr>
          <p:cNvPr id="445" name="Google Shape;445;p21"/>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46" name="Google Shape;446;p21"/>
          <p:cNvGrpSpPr/>
          <p:nvPr/>
        </p:nvGrpSpPr>
        <p:grpSpPr>
          <a:xfrm>
            <a:off x="-247337" y="-247144"/>
            <a:ext cx="9237498" cy="9329602"/>
            <a:chOff x="-247337" y="-247145"/>
            <a:chExt cx="9237498" cy="9329602"/>
          </a:xfrm>
        </p:grpSpPr>
        <p:grpSp>
          <p:nvGrpSpPr>
            <p:cNvPr id="447" name="Google Shape;447;p21"/>
            <p:cNvGrpSpPr/>
            <p:nvPr/>
          </p:nvGrpSpPr>
          <p:grpSpPr>
            <a:xfrm rot="-5400000" flipH="1">
              <a:off x="-4307051" y="3812569"/>
              <a:ext cx="9329602" cy="1210174"/>
              <a:chOff x="1859848" y="4008665"/>
              <a:chExt cx="3610527" cy="468334"/>
            </a:xfrm>
          </p:grpSpPr>
          <p:sp>
            <p:nvSpPr>
              <p:cNvPr id="448" name="Google Shape;448;p21"/>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49" name="Google Shape;449;p21"/>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0" name="Google Shape;450;p21"/>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1" name="Google Shape;451;p21"/>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2" name="Google Shape;452;p21"/>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453" name="Google Shape;453;p21"/>
            <p:cNvGrpSpPr/>
            <p:nvPr/>
          </p:nvGrpSpPr>
          <p:grpSpPr>
            <a:xfrm rot="-5400000">
              <a:off x="7749421" y="4159766"/>
              <a:ext cx="1946102" cy="535377"/>
              <a:chOff x="4494663" y="3046829"/>
              <a:chExt cx="789302" cy="217139"/>
            </a:xfrm>
          </p:grpSpPr>
          <p:sp>
            <p:nvSpPr>
              <p:cNvPr id="454" name="Google Shape;454;p21"/>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5" name="Google Shape;455;p21"/>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6" name="Google Shape;456;p21"/>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7" name="Google Shape;457;p21"/>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8" name="Google Shape;458;p21"/>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9" name="Google Shape;459;p21"/>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0" name="Google Shape;460;p21"/>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1" name="Google Shape;461;p21"/>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grpSp>
        <p:nvGrpSpPr>
          <p:cNvPr id="462" name="Google Shape;462;p21"/>
          <p:cNvGrpSpPr/>
          <p:nvPr/>
        </p:nvGrpSpPr>
        <p:grpSpPr>
          <a:xfrm flipH="1">
            <a:off x="-195197" y="-179969"/>
            <a:ext cx="1023926" cy="1024447"/>
            <a:chOff x="5690549" y="1784557"/>
            <a:chExt cx="570782" cy="571072"/>
          </a:xfrm>
        </p:grpSpPr>
        <p:sp>
          <p:nvSpPr>
            <p:cNvPr id="463" name="Google Shape;463;p21"/>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4" name="Google Shape;464;p21"/>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5" name="Google Shape;465;p21"/>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12"/>
        <p:cNvGrpSpPr/>
        <p:nvPr/>
      </p:nvGrpSpPr>
      <p:grpSpPr>
        <a:xfrm>
          <a:off x="0" y="0"/>
          <a:ext cx="0" cy="0"/>
          <a:chOff x="0" y="0"/>
          <a:chExt cx="0" cy="0"/>
        </a:xfrm>
      </p:grpSpPr>
      <p:grpSp>
        <p:nvGrpSpPr>
          <p:cNvPr id="513" name="Google Shape;513;p24"/>
          <p:cNvGrpSpPr/>
          <p:nvPr/>
        </p:nvGrpSpPr>
        <p:grpSpPr>
          <a:xfrm rot="5400000">
            <a:off x="3796474" y="3812570"/>
            <a:ext cx="9329602" cy="1210174"/>
            <a:chOff x="1859848" y="4008665"/>
            <a:chExt cx="3610527" cy="468334"/>
          </a:xfrm>
        </p:grpSpPr>
        <p:sp>
          <p:nvSpPr>
            <p:cNvPr id="514" name="Google Shape;514;p24"/>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5" name="Google Shape;515;p24"/>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6" name="Google Shape;516;p24"/>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7" name="Google Shape;517;p24"/>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8" name="Google Shape;518;p24"/>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519" name="Google Shape;519;p24"/>
          <p:cNvGrpSpPr/>
          <p:nvPr/>
        </p:nvGrpSpPr>
        <p:grpSpPr>
          <a:xfrm>
            <a:off x="7995975" y="-151571"/>
            <a:ext cx="1023926" cy="1024447"/>
            <a:chOff x="5690549" y="1784557"/>
            <a:chExt cx="570782" cy="571072"/>
          </a:xfrm>
        </p:grpSpPr>
        <p:sp>
          <p:nvSpPr>
            <p:cNvPr id="520" name="Google Shape;520;p24"/>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21" name="Google Shape;521;p24"/>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22" name="Google Shape;522;p24"/>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23"/>
        <p:cNvGrpSpPr/>
        <p:nvPr/>
      </p:nvGrpSpPr>
      <p:grpSpPr>
        <a:xfrm>
          <a:off x="0" y="0"/>
          <a:ext cx="0" cy="0"/>
          <a:chOff x="0" y="0"/>
          <a:chExt cx="0" cy="0"/>
        </a:xfrm>
      </p:grpSpPr>
      <p:grpSp>
        <p:nvGrpSpPr>
          <p:cNvPr id="524" name="Google Shape;524;p25"/>
          <p:cNvGrpSpPr/>
          <p:nvPr/>
        </p:nvGrpSpPr>
        <p:grpSpPr>
          <a:xfrm>
            <a:off x="-366564" y="-516411"/>
            <a:ext cx="1478383" cy="1767454"/>
            <a:chOff x="8300960" y="1642063"/>
            <a:chExt cx="1478383" cy="1767454"/>
          </a:xfrm>
        </p:grpSpPr>
        <p:sp>
          <p:nvSpPr>
            <p:cNvPr id="525" name="Google Shape;525;p25"/>
            <p:cNvSpPr/>
            <p:nvPr/>
          </p:nvSpPr>
          <p:spPr>
            <a:xfrm rot="10800000">
              <a:off x="8692019" y="16420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26" name="Google Shape;526;p25"/>
            <p:cNvSpPr/>
            <p:nvPr/>
          </p:nvSpPr>
          <p:spPr>
            <a:xfrm rot="10800000">
              <a:off x="8300960" y="267783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527" name="Google Shape;527;p25"/>
          <p:cNvGrpSpPr/>
          <p:nvPr/>
        </p:nvGrpSpPr>
        <p:grpSpPr>
          <a:xfrm>
            <a:off x="3531711" y="76214"/>
            <a:ext cx="9375082" cy="5367109"/>
            <a:chOff x="3531711" y="76210"/>
            <a:chExt cx="9375082" cy="5367109"/>
          </a:xfrm>
        </p:grpSpPr>
        <p:grpSp>
          <p:nvGrpSpPr>
            <p:cNvPr id="528" name="Google Shape;528;p25"/>
            <p:cNvGrpSpPr/>
            <p:nvPr/>
          </p:nvGrpSpPr>
          <p:grpSpPr>
            <a:xfrm flipH="1">
              <a:off x="7654812" y="76210"/>
              <a:ext cx="1394075" cy="535357"/>
              <a:chOff x="7247818" y="1391030"/>
              <a:chExt cx="1023926" cy="392692"/>
            </a:xfrm>
          </p:grpSpPr>
          <p:sp>
            <p:nvSpPr>
              <p:cNvPr id="529" name="Google Shape;529;p25"/>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0" name="Google Shape;530;p25"/>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1" name="Google Shape;531;p25"/>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2" name="Google Shape;532;p25"/>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3" name="Google Shape;533;p25"/>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4" name="Google Shape;534;p25"/>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5" name="Google Shape;535;p25"/>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536" name="Google Shape;536;p25"/>
            <p:cNvGrpSpPr/>
            <p:nvPr/>
          </p:nvGrpSpPr>
          <p:grpSpPr>
            <a:xfrm>
              <a:off x="3531711" y="4233146"/>
              <a:ext cx="9375082" cy="1210174"/>
              <a:chOff x="3379311" y="4309346"/>
              <a:chExt cx="9375082" cy="1210174"/>
            </a:xfrm>
          </p:grpSpPr>
          <p:grpSp>
            <p:nvGrpSpPr>
              <p:cNvPr id="537" name="Google Shape;537;p25"/>
              <p:cNvGrpSpPr/>
              <p:nvPr/>
            </p:nvGrpSpPr>
            <p:grpSpPr>
              <a:xfrm>
                <a:off x="3424790" y="4309346"/>
                <a:ext cx="9329602" cy="1210174"/>
                <a:chOff x="1859848" y="4008665"/>
                <a:chExt cx="3610527" cy="468334"/>
              </a:xfrm>
            </p:grpSpPr>
            <p:sp>
              <p:nvSpPr>
                <p:cNvPr id="538" name="Google Shape;538;p2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9" name="Google Shape;539;p2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0" name="Google Shape;540;p2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1" name="Google Shape;541;p2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2" name="Google Shape;542;p2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543" name="Google Shape;543;p2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4" name="Google Shape;544;p2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5" name="Google Shape;545;p2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6" name="Google Shape;546;p2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7" name="Google Shape;547;p2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1"/>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713100" y="1152476"/>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marL="914400" lvl="1"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marL="1371600" lvl="2"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marL="1828800" lvl="3"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marL="2286000" lvl="4"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marL="2743200" lvl="5"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marL="3200400" lvl="6"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marL="3657600" lvl="7"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marL="4114800" lvl="8" indent="-304800">
              <a:lnSpc>
                <a:spcPct val="115000"/>
              </a:lnSpc>
              <a:spcBef>
                <a:spcPts val="1600"/>
              </a:spcBef>
              <a:spcAft>
                <a:spcPts val="1600"/>
              </a:spcAft>
              <a:buClr>
                <a:schemeClr val="dk1"/>
              </a:buClr>
              <a:buSzPts val="1200"/>
              <a:buFont typeface="Archivo"/>
              <a:buChar char="■"/>
              <a:defRPr sz="12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4" r:id="rId4"/>
    <p:sldLayoutId id="2147483655" r:id="rId5"/>
    <p:sldLayoutId id="2147483656" r:id="rId6"/>
    <p:sldLayoutId id="2147483658" r:id="rId7"/>
    <p:sldLayoutId id="2147483659" r:id="rId8"/>
    <p:sldLayoutId id="2147483665" r:id="rId9"/>
    <p:sldLayoutId id="2147483667" r:id="rId10"/>
    <p:sldLayoutId id="2147483670" r:id="rId11"/>
    <p:sldLayoutId id="214748367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mailto:mjm.murray@gmail.com" TargetMode="External"/><Relationship Id="rId7"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hyperlink" Target="https://linktr.ee/michaeljohnmurray" TargetMode="External"/></Relationships>
</file>

<file path=ppt/slides/_rels/slide2.xml.rels><?xml version="1.0" encoding="UTF-8" standalone="yes"?>
<Relationships xmlns="http://schemas.openxmlformats.org/package/2006/relationships"><Relationship Id="rId13" Type="http://schemas.openxmlformats.org/officeDocument/2006/relationships/slide" Target="slide15.xml"/><Relationship Id="rId18" Type="http://schemas.openxmlformats.org/officeDocument/2006/relationships/image" Target="../media/image12.png"/><Relationship Id="rId26" Type="http://schemas.openxmlformats.org/officeDocument/2006/relationships/image" Target="../media/image16.png"/><Relationship Id="rId3" Type="http://schemas.openxmlformats.org/officeDocument/2006/relationships/slide" Target="slide4.xml"/><Relationship Id="rId21" Type="http://schemas.openxmlformats.org/officeDocument/2006/relationships/image" Target="../media/image14.png"/><Relationship Id="rId34" Type="http://schemas.openxmlformats.org/officeDocument/2006/relationships/image" Target="../media/image21.png"/><Relationship Id="rId7" Type="http://schemas.openxmlformats.org/officeDocument/2006/relationships/slide" Target="slide8.xml"/><Relationship Id="rId12" Type="http://schemas.openxmlformats.org/officeDocument/2006/relationships/image" Target="../media/image9.png"/><Relationship Id="rId17" Type="http://schemas.openxmlformats.org/officeDocument/2006/relationships/slide" Target="slide19.xml"/><Relationship Id="rId25" Type="http://schemas.openxmlformats.org/officeDocument/2006/relationships/slide" Target="slide10.xml"/><Relationship Id="rId33" Type="http://schemas.openxmlformats.org/officeDocument/2006/relationships/slide" Target="slide23.xml"/><Relationship Id="rId2" Type="http://schemas.openxmlformats.org/officeDocument/2006/relationships/notesSlide" Target="../notesSlides/notesSlide2.xml"/><Relationship Id="rId16" Type="http://schemas.openxmlformats.org/officeDocument/2006/relationships/image" Target="../media/image11.png"/><Relationship Id="rId20" Type="http://schemas.openxmlformats.org/officeDocument/2006/relationships/slide" Target="slide17.xml"/><Relationship Id="rId29"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slide" Target="slide13.xml"/><Relationship Id="rId24" Type="http://schemas.openxmlformats.org/officeDocument/2006/relationships/image" Target="../media/image15.png"/><Relationship Id="rId32" Type="http://schemas.openxmlformats.org/officeDocument/2006/relationships/image" Target="../media/image20.png"/><Relationship Id="rId5" Type="http://schemas.openxmlformats.org/officeDocument/2006/relationships/slide" Target="slide11.xml"/><Relationship Id="rId15" Type="http://schemas.openxmlformats.org/officeDocument/2006/relationships/slide" Target="slide18.xml"/><Relationship Id="rId23" Type="http://schemas.openxmlformats.org/officeDocument/2006/relationships/slide" Target="slide6.xml"/><Relationship Id="rId28" Type="http://schemas.openxmlformats.org/officeDocument/2006/relationships/slide" Target="slide21.xml"/><Relationship Id="rId10" Type="http://schemas.openxmlformats.org/officeDocument/2006/relationships/image" Target="../media/image8.png"/><Relationship Id="rId19" Type="http://schemas.openxmlformats.org/officeDocument/2006/relationships/image" Target="../media/image13.png"/><Relationship Id="rId31"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slide" Target="slide16.xml"/><Relationship Id="rId14" Type="http://schemas.openxmlformats.org/officeDocument/2006/relationships/image" Target="../media/image10.png"/><Relationship Id="rId22" Type="http://schemas.openxmlformats.org/officeDocument/2006/relationships/slide" Target="slide20.xml"/><Relationship Id="rId27" Type="http://schemas.openxmlformats.org/officeDocument/2006/relationships/image" Target="../media/image17.png"/><Relationship Id="rId30" Type="http://schemas.openxmlformats.org/officeDocument/2006/relationships/slide" Target="slide12.xml"/><Relationship Id="rId35" Type="http://schemas.openxmlformats.org/officeDocument/2006/relationships/slide" Target="slide3.xml"/><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46.jpe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grpSp>
        <p:nvGrpSpPr>
          <p:cNvPr id="582" name="Google Shape;582;p30"/>
          <p:cNvGrpSpPr/>
          <p:nvPr/>
        </p:nvGrpSpPr>
        <p:grpSpPr>
          <a:xfrm>
            <a:off x="-1413549" y="-1420325"/>
            <a:ext cx="4055769" cy="4054532"/>
            <a:chOff x="-2065431" y="-1404875"/>
            <a:chExt cx="4055769" cy="4054532"/>
          </a:xfrm>
        </p:grpSpPr>
        <p:grpSp>
          <p:nvGrpSpPr>
            <p:cNvPr id="583" name="Google Shape;583;p30"/>
            <p:cNvGrpSpPr/>
            <p:nvPr/>
          </p:nvGrpSpPr>
          <p:grpSpPr>
            <a:xfrm>
              <a:off x="-965646" y="-306294"/>
              <a:ext cx="1855954" cy="1856899"/>
              <a:chOff x="5690549" y="1784557"/>
              <a:chExt cx="570782" cy="571072"/>
            </a:xfrm>
          </p:grpSpPr>
          <p:sp>
            <p:nvSpPr>
              <p:cNvPr id="584" name="Google Shape;584;p30"/>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85" name="Google Shape;585;p30"/>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endParaRPr/>
              </a:p>
            </p:txBody>
          </p:sp>
          <p:sp>
            <p:nvSpPr>
              <p:cNvPr id="586" name="Google Shape;586;p30"/>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grpSp>
          <p:nvGrpSpPr>
            <p:cNvPr id="587" name="Google Shape;587;p30"/>
            <p:cNvGrpSpPr/>
            <p:nvPr/>
          </p:nvGrpSpPr>
          <p:grpSpPr>
            <a:xfrm>
              <a:off x="-1247046" y="-636686"/>
              <a:ext cx="2419634" cy="2518026"/>
              <a:chOff x="4876082" y="1708500"/>
              <a:chExt cx="694938" cy="723197"/>
            </a:xfrm>
          </p:grpSpPr>
          <p:sp>
            <p:nvSpPr>
              <p:cNvPr id="588" name="Google Shape;588;p30"/>
              <p:cNvSpPr/>
              <p:nvPr/>
            </p:nvSpPr>
            <p:spPr>
              <a:xfrm>
                <a:off x="5042889" y="1734725"/>
                <a:ext cx="507968" cy="262784"/>
              </a:xfrm>
              <a:custGeom>
                <a:avLst/>
                <a:gdLst/>
                <a:ahLst/>
                <a:cxnLst/>
                <a:rect l="l" t="t" r="r" b="b"/>
                <a:pathLst>
                  <a:path w="15729" h="8137" extrusionOk="0">
                    <a:moveTo>
                      <a:pt x="5603" y="0"/>
                    </a:moveTo>
                    <a:cubicBezTo>
                      <a:pt x="3542" y="0"/>
                      <a:pt x="1615" y="607"/>
                      <a:pt x="0" y="1651"/>
                    </a:cubicBezTo>
                    <a:lnTo>
                      <a:pt x="0" y="1784"/>
                    </a:lnTo>
                    <a:cubicBezTo>
                      <a:pt x="1615" y="732"/>
                      <a:pt x="3533" y="116"/>
                      <a:pt x="5603" y="116"/>
                    </a:cubicBezTo>
                    <a:cubicBezTo>
                      <a:pt x="10492" y="116"/>
                      <a:pt x="14595" y="3551"/>
                      <a:pt x="15621" y="8136"/>
                    </a:cubicBezTo>
                    <a:lnTo>
                      <a:pt x="15728" y="8109"/>
                    </a:lnTo>
                    <a:cubicBezTo>
                      <a:pt x="14693" y="3479"/>
                      <a:pt x="10545" y="0"/>
                      <a:pt x="5603" y="0"/>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89" name="Google Shape;589;p30"/>
              <p:cNvSpPr/>
              <p:nvPr/>
            </p:nvSpPr>
            <p:spPr>
              <a:xfrm>
                <a:off x="4888742" y="1886547"/>
                <a:ext cx="669314" cy="518625"/>
              </a:xfrm>
              <a:custGeom>
                <a:avLst/>
                <a:gdLst/>
                <a:ahLst/>
                <a:cxnLst/>
                <a:rect l="l" t="t" r="r" b="b"/>
                <a:pathLst>
                  <a:path w="20725" h="16059" extrusionOk="0">
                    <a:moveTo>
                      <a:pt x="1696" y="1"/>
                    </a:moveTo>
                    <a:cubicBezTo>
                      <a:pt x="625" y="1633"/>
                      <a:pt x="1" y="3587"/>
                      <a:pt x="1" y="5683"/>
                    </a:cubicBezTo>
                    <a:cubicBezTo>
                      <a:pt x="1" y="11411"/>
                      <a:pt x="4658" y="16058"/>
                      <a:pt x="10376" y="16058"/>
                    </a:cubicBezTo>
                    <a:cubicBezTo>
                      <a:pt x="15836" y="16058"/>
                      <a:pt x="20314" y="11830"/>
                      <a:pt x="20724" y="6486"/>
                    </a:cubicBezTo>
                    <a:lnTo>
                      <a:pt x="20724" y="6486"/>
                    </a:lnTo>
                    <a:lnTo>
                      <a:pt x="20608" y="6531"/>
                    </a:lnTo>
                    <a:cubicBezTo>
                      <a:pt x="20171" y="11794"/>
                      <a:pt x="15755" y="15951"/>
                      <a:pt x="10376" y="15951"/>
                    </a:cubicBezTo>
                    <a:cubicBezTo>
                      <a:pt x="4711" y="15951"/>
                      <a:pt x="108" y="11348"/>
                      <a:pt x="108" y="5683"/>
                    </a:cubicBezTo>
                    <a:cubicBezTo>
                      <a:pt x="108" y="3587"/>
                      <a:pt x="741" y="1633"/>
                      <a:pt x="1830"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0" name="Google Shape;590;p30"/>
              <p:cNvSpPr/>
              <p:nvPr/>
            </p:nvSpPr>
            <p:spPr>
              <a:xfrm>
                <a:off x="5463252" y="1820276"/>
                <a:ext cx="99985" cy="174361"/>
              </a:xfrm>
              <a:custGeom>
                <a:avLst/>
                <a:gdLst/>
                <a:ahLst/>
                <a:cxnLst/>
                <a:rect l="l" t="t" r="r" b="b"/>
                <a:pathLst>
                  <a:path w="3096" h="5399" extrusionOk="0">
                    <a:moveTo>
                      <a:pt x="72" y="1"/>
                    </a:moveTo>
                    <a:lnTo>
                      <a:pt x="0" y="81"/>
                    </a:lnTo>
                    <a:cubicBezTo>
                      <a:pt x="1463" y="1500"/>
                      <a:pt x="2525" y="3337"/>
                      <a:pt x="2980" y="5398"/>
                    </a:cubicBezTo>
                    <a:lnTo>
                      <a:pt x="3096" y="5371"/>
                    </a:lnTo>
                    <a:cubicBezTo>
                      <a:pt x="2623" y="3293"/>
                      <a:pt x="1553" y="1437"/>
                      <a:pt x="72"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1" name="Google Shape;591;p30"/>
              <p:cNvSpPr/>
              <p:nvPr/>
            </p:nvSpPr>
            <p:spPr>
              <a:xfrm>
                <a:off x="5439030" y="2090238"/>
                <a:ext cx="131990" cy="250706"/>
              </a:xfrm>
              <a:custGeom>
                <a:avLst/>
                <a:gdLst/>
                <a:ahLst/>
                <a:cxnLst/>
                <a:rect l="l" t="t" r="r" b="b"/>
                <a:pathLst>
                  <a:path w="4087" h="7763" extrusionOk="0">
                    <a:moveTo>
                      <a:pt x="4087" y="1"/>
                    </a:moveTo>
                    <a:lnTo>
                      <a:pt x="3971" y="54"/>
                    </a:lnTo>
                    <a:cubicBezTo>
                      <a:pt x="3775" y="3132"/>
                      <a:pt x="2267" y="5862"/>
                      <a:pt x="1" y="7682"/>
                    </a:cubicBezTo>
                    <a:lnTo>
                      <a:pt x="81" y="7762"/>
                    </a:lnTo>
                    <a:cubicBezTo>
                      <a:pt x="2383" y="5915"/>
                      <a:pt x="3908" y="3132"/>
                      <a:pt x="4087"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2" name="Google Shape;592;p30"/>
              <p:cNvSpPr/>
              <p:nvPr/>
            </p:nvSpPr>
            <p:spPr>
              <a:xfrm>
                <a:off x="4876082" y="1886547"/>
                <a:ext cx="100567" cy="425293"/>
              </a:xfrm>
              <a:custGeom>
                <a:avLst/>
                <a:gdLst/>
                <a:ahLst/>
                <a:cxnLst/>
                <a:rect l="l" t="t" r="r" b="b"/>
                <a:pathLst>
                  <a:path w="3114" h="13169" extrusionOk="0">
                    <a:moveTo>
                      <a:pt x="1624" y="1"/>
                    </a:moveTo>
                    <a:cubicBezTo>
                      <a:pt x="598" y="1651"/>
                      <a:pt x="0" y="3596"/>
                      <a:pt x="0" y="5683"/>
                    </a:cubicBezTo>
                    <a:cubicBezTo>
                      <a:pt x="0" y="8592"/>
                      <a:pt x="1160" y="11232"/>
                      <a:pt x="3042" y="13168"/>
                    </a:cubicBezTo>
                    <a:lnTo>
                      <a:pt x="3114" y="13088"/>
                    </a:lnTo>
                    <a:cubicBezTo>
                      <a:pt x="1258" y="11170"/>
                      <a:pt x="116" y="8556"/>
                      <a:pt x="116" y="5683"/>
                    </a:cubicBezTo>
                    <a:cubicBezTo>
                      <a:pt x="116" y="3596"/>
                      <a:pt x="714" y="1651"/>
                      <a:pt x="1758"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3" name="Google Shape;593;p30"/>
              <p:cNvSpPr/>
              <p:nvPr/>
            </p:nvSpPr>
            <p:spPr>
              <a:xfrm>
                <a:off x="5042889" y="1708500"/>
                <a:ext cx="497892" cy="189313"/>
              </a:xfrm>
              <a:custGeom>
                <a:avLst/>
                <a:gdLst/>
                <a:ahLst/>
                <a:cxnLst/>
                <a:rect l="l" t="t" r="r" b="b"/>
                <a:pathLst>
                  <a:path w="15417" h="5862" extrusionOk="0">
                    <a:moveTo>
                      <a:pt x="5603" y="0"/>
                    </a:moveTo>
                    <a:cubicBezTo>
                      <a:pt x="3560" y="0"/>
                      <a:pt x="1651" y="545"/>
                      <a:pt x="0" y="1508"/>
                    </a:cubicBezTo>
                    <a:lnTo>
                      <a:pt x="0" y="1633"/>
                    </a:lnTo>
                    <a:cubicBezTo>
                      <a:pt x="1642" y="670"/>
                      <a:pt x="3560" y="108"/>
                      <a:pt x="5603" y="108"/>
                    </a:cubicBezTo>
                    <a:cubicBezTo>
                      <a:pt x="9787" y="108"/>
                      <a:pt x="13427" y="2436"/>
                      <a:pt x="15318" y="5862"/>
                    </a:cubicBezTo>
                    <a:lnTo>
                      <a:pt x="15416" y="5808"/>
                    </a:lnTo>
                    <a:cubicBezTo>
                      <a:pt x="13507" y="2347"/>
                      <a:pt x="9823" y="0"/>
                      <a:pt x="5603" y="0"/>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4" name="Google Shape;594;p30"/>
              <p:cNvSpPr/>
              <p:nvPr/>
            </p:nvSpPr>
            <p:spPr>
              <a:xfrm>
                <a:off x="4909508" y="2247260"/>
                <a:ext cx="589771" cy="184437"/>
              </a:xfrm>
              <a:custGeom>
                <a:avLst/>
                <a:gdLst/>
                <a:ahLst/>
                <a:cxnLst/>
                <a:rect l="l" t="t" r="r" b="b"/>
                <a:pathLst>
                  <a:path w="18262" h="5711" extrusionOk="0">
                    <a:moveTo>
                      <a:pt x="98" y="1"/>
                    </a:moveTo>
                    <a:lnTo>
                      <a:pt x="0" y="54"/>
                    </a:lnTo>
                    <a:cubicBezTo>
                      <a:pt x="1936" y="3435"/>
                      <a:pt x="5576" y="5710"/>
                      <a:pt x="9733" y="5710"/>
                    </a:cubicBezTo>
                    <a:cubicBezTo>
                      <a:pt x="13150" y="5710"/>
                      <a:pt x="16201" y="4176"/>
                      <a:pt x="18261" y="1767"/>
                    </a:cubicBezTo>
                    <a:lnTo>
                      <a:pt x="18172" y="1696"/>
                    </a:lnTo>
                    <a:cubicBezTo>
                      <a:pt x="16138" y="4087"/>
                      <a:pt x="13114" y="5603"/>
                      <a:pt x="9733" y="5603"/>
                    </a:cubicBezTo>
                    <a:cubicBezTo>
                      <a:pt x="5611" y="5603"/>
                      <a:pt x="2016" y="3346"/>
                      <a:pt x="98"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5" name="Google Shape;595;p30"/>
              <p:cNvSpPr/>
              <p:nvPr/>
            </p:nvSpPr>
            <p:spPr>
              <a:xfrm>
                <a:off x="5027323" y="1769281"/>
                <a:ext cx="194513" cy="75829"/>
              </a:xfrm>
              <a:custGeom>
                <a:avLst/>
                <a:gdLst/>
                <a:ahLst/>
                <a:cxnLst/>
                <a:rect l="l" t="t" r="r" b="b"/>
                <a:pathLst>
                  <a:path w="6023" h="2348" extrusionOk="0">
                    <a:moveTo>
                      <a:pt x="6022" y="1"/>
                    </a:moveTo>
                    <a:cubicBezTo>
                      <a:pt x="3721" y="19"/>
                      <a:pt x="1615" y="875"/>
                      <a:pt x="1" y="2276"/>
                    </a:cubicBezTo>
                    <a:lnTo>
                      <a:pt x="1" y="2347"/>
                    </a:lnTo>
                    <a:cubicBezTo>
                      <a:pt x="1615" y="938"/>
                      <a:pt x="3721" y="81"/>
                      <a:pt x="6022" y="63"/>
                    </a:cubicBezTo>
                    <a:lnTo>
                      <a:pt x="6022"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6" name="Google Shape;596;p30"/>
              <p:cNvSpPr/>
              <p:nvPr/>
            </p:nvSpPr>
            <p:spPr>
              <a:xfrm>
                <a:off x="4933116" y="1875018"/>
                <a:ext cx="64558" cy="118749"/>
              </a:xfrm>
              <a:custGeom>
                <a:avLst/>
                <a:gdLst/>
                <a:ahLst/>
                <a:cxnLst/>
                <a:rect l="l" t="t" r="r" b="b"/>
                <a:pathLst>
                  <a:path w="1999" h="3677" extrusionOk="0">
                    <a:moveTo>
                      <a:pt x="1928" y="1"/>
                    </a:moveTo>
                    <a:cubicBezTo>
                      <a:pt x="1026" y="1053"/>
                      <a:pt x="357" y="2302"/>
                      <a:pt x="1" y="3676"/>
                    </a:cubicBezTo>
                    <a:lnTo>
                      <a:pt x="54" y="3676"/>
                    </a:lnTo>
                    <a:cubicBezTo>
                      <a:pt x="420" y="2302"/>
                      <a:pt x="1098" y="1053"/>
                      <a:pt x="1999"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7" name="Google Shape;597;p30"/>
              <p:cNvSpPr/>
              <p:nvPr/>
            </p:nvSpPr>
            <p:spPr>
              <a:xfrm>
                <a:off x="5031360" y="2299418"/>
                <a:ext cx="342585" cy="71469"/>
              </a:xfrm>
              <a:custGeom>
                <a:avLst/>
                <a:gdLst/>
                <a:ahLst/>
                <a:cxnLst/>
                <a:rect l="l" t="t" r="r" b="b"/>
                <a:pathLst>
                  <a:path w="10608" h="2213" extrusionOk="0">
                    <a:moveTo>
                      <a:pt x="36" y="0"/>
                    </a:moveTo>
                    <a:lnTo>
                      <a:pt x="1" y="45"/>
                    </a:lnTo>
                    <a:cubicBezTo>
                      <a:pt x="1615" y="1392"/>
                      <a:pt x="3694" y="2213"/>
                      <a:pt x="5960" y="2213"/>
                    </a:cubicBezTo>
                    <a:cubicBezTo>
                      <a:pt x="7655" y="2213"/>
                      <a:pt x="9243" y="1758"/>
                      <a:pt x="10608" y="964"/>
                    </a:cubicBezTo>
                    <a:lnTo>
                      <a:pt x="10581" y="919"/>
                    </a:lnTo>
                    <a:cubicBezTo>
                      <a:pt x="9216" y="1704"/>
                      <a:pt x="7637" y="2150"/>
                      <a:pt x="5960" y="2150"/>
                    </a:cubicBezTo>
                    <a:cubicBezTo>
                      <a:pt x="3712" y="2150"/>
                      <a:pt x="1642" y="1347"/>
                      <a:pt x="36" y="0"/>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grpSp>
          <p:nvGrpSpPr>
            <p:cNvPr id="598" name="Google Shape;598;p30"/>
            <p:cNvGrpSpPr/>
            <p:nvPr/>
          </p:nvGrpSpPr>
          <p:grpSpPr>
            <a:xfrm>
              <a:off x="-1143153" y="-436641"/>
              <a:ext cx="2212063" cy="2117725"/>
              <a:chOff x="5655411" y="869227"/>
              <a:chExt cx="635322" cy="608227"/>
            </a:xfrm>
          </p:grpSpPr>
          <p:sp>
            <p:nvSpPr>
              <p:cNvPr id="599" name="Google Shape;599;p30"/>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0" name="Google Shape;600;p30"/>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1" name="Google Shape;601;p30"/>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2" name="Google Shape;602;p30"/>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3" name="Google Shape;603;p30"/>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4" name="Google Shape;604;p30"/>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5" name="Google Shape;605;p30"/>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6" name="Google Shape;606;p30"/>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7" name="Google Shape;607;p30"/>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8" name="Google Shape;608;p30"/>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9" name="Google Shape;609;p30"/>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0" name="Google Shape;610;p30"/>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1" name="Google Shape;611;p30"/>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2" name="Google Shape;612;p30"/>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3" name="Google Shape;613;p30"/>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4" name="Google Shape;614;p30"/>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5" name="Google Shape;615;p30"/>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6" name="Google Shape;616;p30"/>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7" name="Google Shape;617;p30"/>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8" name="Google Shape;618;p30"/>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9" name="Google Shape;619;p30"/>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0" name="Google Shape;620;p30"/>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1" name="Google Shape;621;p30"/>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2" name="Google Shape;622;p30"/>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3" name="Google Shape;623;p30"/>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4" name="Google Shape;624;p30"/>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5" name="Google Shape;625;p30"/>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6" name="Google Shape;626;p30"/>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7" name="Google Shape;627;p30"/>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8" name="Google Shape;628;p30"/>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9" name="Google Shape;629;p30"/>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0" name="Google Shape;630;p30"/>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1" name="Google Shape;631;p30"/>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2" name="Google Shape;632;p30"/>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3" name="Google Shape;633;p30"/>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4" name="Google Shape;634;p30"/>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dk2"/>
              </a:solidFill>
              <a:ln>
                <a:noFill/>
              </a:ln>
            </p:spPr>
            <p:txBody>
              <a:bodyPr spcFirstLastPara="1" wrap="square" lIns="91425" tIns="91425" rIns="91425" bIns="91425" anchor="ctr" anchorCtr="0">
                <a:noAutofit/>
              </a:bodyPr>
              <a:lstStyle/>
              <a:p>
                <a:endParaRPr/>
              </a:p>
            </p:txBody>
          </p:sp>
        </p:grpSp>
        <p:grpSp>
          <p:nvGrpSpPr>
            <p:cNvPr id="635" name="Google Shape;635;p30"/>
            <p:cNvGrpSpPr/>
            <p:nvPr/>
          </p:nvGrpSpPr>
          <p:grpSpPr>
            <a:xfrm>
              <a:off x="-1522789" y="-818226"/>
              <a:ext cx="3068002" cy="2960763"/>
              <a:chOff x="3396915" y="1192967"/>
              <a:chExt cx="1567066" cy="1512291"/>
            </a:xfrm>
          </p:grpSpPr>
          <p:sp>
            <p:nvSpPr>
              <p:cNvPr id="636" name="Google Shape;636;p30"/>
              <p:cNvSpPr/>
              <p:nvPr/>
            </p:nvSpPr>
            <p:spPr>
              <a:xfrm>
                <a:off x="3454270" y="1259650"/>
                <a:ext cx="446080" cy="446022"/>
              </a:xfrm>
              <a:custGeom>
                <a:avLst/>
                <a:gdLst/>
                <a:ahLst/>
                <a:cxnLst/>
                <a:rect l="l" t="t" r="r" b="b"/>
                <a:pathLst>
                  <a:path w="7700" h="7699" extrusionOk="0">
                    <a:moveTo>
                      <a:pt x="3524" y="0"/>
                    </a:moveTo>
                    <a:lnTo>
                      <a:pt x="3391" y="883"/>
                    </a:lnTo>
                    <a:cubicBezTo>
                      <a:pt x="3176" y="910"/>
                      <a:pt x="2971" y="973"/>
                      <a:pt x="2775" y="1044"/>
                    </a:cubicBezTo>
                    <a:lnTo>
                      <a:pt x="2775" y="1044"/>
                    </a:lnTo>
                    <a:lnTo>
                      <a:pt x="2213" y="348"/>
                    </a:lnTo>
                    <a:lnTo>
                      <a:pt x="1642" y="678"/>
                    </a:lnTo>
                    <a:lnTo>
                      <a:pt x="1963" y="1508"/>
                    </a:lnTo>
                    <a:cubicBezTo>
                      <a:pt x="1803" y="1642"/>
                      <a:pt x="1651" y="1793"/>
                      <a:pt x="1517" y="1963"/>
                    </a:cubicBezTo>
                    <a:lnTo>
                      <a:pt x="1517" y="1963"/>
                    </a:lnTo>
                    <a:lnTo>
                      <a:pt x="679" y="1642"/>
                    </a:lnTo>
                    <a:lnTo>
                      <a:pt x="357" y="2204"/>
                    </a:lnTo>
                    <a:lnTo>
                      <a:pt x="1053" y="2766"/>
                    </a:lnTo>
                    <a:cubicBezTo>
                      <a:pt x="973" y="2962"/>
                      <a:pt x="919" y="3167"/>
                      <a:pt x="884" y="3381"/>
                    </a:cubicBezTo>
                    <a:lnTo>
                      <a:pt x="884" y="3381"/>
                    </a:lnTo>
                    <a:lnTo>
                      <a:pt x="1" y="3524"/>
                    </a:lnTo>
                    <a:lnTo>
                      <a:pt x="1" y="4175"/>
                    </a:lnTo>
                    <a:lnTo>
                      <a:pt x="884" y="4309"/>
                    </a:lnTo>
                    <a:cubicBezTo>
                      <a:pt x="919" y="4523"/>
                      <a:pt x="973" y="4728"/>
                      <a:pt x="1053" y="4925"/>
                    </a:cubicBezTo>
                    <a:lnTo>
                      <a:pt x="1053" y="4925"/>
                    </a:lnTo>
                    <a:lnTo>
                      <a:pt x="357" y="5487"/>
                    </a:lnTo>
                    <a:lnTo>
                      <a:pt x="679" y="6057"/>
                    </a:lnTo>
                    <a:lnTo>
                      <a:pt x="1517" y="5736"/>
                    </a:lnTo>
                    <a:cubicBezTo>
                      <a:pt x="1651" y="5897"/>
                      <a:pt x="1803" y="6049"/>
                      <a:pt x="1963" y="6182"/>
                    </a:cubicBezTo>
                    <a:lnTo>
                      <a:pt x="1963" y="6182"/>
                    </a:lnTo>
                    <a:lnTo>
                      <a:pt x="1642" y="7021"/>
                    </a:lnTo>
                    <a:lnTo>
                      <a:pt x="2213" y="7342"/>
                    </a:lnTo>
                    <a:lnTo>
                      <a:pt x="2775" y="6646"/>
                    </a:lnTo>
                    <a:cubicBezTo>
                      <a:pt x="2971" y="6727"/>
                      <a:pt x="3176" y="6780"/>
                      <a:pt x="3391" y="6816"/>
                    </a:cubicBezTo>
                    <a:lnTo>
                      <a:pt x="3391" y="6816"/>
                    </a:lnTo>
                    <a:lnTo>
                      <a:pt x="3524" y="7699"/>
                    </a:lnTo>
                    <a:lnTo>
                      <a:pt x="4185" y="7699"/>
                    </a:lnTo>
                    <a:lnTo>
                      <a:pt x="4318" y="6816"/>
                    </a:lnTo>
                    <a:cubicBezTo>
                      <a:pt x="4532" y="6780"/>
                      <a:pt x="4738" y="6727"/>
                      <a:pt x="4934" y="6646"/>
                    </a:cubicBezTo>
                    <a:lnTo>
                      <a:pt x="4934" y="6646"/>
                    </a:lnTo>
                    <a:lnTo>
                      <a:pt x="5496" y="7342"/>
                    </a:lnTo>
                    <a:lnTo>
                      <a:pt x="6058" y="7021"/>
                    </a:lnTo>
                    <a:lnTo>
                      <a:pt x="5737" y="6182"/>
                    </a:lnTo>
                    <a:cubicBezTo>
                      <a:pt x="5906" y="6049"/>
                      <a:pt x="6058" y="5897"/>
                      <a:pt x="6192" y="5736"/>
                    </a:cubicBezTo>
                    <a:lnTo>
                      <a:pt x="6192" y="5736"/>
                    </a:lnTo>
                    <a:lnTo>
                      <a:pt x="7021" y="6057"/>
                    </a:lnTo>
                    <a:lnTo>
                      <a:pt x="7352" y="5487"/>
                    </a:lnTo>
                    <a:lnTo>
                      <a:pt x="6656" y="4925"/>
                    </a:lnTo>
                    <a:cubicBezTo>
                      <a:pt x="6727" y="4728"/>
                      <a:pt x="6789" y="4523"/>
                      <a:pt x="6816" y="4309"/>
                    </a:cubicBezTo>
                    <a:lnTo>
                      <a:pt x="6816" y="4309"/>
                    </a:lnTo>
                    <a:lnTo>
                      <a:pt x="7699" y="4175"/>
                    </a:lnTo>
                    <a:lnTo>
                      <a:pt x="7699" y="3524"/>
                    </a:lnTo>
                    <a:lnTo>
                      <a:pt x="6816" y="3381"/>
                    </a:lnTo>
                    <a:cubicBezTo>
                      <a:pt x="6789" y="3167"/>
                      <a:pt x="6727" y="2962"/>
                      <a:pt x="6656" y="2766"/>
                    </a:cubicBezTo>
                    <a:lnTo>
                      <a:pt x="6656" y="2766"/>
                    </a:lnTo>
                    <a:lnTo>
                      <a:pt x="7352" y="2204"/>
                    </a:lnTo>
                    <a:lnTo>
                      <a:pt x="7021" y="1642"/>
                    </a:lnTo>
                    <a:lnTo>
                      <a:pt x="6192" y="1963"/>
                    </a:lnTo>
                    <a:cubicBezTo>
                      <a:pt x="6058" y="1793"/>
                      <a:pt x="5906" y="1642"/>
                      <a:pt x="5737" y="1508"/>
                    </a:cubicBezTo>
                    <a:lnTo>
                      <a:pt x="5737" y="1508"/>
                    </a:lnTo>
                    <a:lnTo>
                      <a:pt x="6058" y="678"/>
                    </a:lnTo>
                    <a:lnTo>
                      <a:pt x="5496" y="348"/>
                    </a:lnTo>
                    <a:lnTo>
                      <a:pt x="4934" y="1044"/>
                    </a:lnTo>
                    <a:cubicBezTo>
                      <a:pt x="4738" y="973"/>
                      <a:pt x="4532" y="910"/>
                      <a:pt x="4318" y="883"/>
                    </a:cubicBezTo>
                    <a:lnTo>
                      <a:pt x="4318" y="883"/>
                    </a:lnTo>
                    <a:lnTo>
                      <a:pt x="4185" y="0"/>
                    </a:lnTo>
                    <a:close/>
                    <a:moveTo>
                      <a:pt x="1517" y="3845"/>
                    </a:moveTo>
                    <a:cubicBezTo>
                      <a:pt x="1517" y="2560"/>
                      <a:pt x="2561" y="1508"/>
                      <a:pt x="3854" y="1508"/>
                    </a:cubicBezTo>
                    <a:lnTo>
                      <a:pt x="3854" y="1508"/>
                    </a:lnTo>
                    <a:cubicBezTo>
                      <a:pt x="5139" y="1508"/>
                      <a:pt x="6192" y="2560"/>
                      <a:pt x="6192" y="3845"/>
                    </a:cubicBezTo>
                    <a:lnTo>
                      <a:pt x="6192" y="3845"/>
                    </a:lnTo>
                    <a:cubicBezTo>
                      <a:pt x="6192" y="5139"/>
                      <a:pt x="5139" y="6182"/>
                      <a:pt x="3854" y="6182"/>
                    </a:cubicBezTo>
                    <a:lnTo>
                      <a:pt x="3854" y="6182"/>
                    </a:lnTo>
                    <a:cubicBezTo>
                      <a:pt x="2561" y="6182"/>
                      <a:pt x="1517" y="5139"/>
                      <a:pt x="1517" y="3845"/>
                    </a:cubicBezTo>
                    <a:close/>
                  </a:path>
                </a:pathLst>
              </a:custGeom>
              <a:solidFill>
                <a:schemeClr val="lt2"/>
              </a:solidFill>
              <a:ln>
                <a:noFill/>
              </a:ln>
            </p:spPr>
            <p:txBody>
              <a:bodyPr spcFirstLastPara="1" wrap="square" lIns="91425" tIns="91425" rIns="91425" bIns="91425" anchor="ctr" anchorCtr="0">
                <a:noAutofit/>
              </a:bodyPr>
              <a:lstStyle/>
              <a:p>
                <a:endParaRPr/>
              </a:p>
            </p:txBody>
          </p:sp>
          <p:sp>
            <p:nvSpPr>
              <p:cNvPr id="637" name="Google Shape;637;p30"/>
              <p:cNvSpPr/>
              <p:nvPr/>
            </p:nvSpPr>
            <p:spPr>
              <a:xfrm>
                <a:off x="4672986" y="1750128"/>
                <a:ext cx="290995" cy="290474"/>
              </a:xfrm>
              <a:custGeom>
                <a:avLst/>
                <a:gdLst/>
                <a:ahLst/>
                <a:cxnLst/>
                <a:rect l="l" t="t" r="r" b="b"/>
                <a:pathLst>
                  <a:path w="5023" h="5014" extrusionOk="0">
                    <a:moveTo>
                      <a:pt x="2516" y="990"/>
                    </a:moveTo>
                    <a:cubicBezTo>
                      <a:pt x="3355" y="990"/>
                      <a:pt x="4033" y="1668"/>
                      <a:pt x="4033" y="2507"/>
                    </a:cubicBezTo>
                    <a:cubicBezTo>
                      <a:pt x="4033" y="3346"/>
                      <a:pt x="3355" y="4032"/>
                      <a:pt x="2516" y="4032"/>
                    </a:cubicBezTo>
                    <a:cubicBezTo>
                      <a:pt x="1669" y="4032"/>
                      <a:pt x="991" y="3346"/>
                      <a:pt x="991" y="2507"/>
                    </a:cubicBezTo>
                    <a:cubicBezTo>
                      <a:pt x="991" y="1668"/>
                      <a:pt x="1669" y="990"/>
                      <a:pt x="2516" y="990"/>
                    </a:cubicBezTo>
                    <a:close/>
                    <a:moveTo>
                      <a:pt x="2302" y="0"/>
                    </a:moveTo>
                    <a:lnTo>
                      <a:pt x="2213" y="571"/>
                    </a:lnTo>
                    <a:cubicBezTo>
                      <a:pt x="2070" y="598"/>
                      <a:pt x="1936" y="634"/>
                      <a:pt x="1811" y="678"/>
                    </a:cubicBezTo>
                    <a:lnTo>
                      <a:pt x="1446" y="232"/>
                    </a:lnTo>
                    <a:lnTo>
                      <a:pt x="1071" y="446"/>
                    </a:lnTo>
                    <a:lnTo>
                      <a:pt x="1285" y="981"/>
                    </a:lnTo>
                    <a:cubicBezTo>
                      <a:pt x="1178" y="1071"/>
                      <a:pt x="1080" y="1169"/>
                      <a:pt x="991" y="1276"/>
                    </a:cubicBezTo>
                    <a:lnTo>
                      <a:pt x="446" y="1071"/>
                    </a:lnTo>
                    <a:lnTo>
                      <a:pt x="232" y="1436"/>
                    </a:lnTo>
                    <a:lnTo>
                      <a:pt x="687" y="1802"/>
                    </a:lnTo>
                    <a:cubicBezTo>
                      <a:pt x="634" y="1936"/>
                      <a:pt x="598" y="2070"/>
                      <a:pt x="580" y="2204"/>
                    </a:cubicBezTo>
                    <a:lnTo>
                      <a:pt x="0" y="2293"/>
                    </a:lnTo>
                    <a:lnTo>
                      <a:pt x="0" y="2721"/>
                    </a:lnTo>
                    <a:lnTo>
                      <a:pt x="580" y="2810"/>
                    </a:lnTo>
                    <a:cubicBezTo>
                      <a:pt x="598" y="2953"/>
                      <a:pt x="634" y="3087"/>
                      <a:pt x="687" y="3212"/>
                    </a:cubicBezTo>
                    <a:lnTo>
                      <a:pt x="232" y="3577"/>
                    </a:lnTo>
                    <a:lnTo>
                      <a:pt x="446" y="3943"/>
                    </a:lnTo>
                    <a:lnTo>
                      <a:pt x="991" y="3738"/>
                    </a:lnTo>
                    <a:cubicBezTo>
                      <a:pt x="1080" y="3845"/>
                      <a:pt x="1178" y="3943"/>
                      <a:pt x="1285" y="4032"/>
                    </a:cubicBezTo>
                    <a:lnTo>
                      <a:pt x="1071" y="4577"/>
                    </a:lnTo>
                    <a:lnTo>
                      <a:pt x="1446" y="4791"/>
                    </a:lnTo>
                    <a:lnTo>
                      <a:pt x="1811" y="4336"/>
                    </a:lnTo>
                    <a:cubicBezTo>
                      <a:pt x="1936" y="4380"/>
                      <a:pt x="2070" y="4416"/>
                      <a:pt x="2213" y="4443"/>
                    </a:cubicBezTo>
                    <a:lnTo>
                      <a:pt x="2302" y="5014"/>
                    </a:lnTo>
                    <a:lnTo>
                      <a:pt x="2730" y="5014"/>
                    </a:lnTo>
                    <a:lnTo>
                      <a:pt x="2819" y="4443"/>
                    </a:lnTo>
                    <a:cubicBezTo>
                      <a:pt x="2953" y="4416"/>
                      <a:pt x="3087" y="4380"/>
                      <a:pt x="3221" y="4336"/>
                    </a:cubicBezTo>
                    <a:lnTo>
                      <a:pt x="3578" y="4791"/>
                    </a:lnTo>
                    <a:lnTo>
                      <a:pt x="3952" y="4577"/>
                    </a:lnTo>
                    <a:lnTo>
                      <a:pt x="3738" y="4032"/>
                    </a:lnTo>
                    <a:cubicBezTo>
                      <a:pt x="3845" y="3943"/>
                      <a:pt x="3944" y="3845"/>
                      <a:pt x="4033" y="3738"/>
                    </a:cubicBezTo>
                    <a:lnTo>
                      <a:pt x="4577" y="3943"/>
                    </a:lnTo>
                    <a:lnTo>
                      <a:pt x="4791" y="3577"/>
                    </a:lnTo>
                    <a:lnTo>
                      <a:pt x="4336" y="3212"/>
                    </a:lnTo>
                    <a:cubicBezTo>
                      <a:pt x="4390" y="3087"/>
                      <a:pt x="4425" y="2953"/>
                      <a:pt x="4443" y="2810"/>
                    </a:cubicBezTo>
                    <a:lnTo>
                      <a:pt x="5023" y="2721"/>
                    </a:lnTo>
                    <a:lnTo>
                      <a:pt x="5023" y="2293"/>
                    </a:lnTo>
                    <a:lnTo>
                      <a:pt x="4443" y="2204"/>
                    </a:lnTo>
                    <a:cubicBezTo>
                      <a:pt x="4425" y="2070"/>
                      <a:pt x="4390" y="1936"/>
                      <a:pt x="4336" y="1802"/>
                    </a:cubicBezTo>
                    <a:lnTo>
                      <a:pt x="4791" y="1436"/>
                    </a:lnTo>
                    <a:lnTo>
                      <a:pt x="4577" y="1071"/>
                    </a:lnTo>
                    <a:lnTo>
                      <a:pt x="4033" y="1276"/>
                    </a:lnTo>
                    <a:cubicBezTo>
                      <a:pt x="3944" y="1169"/>
                      <a:pt x="3845" y="1071"/>
                      <a:pt x="3738" y="981"/>
                    </a:cubicBezTo>
                    <a:lnTo>
                      <a:pt x="3952" y="446"/>
                    </a:lnTo>
                    <a:lnTo>
                      <a:pt x="3578" y="232"/>
                    </a:lnTo>
                    <a:lnTo>
                      <a:pt x="3221" y="687"/>
                    </a:lnTo>
                    <a:cubicBezTo>
                      <a:pt x="3087" y="634"/>
                      <a:pt x="2953" y="598"/>
                      <a:pt x="2819" y="571"/>
                    </a:cubicBezTo>
                    <a:lnTo>
                      <a:pt x="2730" y="0"/>
                    </a:lnTo>
                    <a:close/>
                  </a:path>
                </a:pathLst>
              </a:custGeom>
              <a:solidFill>
                <a:schemeClr val="lt2"/>
              </a:solidFill>
              <a:ln>
                <a:noFill/>
              </a:ln>
            </p:spPr>
            <p:txBody>
              <a:bodyPr spcFirstLastPara="1" wrap="square" lIns="91425" tIns="91425" rIns="91425" bIns="91425" anchor="ctr" anchorCtr="0">
                <a:noAutofit/>
              </a:bodyPr>
              <a:lstStyle/>
              <a:p>
                <a:endParaRPr dirty="0"/>
              </a:p>
            </p:txBody>
          </p:sp>
          <p:sp>
            <p:nvSpPr>
              <p:cNvPr id="638" name="Google Shape;638;p30"/>
              <p:cNvSpPr/>
              <p:nvPr/>
            </p:nvSpPr>
            <p:spPr>
              <a:xfrm>
                <a:off x="4764986" y="1841607"/>
                <a:ext cx="107001" cy="107523"/>
              </a:xfrm>
              <a:custGeom>
                <a:avLst/>
                <a:gdLst/>
                <a:ahLst/>
                <a:cxnLst/>
                <a:rect l="l" t="t" r="r" b="b"/>
                <a:pathLst>
                  <a:path w="1847" h="1856" extrusionOk="0">
                    <a:moveTo>
                      <a:pt x="928" y="0"/>
                    </a:moveTo>
                    <a:cubicBezTo>
                      <a:pt x="411" y="0"/>
                      <a:pt x="0" y="419"/>
                      <a:pt x="0" y="928"/>
                    </a:cubicBezTo>
                    <a:cubicBezTo>
                      <a:pt x="0" y="1436"/>
                      <a:pt x="411" y="1856"/>
                      <a:pt x="928" y="1856"/>
                    </a:cubicBezTo>
                    <a:cubicBezTo>
                      <a:pt x="1437" y="1856"/>
                      <a:pt x="1847" y="1436"/>
                      <a:pt x="1847" y="928"/>
                    </a:cubicBezTo>
                    <a:cubicBezTo>
                      <a:pt x="1847" y="419"/>
                      <a:pt x="1437" y="0"/>
                      <a:pt x="928" y="0"/>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9" name="Google Shape;639;p30"/>
              <p:cNvSpPr/>
              <p:nvPr/>
            </p:nvSpPr>
            <p:spPr>
              <a:xfrm>
                <a:off x="3396915" y="1683445"/>
                <a:ext cx="1488460" cy="1021813"/>
              </a:xfrm>
              <a:custGeom>
                <a:avLst/>
                <a:gdLst/>
                <a:ahLst/>
                <a:cxnLst/>
                <a:rect l="l" t="t" r="r" b="b"/>
                <a:pathLst>
                  <a:path w="25693" h="17638" extrusionOk="0">
                    <a:moveTo>
                      <a:pt x="830" y="0"/>
                    </a:moveTo>
                    <a:cubicBezTo>
                      <a:pt x="295" y="1428"/>
                      <a:pt x="0" y="2971"/>
                      <a:pt x="0" y="4586"/>
                    </a:cubicBezTo>
                    <a:cubicBezTo>
                      <a:pt x="0" y="11794"/>
                      <a:pt x="5844" y="17637"/>
                      <a:pt x="13052" y="17637"/>
                    </a:cubicBezTo>
                    <a:cubicBezTo>
                      <a:pt x="19136" y="17637"/>
                      <a:pt x="24239" y="13480"/>
                      <a:pt x="25693" y="7851"/>
                    </a:cubicBezTo>
                    <a:lnTo>
                      <a:pt x="24382" y="7512"/>
                    </a:lnTo>
                    <a:cubicBezTo>
                      <a:pt x="23088" y="12552"/>
                      <a:pt x="18503" y="16281"/>
                      <a:pt x="13052" y="16281"/>
                    </a:cubicBezTo>
                    <a:cubicBezTo>
                      <a:pt x="6593" y="16281"/>
                      <a:pt x="1356" y="11045"/>
                      <a:pt x="1356" y="4586"/>
                    </a:cubicBezTo>
                    <a:cubicBezTo>
                      <a:pt x="1356" y="3141"/>
                      <a:pt x="1615" y="1749"/>
                      <a:pt x="2097" y="473"/>
                    </a:cubicBezTo>
                    <a:lnTo>
                      <a:pt x="830" y="0"/>
                    </a:lnTo>
                    <a:close/>
                  </a:path>
                </a:pathLst>
              </a:custGeom>
              <a:solidFill>
                <a:schemeClr val="lt2"/>
              </a:solidFill>
              <a:ln>
                <a:noFill/>
              </a:ln>
            </p:spPr>
            <p:txBody>
              <a:bodyPr spcFirstLastPara="1" wrap="square" lIns="91425" tIns="91425" rIns="91425" bIns="91425" anchor="ctr" anchorCtr="0">
                <a:noAutofit/>
              </a:bodyPr>
              <a:lstStyle/>
              <a:p>
                <a:endParaRPr/>
              </a:p>
            </p:txBody>
          </p:sp>
          <p:sp>
            <p:nvSpPr>
              <p:cNvPr id="640" name="Google Shape;640;p30"/>
              <p:cNvSpPr/>
              <p:nvPr/>
            </p:nvSpPr>
            <p:spPr>
              <a:xfrm>
                <a:off x="4159742" y="1192967"/>
                <a:ext cx="706023" cy="529271"/>
              </a:xfrm>
              <a:custGeom>
                <a:avLst/>
                <a:gdLst/>
                <a:ahLst/>
                <a:cxnLst/>
                <a:rect l="l" t="t" r="r" b="b"/>
                <a:pathLst>
                  <a:path w="12187" h="9136" extrusionOk="0">
                    <a:moveTo>
                      <a:pt x="1" y="0"/>
                    </a:moveTo>
                    <a:lnTo>
                      <a:pt x="1" y="1356"/>
                    </a:lnTo>
                    <a:cubicBezTo>
                      <a:pt x="5041" y="1401"/>
                      <a:pt x="9314" y="4630"/>
                      <a:pt x="10911" y="9135"/>
                    </a:cubicBezTo>
                    <a:lnTo>
                      <a:pt x="12187" y="8680"/>
                    </a:lnTo>
                    <a:cubicBezTo>
                      <a:pt x="10403" y="3658"/>
                      <a:pt x="5621" y="54"/>
                      <a:pt x="1" y="0"/>
                    </a:cubicBezTo>
                    <a:close/>
                  </a:path>
                </a:pathLst>
              </a:custGeom>
              <a:solidFill>
                <a:schemeClr val="lt2"/>
              </a:solidFill>
              <a:ln>
                <a:noFill/>
              </a:ln>
            </p:spPr>
            <p:txBody>
              <a:bodyPr spcFirstLastPara="1" wrap="square" lIns="91425" tIns="91425" rIns="91425" bIns="91425" anchor="ctr" anchorCtr="0">
                <a:noAutofit/>
              </a:bodyPr>
              <a:lstStyle/>
              <a:p>
                <a:endParaRPr/>
              </a:p>
            </p:txBody>
          </p:sp>
        </p:grpSp>
        <p:grpSp>
          <p:nvGrpSpPr>
            <p:cNvPr id="641" name="Google Shape;641;p30"/>
            <p:cNvGrpSpPr/>
            <p:nvPr/>
          </p:nvGrpSpPr>
          <p:grpSpPr>
            <a:xfrm>
              <a:off x="-2065431" y="-1404875"/>
              <a:ext cx="4055769" cy="4054532"/>
              <a:chOff x="2452186" y="2028940"/>
              <a:chExt cx="1164848" cy="1164493"/>
            </a:xfrm>
          </p:grpSpPr>
          <p:grpSp>
            <p:nvGrpSpPr>
              <p:cNvPr id="642" name="Google Shape;642;p30"/>
              <p:cNvGrpSpPr/>
              <p:nvPr/>
            </p:nvGrpSpPr>
            <p:grpSpPr>
              <a:xfrm>
                <a:off x="2465589" y="2042407"/>
                <a:ext cx="1138044" cy="1137753"/>
                <a:chOff x="3694250" y="2042407"/>
                <a:chExt cx="1138044" cy="1137753"/>
              </a:xfrm>
            </p:grpSpPr>
            <p:sp>
              <p:nvSpPr>
                <p:cNvPr id="643" name="Google Shape;643;p30"/>
                <p:cNvSpPr/>
                <p:nvPr/>
              </p:nvSpPr>
              <p:spPr>
                <a:xfrm>
                  <a:off x="3719892" y="2068050"/>
                  <a:ext cx="1086468" cy="1086468"/>
                </a:xfrm>
                <a:custGeom>
                  <a:avLst/>
                  <a:gdLst/>
                  <a:ahLst/>
                  <a:cxnLst/>
                  <a:rect l="l" t="t" r="r" b="b"/>
                  <a:pathLst>
                    <a:path w="33642" h="33642" extrusionOk="0">
                      <a:moveTo>
                        <a:pt x="16825" y="63"/>
                      </a:moveTo>
                      <a:cubicBezTo>
                        <a:pt x="26067" y="63"/>
                        <a:pt x="33579" y="7584"/>
                        <a:pt x="33579" y="16826"/>
                      </a:cubicBezTo>
                      <a:cubicBezTo>
                        <a:pt x="33579" y="26059"/>
                        <a:pt x="26067" y="33580"/>
                        <a:pt x="16825" y="33580"/>
                      </a:cubicBezTo>
                      <a:cubicBezTo>
                        <a:pt x="7583" y="33580"/>
                        <a:pt x="71" y="26059"/>
                        <a:pt x="71" y="16826"/>
                      </a:cubicBezTo>
                      <a:cubicBezTo>
                        <a:pt x="71" y="7584"/>
                        <a:pt x="7583" y="63"/>
                        <a:pt x="16825" y="63"/>
                      </a:cubicBezTo>
                      <a:close/>
                      <a:moveTo>
                        <a:pt x="16825" y="1"/>
                      </a:moveTo>
                      <a:cubicBezTo>
                        <a:pt x="12329" y="1"/>
                        <a:pt x="8109" y="1749"/>
                        <a:pt x="4933" y="4925"/>
                      </a:cubicBezTo>
                      <a:cubicBezTo>
                        <a:pt x="1757" y="8101"/>
                        <a:pt x="0" y="12330"/>
                        <a:pt x="0" y="16826"/>
                      </a:cubicBezTo>
                      <a:cubicBezTo>
                        <a:pt x="0" y="21313"/>
                        <a:pt x="1757" y="25542"/>
                        <a:pt x="4933" y="28718"/>
                      </a:cubicBezTo>
                      <a:cubicBezTo>
                        <a:pt x="8109" y="31893"/>
                        <a:pt x="12329" y="33642"/>
                        <a:pt x="16825" y="33642"/>
                      </a:cubicBezTo>
                      <a:cubicBezTo>
                        <a:pt x="21321" y="33642"/>
                        <a:pt x="25541" y="31893"/>
                        <a:pt x="28717" y="28718"/>
                      </a:cubicBezTo>
                      <a:cubicBezTo>
                        <a:pt x="31893" y="25542"/>
                        <a:pt x="33641" y="21313"/>
                        <a:pt x="33641" y="16826"/>
                      </a:cubicBezTo>
                      <a:cubicBezTo>
                        <a:pt x="33641" y="12330"/>
                        <a:pt x="31893" y="8101"/>
                        <a:pt x="28717" y="4925"/>
                      </a:cubicBezTo>
                      <a:cubicBezTo>
                        <a:pt x="25541" y="1749"/>
                        <a:pt x="21321" y="1"/>
                        <a:pt x="16825"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44" name="Google Shape;644;p30"/>
                <p:cNvSpPr/>
                <p:nvPr/>
              </p:nvSpPr>
              <p:spPr>
                <a:xfrm>
                  <a:off x="3694250" y="2042407"/>
                  <a:ext cx="1138044" cy="1137753"/>
                </a:xfrm>
                <a:custGeom>
                  <a:avLst/>
                  <a:gdLst/>
                  <a:ahLst/>
                  <a:cxnLst/>
                  <a:rect l="l" t="t" r="r" b="b"/>
                  <a:pathLst>
                    <a:path w="35239" h="35230" extrusionOk="0">
                      <a:moveTo>
                        <a:pt x="17619" y="63"/>
                      </a:moveTo>
                      <a:cubicBezTo>
                        <a:pt x="27298" y="63"/>
                        <a:pt x="35176" y="7941"/>
                        <a:pt x="35176" y="17620"/>
                      </a:cubicBezTo>
                      <a:cubicBezTo>
                        <a:pt x="35176" y="27299"/>
                        <a:pt x="27298" y="35167"/>
                        <a:pt x="17619" y="35167"/>
                      </a:cubicBezTo>
                      <a:cubicBezTo>
                        <a:pt x="7940" y="35167"/>
                        <a:pt x="63" y="27299"/>
                        <a:pt x="63" y="17620"/>
                      </a:cubicBezTo>
                      <a:cubicBezTo>
                        <a:pt x="63" y="7941"/>
                        <a:pt x="7940" y="63"/>
                        <a:pt x="17619" y="63"/>
                      </a:cubicBezTo>
                      <a:close/>
                      <a:moveTo>
                        <a:pt x="17619" y="1"/>
                      </a:moveTo>
                      <a:cubicBezTo>
                        <a:pt x="12909" y="1"/>
                        <a:pt x="8493" y="1830"/>
                        <a:pt x="5165" y="5157"/>
                      </a:cubicBezTo>
                      <a:cubicBezTo>
                        <a:pt x="1838" y="8485"/>
                        <a:pt x="0" y="12910"/>
                        <a:pt x="0" y="17620"/>
                      </a:cubicBezTo>
                      <a:cubicBezTo>
                        <a:pt x="0" y="22321"/>
                        <a:pt x="1838" y="26746"/>
                        <a:pt x="5165" y="30074"/>
                      </a:cubicBezTo>
                      <a:cubicBezTo>
                        <a:pt x="8493" y="33401"/>
                        <a:pt x="12909" y="35230"/>
                        <a:pt x="17619" y="35230"/>
                      </a:cubicBezTo>
                      <a:cubicBezTo>
                        <a:pt x="22321" y="35230"/>
                        <a:pt x="26745" y="33401"/>
                        <a:pt x="30073" y="30074"/>
                      </a:cubicBezTo>
                      <a:cubicBezTo>
                        <a:pt x="33400" y="26746"/>
                        <a:pt x="35238" y="22321"/>
                        <a:pt x="35238" y="17620"/>
                      </a:cubicBezTo>
                      <a:cubicBezTo>
                        <a:pt x="35238" y="12910"/>
                        <a:pt x="33400" y="8485"/>
                        <a:pt x="30073" y="5157"/>
                      </a:cubicBezTo>
                      <a:cubicBezTo>
                        <a:pt x="26745" y="1830"/>
                        <a:pt x="22321" y="1"/>
                        <a:pt x="17619" y="1"/>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sp>
            <p:nvSpPr>
              <p:cNvPr id="645" name="Google Shape;645;p30"/>
              <p:cNvSpPr/>
              <p:nvPr/>
            </p:nvSpPr>
            <p:spPr>
              <a:xfrm>
                <a:off x="2452186" y="2028940"/>
                <a:ext cx="1164848" cy="1164493"/>
              </a:xfrm>
              <a:custGeom>
                <a:avLst/>
                <a:gdLst/>
                <a:ahLst/>
                <a:cxnLst/>
                <a:rect l="l" t="t" r="r" b="b"/>
                <a:pathLst>
                  <a:path w="36069" h="36058" extrusionOk="0">
                    <a:moveTo>
                      <a:pt x="18054" y="1"/>
                    </a:moveTo>
                    <a:cubicBezTo>
                      <a:pt x="17903" y="1"/>
                      <a:pt x="17753" y="3"/>
                      <a:pt x="17610" y="8"/>
                    </a:cubicBezTo>
                    <a:cubicBezTo>
                      <a:pt x="17575" y="8"/>
                      <a:pt x="17548" y="34"/>
                      <a:pt x="17548" y="70"/>
                    </a:cubicBezTo>
                    <a:cubicBezTo>
                      <a:pt x="17557" y="106"/>
                      <a:pt x="17584" y="132"/>
                      <a:pt x="17619" y="132"/>
                    </a:cubicBezTo>
                    <a:cubicBezTo>
                      <a:pt x="17721" y="129"/>
                      <a:pt x="17821" y="128"/>
                      <a:pt x="17920" y="128"/>
                    </a:cubicBezTo>
                    <a:cubicBezTo>
                      <a:pt x="18119" y="128"/>
                      <a:pt x="18315" y="132"/>
                      <a:pt x="18512" y="132"/>
                    </a:cubicBezTo>
                    <a:cubicBezTo>
                      <a:pt x="18547" y="132"/>
                      <a:pt x="18574" y="106"/>
                      <a:pt x="18574" y="70"/>
                    </a:cubicBezTo>
                    <a:cubicBezTo>
                      <a:pt x="18574" y="34"/>
                      <a:pt x="18547" y="8"/>
                      <a:pt x="18512" y="8"/>
                    </a:cubicBezTo>
                    <a:cubicBezTo>
                      <a:pt x="18360" y="3"/>
                      <a:pt x="18206" y="1"/>
                      <a:pt x="18054" y="1"/>
                    </a:cubicBezTo>
                    <a:close/>
                    <a:moveTo>
                      <a:pt x="16732" y="50"/>
                    </a:moveTo>
                    <a:cubicBezTo>
                      <a:pt x="16728" y="50"/>
                      <a:pt x="16723" y="51"/>
                      <a:pt x="16718" y="52"/>
                    </a:cubicBezTo>
                    <a:cubicBezTo>
                      <a:pt x="16415" y="70"/>
                      <a:pt x="16121" y="97"/>
                      <a:pt x="15817" y="132"/>
                    </a:cubicBezTo>
                    <a:cubicBezTo>
                      <a:pt x="15791" y="141"/>
                      <a:pt x="15764" y="168"/>
                      <a:pt x="15764" y="195"/>
                    </a:cubicBezTo>
                    <a:lnTo>
                      <a:pt x="15764" y="204"/>
                    </a:lnTo>
                    <a:cubicBezTo>
                      <a:pt x="15773" y="239"/>
                      <a:pt x="15800" y="266"/>
                      <a:pt x="15826" y="266"/>
                    </a:cubicBezTo>
                    <a:lnTo>
                      <a:pt x="15835" y="266"/>
                    </a:lnTo>
                    <a:cubicBezTo>
                      <a:pt x="16130" y="231"/>
                      <a:pt x="16433" y="195"/>
                      <a:pt x="16727" y="177"/>
                    </a:cubicBezTo>
                    <a:cubicBezTo>
                      <a:pt x="16763" y="177"/>
                      <a:pt x="16781" y="150"/>
                      <a:pt x="16781" y="115"/>
                    </a:cubicBezTo>
                    <a:lnTo>
                      <a:pt x="16781" y="106"/>
                    </a:lnTo>
                    <a:cubicBezTo>
                      <a:pt x="16781" y="75"/>
                      <a:pt x="16761" y="50"/>
                      <a:pt x="16732" y="50"/>
                    </a:cubicBezTo>
                    <a:close/>
                    <a:moveTo>
                      <a:pt x="19413" y="52"/>
                    </a:moveTo>
                    <a:cubicBezTo>
                      <a:pt x="19377" y="52"/>
                      <a:pt x="19341" y="79"/>
                      <a:pt x="19341" y="115"/>
                    </a:cubicBezTo>
                    <a:cubicBezTo>
                      <a:pt x="19341" y="150"/>
                      <a:pt x="19368" y="177"/>
                      <a:pt x="19395" y="177"/>
                    </a:cubicBezTo>
                    <a:lnTo>
                      <a:pt x="19404" y="177"/>
                    </a:lnTo>
                    <a:cubicBezTo>
                      <a:pt x="19404" y="186"/>
                      <a:pt x="19404" y="186"/>
                      <a:pt x="19404" y="186"/>
                    </a:cubicBezTo>
                    <a:cubicBezTo>
                      <a:pt x="19698" y="204"/>
                      <a:pt x="19992" y="231"/>
                      <a:pt x="20287" y="266"/>
                    </a:cubicBezTo>
                    <a:cubicBezTo>
                      <a:pt x="20296" y="266"/>
                      <a:pt x="20296" y="275"/>
                      <a:pt x="20296" y="275"/>
                    </a:cubicBezTo>
                    <a:cubicBezTo>
                      <a:pt x="20331" y="275"/>
                      <a:pt x="20358" y="248"/>
                      <a:pt x="20358" y="213"/>
                    </a:cubicBezTo>
                    <a:cubicBezTo>
                      <a:pt x="20358" y="213"/>
                      <a:pt x="20358" y="213"/>
                      <a:pt x="20358" y="204"/>
                    </a:cubicBezTo>
                    <a:cubicBezTo>
                      <a:pt x="20358" y="177"/>
                      <a:pt x="20340" y="150"/>
                      <a:pt x="20305" y="141"/>
                    </a:cubicBezTo>
                    <a:cubicBezTo>
                      <a:pt x="20010" y="106"/>
                      <a:pt x="19707" y="79"/>
                      <a:pt x="19413" y="52"/>
                    </a:cubicBezTo>
                    <a:close/>
                    <a:moveTo>
                      <a:pt x="14948" y="265"/>
                    </a:moveTo>
                    <a:cubicBezTo>
                      <a:pt x="14944" y="265"/>
                      <a:pt x="14939" y="265"/>
                      <a:pt x="14934" y="266"/>
                    </a:cubicBezTo>
                    <a:cubicBezTo>
                      <a:pt x="14640" y="320"/>
                      <a:pt x="14345" y="373"/>
                      <a:pt x="14051" y="445"/>
                    </a:cubicBezTo>
                    <a:cubicBezTo>
                      <a:pt x="14024" y="454"/>
                      <a:pt x="13997" y="471"/>
                      <a:pt x="13997" y="507"/>
                    </a:cubicBezTo>
                    <a:cubicBezTo>
                      <a:pt x="13997" y="507"/>
                      <a:pt x="14006" y="516"/>
                      <a:pt x="14006" y="516"/>
                    </a:cubicBezTo>
                    <a:cubicBezTo>
                      <a:pt x="14006" y="552"/>
                      <a:pt x="14033" y="570"/>
                      <a:pt x="14069" y="570"/>
                    </a:cubicBezTo>
                    <a:lnTo>
                      <a:pt x="14078" y="570"/>
                    </a:lnTo>
                    <a:cubicBezTo>
                      <a:pt x="14372" y="507"/>
                      <a:pt x="14667" y="445"/>
                      <a:pt x="14952" y="391"/>
                    </a:cubicBezTo>
                    <a:cubicBezTo>
                      <a:pt x="14988" y="391"/>
                      <a:pt x="15006" y="364"/>
                      <a:pt x="15006" y="329"/>
                    </a:cubicBezTo>
                    <a:cubicBezTo>
                      <a:pt x="15006" y="329"/>
                      <a:pt x="15006" y="320"/>
                      <a:pt x="15006" y="320"/>
                    </a:cubicBezTo>
                    <a:cubicBezTo>
                      <a:pt x="15006" y="289"/>
                      <a:pt x="14979" y="265"/>
                      <a:pt x="14948" y="265"/>
                    </a:cubicBezTo>
                    <a:close/>
                    <a:moveTo>
                      <a:pt x="21197" y="275"/>
                    </a:moveTo>
                    <a:cubicBezTo>
                      <a:pt x="21161" y="275"/>
                      <a:pt x="21125" y="293"/>
                      <a:pt x="21116" y="329"/>
                    </a:cubicBezTo>
                    <a:cubicBezTo>
                      <a:pt x="21116" y="329"/>
                      <a:pt x="21116" y="338"/>
                      <a:pt x="21116" y="338"/>
                    </a:cubicBezTo>
                    <a:cubicBezTo>
                      <a:pt x="21116" y="373"/>
                      <a:pt x="21143" y="400"/>
                      <a:pt x="21170" y="400"/>
                    </a:cubicBezTo>
                    <a:cubicBezTo>
                      <a:pt x="21464" y="454"/>
                      <a:pt x="21750" y="516"/>
                      <a:pt x="22035" y="578"/>
                    </a:cubicBezTo>
                    <a:lnTo>
                      <a:pt x="22062" y="578"/>
                    </a:lnTo>
                    <a:cubicBezTo>
                      <a:pt x="22089" y="578"/>
                      <a:pt x="22116" y="561"/>
                      <a:pt x="22125" y="534"/>
                    </a:cubicBezTo>
                    <a:cubicBezTo>
                      <a:pt x="22125" y="525"/>
                      <a:pt x="22125" y="525"/>
                      <a:pt x="22125" y="516"/>
                    </a:cubicBezTo>
                    <a:cubicBezTo>
                      <a:pt x="22125" y="489"/>
                      <a:pt x="22107" y="463"/>
                      <a:pt x="22071" y="454"/>
                    </a:cubicBezTo>
                    <a:cubicBezTo>
                      <a:pt x="21786" y="391"/>
                      <a:pt x="21491" y="329"/>
                      <a:pt x="21197" y="275"/>
                    </a:cubicBezTo>
                    <a:close/>
                    <a:moveTo>
                      <a:pt x="13191" y="657"/>
                    </a:moveTo>
                    <a:cubicBezTo>
                      <a:pt x="13186" y="657"/>
                      <a:pt x="13182" y="658"/>
                      <a:pt x="13177" y="659"/>
                    </a:cubicBezTo>
                    <a:cubicBezTo>
                      <a:pt x="12891" y="739"/>
                      <a:pt x="12606" y="828"/>
                      <a:pt x="12320" y="926"/>
                    </a:cubicBezTo>
                    <a:cubicBezTo>
                      <a:pt x="12294" y="935"/>
                      <a:pt x="12276" y="962"/>
                      <a:pt x="12276" y="989"/>
                    </a:cubicBezTo>
                    <a:cubicBezTo>
                      <a:pt x="12276" y="998"/>
                      <a:pt x="12276" y="998"/>
                      <a:pt x="12276" y="1007"/>
                    </a:cubicBezTo>
                    <a:cubicBezTo>
                      <a:pt x="12285" y="1033"/>
                      <a:pt x="12311" y="1051"/>
                      <a:pt x="12338" y="1051"/>
                    </a:cubicBezTo>
                    <a:lnTo>
                      <a:pt x="12365" y="1051"/>
                    </a:lnTo>
                    <a:cubicBezTo>
                      <a:pt x="12641" y="953"/>
                      <a:pt x="12927" y="864"/>
                      <a:pt x="13212" y="784"/>
                    </a:cubicBezTo>
                    <a:cubicBezTo>
                      <a:pt x="13239" y="784"/>
                      <a:pt x="13257" y="757"/>
                      <a:pt x="13257" y="721"/>
                    </a:cubicBezTo>
                    <a:cubicBezTo>
                      <a:pt x="13266" y="721"/>
                      <a:pt x="13257" y="712"/>
                      <a:pt x="13257" y="703"/>
                    </a:cubicBezTo>
                    <a:cubicBezTo>
                      <a:pt x="13249" y="680"/>
                      <a:pt x="13221" y="657"/>
                      <a:pt x="13191" y="657"/>
                    </a:cubicBezTo>
                    <a:close/>
                    <a:moveTo>
                      <a:pt x="22927" y="674"/>
                    </a:moveTo>
                    <a:cubicBezTo>
                      <a:pt x="22898" y="674"/>
                      <a:pt x="22872" y="692"/>
                      <a:pt x="22865" y="721"/>
                    </a:cubicBezTo>
                    <a:cubicBezTo>
                      <a:pt x="22865" y="730"/>
                      <a:pt x="22865" y="730"/>
                      <a:pt x="22865" y="739"/>
                    </a:cubicBezTo>
                    <a:cubicBezTo>
                      <a:pt x="22865" y="766"/>
                      <a:pt x="22874" y="784"/>
                      <a:pt x="22892" y="793"/>
                    </a:cubicBezTo>
                    <a:lnTo>
                      <a:pt x="22910" y="802"/>
                    </a:lnTo>
                    <a:cubicBezTo>
                      <a:pt x="23195" y="882"/>
                      <a:pt x="23481" y="971"/>
                      <a:pt x="23766" y="1069"/>
                    </a:cubicBezTo>
                    <a:lnTo>
                      <a:pt x="23784" y="1069"/>
                    </a:lnTo>
                    <a:cubicBezTo>
                      <a:pt x="23811" y="1069"/>
                      <a:pt x="23837" y="1051"/>
                      <a:pt x="23846" y="1025"/>
                    </a:cubicBezTo>
                    <a:cubicBezTo>
                      <a:pt x="23846" y="1016"/>
                      <a:pt x="23846" y="1016"/>
                      <a:pt x="23846" y="1007"/>
                    </a:cubicBezTo>
                    <a:cubicBezTo>
                      <a:pt x="23846" y="980"/>
                      <a:pt x="23828" y="953"/>
                      <a:pt x="23802" y="944"/>
                    </a:cubicBezTo>
                    <a:cubicBezTo>
                      <a:pt x="23516" y="846"/>
                      <a:pt x="23231" y="757"/>
                      <a:pt x="22945" y="677"/>
                    </a:cubicBezTo>
                    <a:cubicBezTo>
                      <a:pt x="22939" y="675"/>
                      <a:pt x="22933" y="674"/>
                      <a:pt x="22927" y="674"/>
                    </a:cubicBezTo>
                    <a:close/>
                    <a:moveTo>
                      <a:pt x="11492" y="1227"/>
                    </a:moveTo>
                    <a:cubicBezTo>
                      <a:pt x="11485" y="1227"/>
                      <a:pt x="11479" y="1228"/>
                      <a:pt x="11473" y="1230"/>
                    </a:cubicBezTo>
                    <a:cubicBezTo>
                      <a:pt x="11196" y="1346"/>
                      <a:pt x="10920" y="1462"/>
                      <a:pt x="10643" y="1578"/>
                    </a:cubicBezTo>
                    <a:cubicBezTo>
                      <a:pt x="10616" y="1595"/>
                      <a:pt x="10607" y="1613"/>
                      <a:pt x="10607" y="1640"/>
                    </a:cubicBezTo>
                    <a:cubicBezTo>
                      <a:pt x="10607" y="1649"/>
                      <a:pt x="10607" y="1658"/>
                      <a:pt x="10607" y="1667"/>
                    </a:cubicBezTo>
                    <a:cubicBezTo>
                      <a:pt x="10625" y="1694"/>
                      <a:pt x="10643" y="1703"/>
                      <a:pt x="10670" y="1703"/>
                    </a:cubicBezTo>
                    <a:lnTo>
                      <a:pt x="10697" y="1703"/>
                    </a:lnTo>
                    <a:cubicBezTo>
                      <a:pt x="10964" y="1578"/>
                      <a:pt x="11241" y="1462"/>
                      <a:pt x="11517" y="1355"/>
                    </a:cubicBezTo>
                    <a:cubicBezTo>
                      <a:pt x="11544" y="1346"/>
                      <a:pt x="11562" y="1319"/>
                      <a:pt x="11562" y="1292"/>
                    </a:cubicBezTo>
                    <a:cubicBezTo>
                      <a:pt x="11562" y="1283"/>
                      <a:pt x="11562" y="1274"/>
                      <a:pt x="11553" y="1265"/>
                    </a:cubicBezTo>
                    <a:cubicBezTo>
                      <a:pt x="11546" y="1243"/>
                      <a:pt x="11520" y="1227"/>
                      <a:pt x="11492" y="1227"/>
                    </a:cubicBezTo>
                    <a:close/>
                    <a:moveTo>
                      <a:pt x="24621" y="1249"/>
                    </a:moveTo>
                    <a:cubicBezTo>
                      <a:pt x="24596" y="1249"/>
                      <a:pt x="24575" y="1266"/>
                      <a:pt x="24569" y="1292"/>
                    </a:cubicBezTo>
                    <a:cubicBezTo>
                      <a:pt x="24560" y="1292"/>
                      <a:pt x="24560" y="1301"/>
                      <a:pt x="24560" y="1310"/>
                    </a:cubicBezTo>
                    <a:cubicBezTo>
                      <a:pt x="24560" y="1337"/>
                      <a:pt x="24578" y="1364"/>
                      <a:pt x="24605" y="1372"/>
                    </a:cubicBezTo>
                    <a:cubicBezTo>
                      <a:pt x="24872" y="1479"/>
                      <a:pt x="25149" y="1595"/>
                      <a:pt x="25425" y="1720"/>
                    </a:cubicBezTo>
                    <a:cubicBezTo>
                      <a:pt x="25425" y="1720"/>
                      <a:pt x="25434" y="1729"/>
                      <a:pt x="25443" y="1729"/>
                    </a:cubicBezTo>
                    <a:cubicBezTo>
                      <a:pt x="25470" y="1729"/>
                      <a:pt x="25497" y="1711"/>
                      <a:pt x="25506" y="1685"/>
                    </a:cubicBezTo>
                    <a:cubicBezTo>
                      <a:pt x="25506" y="1676"/>
                      <a:pt x="25515" y="1667"/>
                      <a:pt x="25515" y="1658"/>
                    </a:cubicBezTo>
                    <a:cubicBezTo>
                      <a:pt x="25515" y="1640"/>
                      <a:pt x="25497" y="1613"/>
                      <a:pt x="25479" y="1604"/>
                    </a:cubicBezTo>
                    <a:cubicBezTo>
                      <a:pt x="25202" y="1479"/>
                      <a:pt x="24926" y="1364"/>
                      <a:pt x="24649" y="1256"/>
                    </a:cubicBezTo>
                    <a:cubicBezTo>
                      <a:pt x="24640" y="1252"/>
                      <a:pt x="24630" y="1249"/>
                      <a:pt x="24621" y="1249"/>
                    </a:cubicBezTo>
                    <a:close/>
                    <a:moveTo>
                      <a:pt x="9857" y="1963"/>
                    </a:moveTo>
                    <a:cubicBezTo>
                      <a:pt x="9848" y="1963"/>
                      <a:pt x="9839" y="1965"/>
                      <a:pt x="9831" y="1970"/>
                    </a:cubicBezTo>
                    <a:cubicBezTo>
                      <a:pt x="9564" y="2104"/>
                      <a:pt x="9296" y="2256"/>
                      <a:pt x="9037" y="2398"/>
                    </a:cubicBezTo>
                    <a:cubicBezTo>
                      <a:pt x="9020" y="2416"/>
                      <a:pt x="9011" y="2434"/>
                      <a:pt x="9011" y="2461"/>
                    </a:cubicBezTo>
                    <a:cubicBezTo>
                      <a:pt x="9011" y="2470"/>
                      <a:pt x="9011" y="2479"/>
                      <a:pt x="9020" y="2488"/>
                    </a:cubicBezTo>
                    <a:cubicBezTo>
                      <a:pt x="9028" y="2505"/>
                      <a:pt x="9046" y="2523"/>
                      <a:pt x="9073" y="2523"/>
                    </a:cubicBezTo>
                    <a:cubicBezTo>
                      <a:pt x="9082" y="2523"/>
                      <a:pt x="9091" y="2514"/>
                      <a:pt x="9109" y="2514"/>
                    </a:cubicBezTo>
                    <a:cubicBezTo>
                      <a:pt x="9359" y="2363"/>
                      <a:pt x="9626" y="2220"/>
                      <a:pt x="9894" y="2086"/>
                    </a:cubicBezTo>
                    <a:cubicBezTo>
                      <a:pt x="9912" y="2077"/>
                      <a:pt x="9929" y="2050"/>
                      <a:pt x="9929" y="2033"/>
                    </a:cubicBezTo>
                    <a:cubicBezTo>
                      <a:pt x="9929" y="2015"/>
                      <a:pt x="9921" y="2006"/>
                      <a:pt x="9921" y="1997"/>
                    </a:cubicBezTo>
                    <a:cubicBezTo>
                      <a:pt x="9908" y="1978"/>
                      <a:pt x="9881" y="1963"/>
                      <a:pt x="9857" y="1963"/>
                    </a:cubicBezTo>
                    <a:close/>
                    <a:moveTo>
                      <a:pt x="26251" y="1988"/>
                    </a:moveTo>
                    <a:cubicBezTo>
                      <a:pt x="26228" y="1988"/>
                      <a:pt x="26204" y="2000"/>
                      <a:pt x="26193" y="2024"/>
                    </a:cubicBezTo>
                    <a:cubicBezTo>
                      <a:pt x="26193" y="2033"/>
                      <a:pt x="26193" y="2042"/>
                      <a:pt x="26193" y="2050"/>
                    </a:cubicBezTo>
                    <a:cubicBezTo>
                      <a:pt x="26193" y="2077"/>
                      <a:pt x="26201" y="2095"/>
                      <a:pt x="26219" y="2104"/>
                    </a:cubicBezTo>
                    <a:cubicBezTo>
                      <a:pt x="26228" y="2104"/>
                      <a:pt x="26228" y="2113"/>
                      <a:pt x="26228" y="2113"/>
                    </a:cubicBezTo>
                    <a:cubicBezTo>
                      <a:pt x="26487" y="2247"/>
                      <a:pt x="26755" y="2389"/>
                      <a:pt x="27004" y="2532"/>
                    </a:cubicBezTo>
                    <a:cubicBezTo>
                      <a:pt x="27013" y="2541"/>
                      <a:pt x="27022" y="2541"/>
                      <a:pt x="27040" y="2541"/>
                    </a:cubicBezTo>
                    <a:cubicBezTo>
                      <a:pt x="27058" y="2541"/>
                      <a:pt x="27085" y="2532"/>
                      <a:pt x="27094" y="2514"/>
                    </a:cubicBezTo>
                    <a:cubicBezTo>
                      <a:pt x="27102" y="2505"/>
                      <a:pt x="27102" y="2488"/>
                      <a:pt x="27102" y="2479"/>
                    </a:cubicBezTo>
                    <a:cubicBezTo>
                      <a:pt x="27102" y="2461"/>
                      <a:pt x="27085" y="2434"/>
                      <a:pt x="27067" y="2425"/>
                    </a:cubicBezTo>
                    <a:cubicBezTo>
                      <a:pt x="26808" y="2273"/>
                      <a:pt x="26540" y="2131"/>
                      <a:pt x="26282" y="1997"/>
                    </a:cubicBezTo>
                    <a:cubicBezTo>
                      <a:pt x="26273" y="1991"/>
                      <a:pt x="26262" y="1988"/>
                      <a:pt x="26251" y="1988"/>
                    </a:cubicBezTo>
                    <a:close/>
                    <a:moveTo>
                      <a:pt x="8307" y="2862"/>
                    </a:moveTo>
                    <a:cubicBezTo>
                      <a:pt x="8295" y="2862"/>
                      <a:pt x="8283" y="2865"/>
                      <a:pt x="8270" y="2871"/>
                    </a:cubicBezTo>
                    <a:cubicBezTo>
                      <a:pt x="8020" y="3032"/>
                      <a:pt x="7771" y="3201"/>
                      <a:pt x="7530" y="3380"/>
                    </a:cubicBezTo>
                    <a:lnTo>
                      <a:pt x="7521" y="3380"/>
                    </a:lnTo>
                    <a:cubicBezTo>
                      <a:pt x="7512" y="3398"/>
                      <a:pt x="7503" y="3415"/>
                      <a:pt x="7503" y="3433"/>
                    </a:cubicBezTo>
                    <a:cubicBezTo>
                      <a:pt x="7503" y="3442"/>
                      <a:pt x="7503" y="3460"/>
                      <a:pt x="7512" y="3469"/>
                    </a:cubicBezTo>
                    <a:cubicBezTo>
                      <a:pt x="7530" y="3487"/>
                      <a:pt x="7548" y="3496"/>
                      <a:pt x="7565" y="3496"/>
                    </a:cubicBezTo>
                    <a:cubicBezTo>
                      <a:pt x="7583" y="3496"/>
                      <a:pt x="7592" y="3487"/>
                      <a:pt x="7601" y="3478"/>
                    </a:cubicBezTo>
                    <a:lnTo>
                      <a:pt x="7610" y="3478"/>
                    </a:lnTo>
                    <a:cubicBezTo>
                      <a:pt x="7842" y="3308"/>
                      <a:pt x="8092" y="3139"/>
                      <a:pt x="8342" y="2978"/>
                    </a:cubicBezTo>
                    <a:cubicBezTo>
                      <a:pt x="8359" y="2969"/>
                      <a:pt x="8368" y="2943"/>
                      <a:pt x="8368" y="2925"/>
                    </a:cubicBezTo>
                    <a:cubicBezTo>
                      <a:pt x="8368" y="2916"/>
                      <a:pt x="8368" y="2898"/>
                      <a:pt x="8359" y="2889"/>
                    </a:cubicBezTo>
                    <a:cubicBezTo>
                      <a:pt x="8348" y="2872"/>
                      <a:pt x="8329" y="2862"/>
                      <a:pt x="8307" y="2862"/>
                    </a:cubicBezTo>
                    <a:close/>
                    <a:moveTo>
                      <a:pt x="27797" y="2882"/>
                    </a:moveTo>
                    <a:cubicBezTo>
                      <a:pt x="27776" y="2882"/>
                      <a:pt x="27756" y="2894"/>
                      <a:pt x="27745" y="2916"/>
                    </a:cubicBezTo>
                    <a:cubicBezTo>
                      <a:pt x="27736" y="2925"/>
                      <a:pt x="27736" y="2934"/>
                      <a:pt x="27736" y="2951"/>
                    </a:cubicBezTo>
                    <a:cubicBezTo>
                      <a:pt x="27736" y="2969"/>
                      <a:pt x="27745" y="2987"/>
                      <a:pt x="27754" y="2996"/>
                    </a:cubicBezTo>
                    <a:lnTo>
                      <a:pt x="27763" y="3005"/>
                    </a:lnTo>
                    <a:cubicBezTo>
                      <a:pt x="28012" y="3166"/>
                      <a:pt x="28262" y="3335"/>
                      <a:pt x="28503" y="3505"/>
                    </a:cubicBezTo>
                    <a:cubicBezTo>
                      <a:pt x="28512" y="3513"/>
                      <a:pt x="28521" y="3513"/>
                      <a:pt x="28539" y="3513"/>
                    </a:cubicBezTo>
                    <a:cubicBezTo>
                      <a:pt x="28557" y="3513"/>
                      <a:pt x="28574" y="3505"/>
                      <a:pt x="28592" y="3487"/>
                    </a:cubicBezTo>
                    <a:cubicBezTo>
                      <a:pt x="28601" y="3478"/>
                      <a:pt x="28601" y="3469"/>
                      <a:pt x="28601" y="3451"/>
                    </a:cubicBezTo>
                    <a:cubicBezTo>
                      <a:pt x="28601" y="3433"/>
                      <a:pt x="28592" y="3415"/>
                      <a:pt x="28574" y="3398"/>
                    </a:cubicBezTo>
                    <a:cubicBezTo>
                      <a:pt x="28334" y="3228"/>
                      <a:pt x="28084" y="3059"/>
                      <a:pt x="27834" y="2898"/>
                    </a:cubicBezTo>
                    <a:cubicBezTo>
                      <a:pt x="27823" y="2887"/>
                      <a:pt x="27810" y="2882"/>
                      <a:pt x="27797" y="2882"/>
                    </a:cubicBezTo>
                    <a:close/>
                    <a:moveTo>
                      <a:pt x="6853" y="3908"/>
                    </a:moveTo>
                    <a:cubicBezTo>
                      <a:pt x="6840" y="3908"/>
                      <a:pt x="6827" y="3913"/>
                      <a:pt x="6816" y="3924"/>
                    </a:cubicBezTo>
                    <a:cubicBezTo>
                      <a:pt x="6575" y="4102"/>
                      <a:pt x="6343" y="4299"/>
                      <a:pt x="6120" y="4495"/>
                    </a:cubicBezTo>
                    <a:cubicBezTo>
                      <a:pt x="6111" y="4513"/>
                      <a:pt x="6102" y="4530"/>
                      <a:pt x="6102" y="4548"/>
                    </a:cubicBezTo>
                    <a:cubicBezTo>
                      <a:pt x="6102" y="4557"/>
                      <a:pt x="6102" y="4575"/>
                      <a:pt x="6120" y="4584"/>
                    </a:cubicBezTo>
                    <a:cubicBezTo>
                      <a:pt x="6129" y="4602"/>
                      <a:pt x="6147" y="4611"/>
                      <a:pt x="6165" y="4611"/>
                    </a:cubicBezTo>
                    <a:cubicBezTo>
                      <a:pt x="6183" y="4611"/>
                      <a:pt x="6192" y="4602"/>
                      <a:pt x="6209" y="4593"/>
                    </a:cubicBezTo>
                    <a:cubicBezTo>
                      <a:pt x="6432" y="4397"/>
                      <a:pt x="6664" y="4200"/>
                      <a:pt x="6887" y="4022"/>
                    </a:cubicBezTo>
                    <a:cubicBezTo>
                      <a:pt x="6905" y="4004"/>
                      <a:pt x="6914" y="3986"/>
                      <a:pt x="6914" y="3968"/>
                    </a:cubicBezTo>
                    <a:cubicBezTo>
                      <a:pt x="6914" y="3951"/>
                      <a:pt x="6914" y="3942"/>
                      <a:pt x="6905" y="3933"/>
                    </a:cubicBezTo>
                    <a:cubicBezTo>
                      <a:pt x="6890" y="3917"/>
                      <a:pt x="6871" y="3908"/>
                      <a:pt x="6853" y="3908"/>
                    </a:cubicBezTo>
                    <a:close/>
                    <a:moveTo>
                      <a:pt x="29255" y="3932"/>
                    </a:moveTo>
                    <a:cubicBezTo>
                      <a:pt x="29235" y="3932"/>
                      <a:pt x="29215" y="3940"/>
                      <a:pt x="29199" y="3951"/>
                    </a:cubicBezTo>
                    <a:cubicBezTo>
                      <a:pt x="29190" y="3968"/>
                      <a:pt x="29190" y="3977"/>
                      <a:pt x="29190" y="3995"/>
                    </a:cubicBezTo>
                    <a:cubicBezTo>
                      <a:pt x="29190" y="4013"/>
                      <a:pt x="29199" y="4031"/>
                      <a:pt x="29208" y="4049"/>
                    </a:cubicBezTo>
                    <a:cubicBezTo>
                      <a:pt x="29440" y="4227"/>
                      <a:pt x="29672" y="4423"/>
                      <a:pt x="29895" y="4620"/>
                    </a:cubicBezTo>
                    <a:cubicBezTo>
                      <a:pt x="29904" y="4629"/>
                      <a:pt x="29922" y="4638"/>
                      <a:pt x="29939" y="4638"/>
                    </a:cubicBezTo>
                    <a:cubicBezTo>
                      <a:pt x="29957" y="4638"/>
                      <a:pt x="29975" y="4629"/>
                      <a:pt x="29984" y="4611"/>
                    </a:cubicBezTo>
                    <a:cubicBezTo>
                      <a:pt x="29993" y="4602"/>
                      <a:pt x="30002" y="4584"/>
                      <a:pt x="30002" y="4575"/>
                    </a:cubicBezTo>
                    <a:cubicBezTo>
                      <a:pt x="30002" y="4557"/>
                      <a:pt x="29993" y="4539"/>
                      <a:pt x="29975" y="4522"/>
                    </a:cubicBezTo>
                    <a:cubicBezTo>
                      <a:pt x="29752" y="4325"/>
                      <a:pt x="29529" y="4129"/>
                      <a:pt x="29297" y="3951"/>
                    </a:cubicBezTo>
                    <a:cubicBezTo>
                      <a:pt x="29288" y="3942"/>
                      <a:pt x="29288" y="3942"/>
                      <a:pt x="29288" y="3942"/>
                    </a:cubicBezTo>
                    <a:cubicBezTo>
                      <a:pt x="29278" y="3935"/>
                      <a:pt x="29266" y="3932"/>
                      <a:pt x="29255" y="3932"/>
                    </a:cubicBezTo>
                    <a:close/>
                    <a:moveTo>
                      <a:pt x="5509" y="5090"/>
                    </a:moveTo>
                    <a:cubicBezTo>
                      <a:pt x="5491" y="5090"/>
                      <a:pt x="5473" y="5097"/>
                      <a:pt x="5460" y="5110"/>
                    </a:cubicBezTo>
                    <a:cubicBezTo>
                      <a:pt x="5246" y="5316"/>
                      <a:pt x="5041" y="5530"/>
                      <a:pt x="4836" y="5753"/>
                    </a:cubicBezTo>
                    <a:cubicBezTo>
                      <a:pt x="4827" y="5762"/>
                      <a:pt x="4818" y="5779"/>
                      <a:pt x="4818" y="5797"/>
                    </a:cubicBezTo>
                    <a:cubicBezTo>
                      <a:pt x="4818" y="5815"/>
                      <a:pt x="4827" y="5833"/>
                      <a:pt x="4836" y="5842"/>
                    </a:cubicBezTo>
                    <a:cubicBezTo>
                      <a:pt x="4853" y="5851"/>
                      <a:pt x="4862" y="5860"/>
                      <a:pt x="4880" y="5860"/>
                    </a:cubicBezTo>
                    <a:cubicBezTo>
                      <a:pt x="4898" y="5860"/>
                      <a:pt x="4916" y="5851"/>
                      <a:pt x="4925" y="5842"/>
                    </a:cubicBezTo>
                    <a:cubicBezTo>
                      <a:pt x="5130" y="5619"/>
                      <a:pt x="5344" y="5405"/>
                      <a:pt x="5549" y="5200"/>
                    </a:cubicBezTo>
                    <a:cubicBezTo>
                      <a:pt x="5567" y="5191"/>
                      <a:pt x="5576" y="5173"/>
                      <a:pt x="5576" y="5155"/>
                    </a:cubicBezTo>
                    <a:cubicBezTo>
                      <a:pt x="5576" y="5137"/>
                      <a:pt x="5567" y="5119"/>
                      <a:pt x="5558" y="5110"/>
                    </a:cubicBezTo>
                    <a:cubicBezTo>
                      <a:pt x="5545" y="5097"/>
                      <a:pt x="5527" y="5090"/>
                      <a:pt x="5509" y="5090"/>
                    </a:cubicBezTo>
                    <a:close/>
                    <a:moveTo>
                      <a:pt x="30591" y="5117"/>
                    </a:moveTo>
                    <a:cubicBezTo>
                      <a:pt x="30575" y="5117"/>
                      <a:pt x="30559" y="5124"/>
                      <a:pt x="30546" y="5137"/>
                    </a:cubicBezTo>
                    <a:cubicBezTo>
                      <a:pt x="30537" y="5146"/>
                      <a:pt x="30528" y="5164"/>
                      <a:pt x="30528" y="5182"/>
                    </a:cubicBezTo>
                    <a:cubicBezTo>
                      <a:pt x="30528" y="5200"/>
                      <a:pt x="30537" y="5217"/>
                      <a:pt x="30546" y="5226"/>
                    </a:cubicBezTo>
                    <a:cubicBezTo>
                      <a:pt x="30760" y="5432"/>
                      <a:pt x="30965" y="5655"/>
                      <a:pt x="31170" y="5869"/>
                    </a:cubicBezTo>
                    <a:cubicBezTo>
                      <a:pt x="31179" y="5878"/>
                      <a:pt x="31197" y="5886"/>
                      <a:pt x="31215" y="5886"/>
                    </a:cubicBezTo>
                    <a:cubicBezTo>
                      <a:pt x="31233" y="5886"/>
                      <a:pt x="31251" y="5878"/>
                      <a:pt x="31260" y="5869"/>
                    </a:cubicBezTo>
                    <a:cubicBezTo>
                      <a:pt x="31278" y="5860"/>
                      <a:pt x="31278" y="5842"/>
                      <a:pt x="31278" y="5824"/>
                    </a:cubicBezTo>
                    <a:cubicBezTo>
                      <a:pt x="31278" y="5806"/>
                      <a:pt x="31278" y="5788"/>
                      <a:pt x="31269" y="5779"/>
                    </a:cubicBezTo>
                    <a:cubicBezTo>
                      <a:pt x="31063" y="5565"/>
                      <a:pt x="30849" y="5342"/>
                      <a:pt x="30635" y="5137"/>
                    </a:cubicBezTo>
                    <a:cubicBezTo>
                      <a:pt x="30622" y="5124"/>
                      <a:pt x="30606" y="5117"/>
                      <a:pt x="30591" y="5117"/>
                    </a:cubicBezTo>
                    <a:close/>
                    <a:moveTo>
                      <a:pt x="4287" y="6400"/>
                    </a:moveTo>
                    <a:cubicBezTo>
                      <a:pt x="4270" y="6400"/>
                      <a:pt x="4253" y="6407"/>
                      <a:pt x="4238" y="6422"/>
                    </a:cubicBezTo>
                    <a:cubicBezTo>
                      <a:pt x="4050" y="6654"/>
                      <a:pt x="3854" y="6886"/>
                      <a:pt x="3676" y="7126"/>
                    </a:cubicBezTo>
                    <a:cubicBezTo>
                      <a:pt x="3667" y="7135"/>
                      <a:pt x="3667" y="7144"/>
                      <a:pt x="3667" y="7162"/>
                    </a:cubicBezTo>
                    <a:cubicBezTo>
                      <a:pt x="3667" y="7180"/>
                      <a:pt x="3676" y="7198"/>
                      <a:pt x="3685" y="7216"/>
                    </a:cubicBezTo>
                    <a:cubicBezTo>
                      <a:pt x="3703" y="7225"/>
                      <a:pt x="3711" y="7225"/>
                      <a:pt x="3729" y="7225"/>
                    </a:cubicBezTo>
                    <a:cubicBezTo>
                      <a:pt x="3747" y="7225"/>
                      <a:pt x="3765" y="7216"/>
                      <a:pt x="3783" y="7207"/>
                    </a:cubicBezTo>
                    <a:cubicBezTo>
                      <a:pt x="3952" y="6966"/>
                      <a:pt x="4140" y="6734"/>
                      <a:pt x="4336" y="6511"/>
                    </a:cubicBezTo>
                    <a:lnTo>
                      <a:pt x="4336" y="6502"/>
                    </a:lnTo>
                    <a:cubicBezTo>
                      <a:pt x="4345" y="6493"/>
                      <a:pt x="4354" y="6484"/>
                      <a:pt x="4354" y="6466"/>
                    </a:cubicBezTo>
                    <a:cubicBezTo>
                      <a:pt x="4354" y="6448"/>
                      <a:pt x="4345" y="6431"/>
                      <a:pt x="4327" y="6413"/>
                    </a:cubicBezTo>
                    <a:cubicBezTo>
                      <a:pt x="4315" y="6405"/>
                      <a:pt x="4301" y="6400"/>
                      <a:pt x="4287" y="6400"/>
                    </a:cubicBezTo>
                    <a:close/>
                    <a:moveTo>
                      <a:pt x="31808" y="6432"/>
                    </a:moveTo>
                    <a:cubicBezTo>
                      <a:pt x="31794" y="6432"/>
                      <a:pt x="31779" y="6437"/>
                      <a:pt x="31768" y="6448"/>
                    </a:cubicBezTo>
                    <a:cubicBezTo>
                      <a:pt x="31750" y="6457"/>
                      <a:pt x="31741" y="6475"/>
                      <a:pt x="31741" y="6493"/>
                    </a:cubicBezTo>
                    <a:cubicBezTo>
                      <a:pt x="31741" y="6511"/>
                      <a:pt x="31750" y="6529"/>
                      <a:pt x="31759" y="6538"/>
                    </a:cubicBezTo>
                    <a:cubicBezTo>
                      <a:pt x="31956" y="6761"/>
                      <a:pt x="32134" y="7002"/>
                      <a:pt x="32312" y="7234"/>
                    </a:cubicBezTo>
                    <a:lnTo>
                      <a:pt x="32321" y="7242"/>
                    </a:lnTo>
                    <a:cubicBezTo>
                      <a:pt x="32330" y="7251"/>
                      <a:pt x="32348" y="7260"/>
                      <a:pt x="32366" y="7260"/>
                    </a:cubicBezTo>
                    <a:cubicBezTo>
                      <a:pt x="32384" y="7260"/>
                      <a:pt x="32393" y="7251"/>
                      <a:pt x="32411" y="7242"/>
                    </a:cubicBezTo>
                    <a:cubicBezTo>
                      <a:pt x="32419" y="7234"/>
                      <a:pt x="32428" y="7216"/>
                      <a:pt x="32428" y="7198"/>
                    </a:cubicBezTo>
                    <a:cubicBezTo>
                      <a:pt x="32428" y="7180"/>
                      <a:pt x="32428" y="7171"/>
                      <a:pt x="32419" y="7153"/>
                    </a:cubicBezTo>
                    <a:cubicBezTo>
                      <a:pt x="32241" y="6921"/>
                      <a:pt x="32054" y="6680"/>
                      <a:pt x="31857" y="6457"/>
                    </a:cubicBezTo>
                    <a:cubicBezTo>
                      <a:pt x="31847" y="6442"/>
                      <a:pt x="31828" y="6432"/>
                      <a:pt x="31808" y="6432"/>
                    </a:cubicBezTo>
                    <a:close/>
                    <a:moveTo>
                      <a:pt x="3206" y="7822"/>
                    </a:moveTo>
                    <a:cubicBezTo>
                      <a:pt x="3184" y="7822"/>
                      <a:pt x="3161" y="7832"/>
                      <a:pt x="3149" y="7849"/>
                    </a:cubicBezTo>
                    <a:cubicBezTo>
                      <a:pt x="2980" y="8099"/>
                      <a:pt x="2819" y="8358"/>
                      <a:pt x="2659" y="8607"/>
                    </a:cubicBezTo>
                    <a:cubicBezTo>
                      <a:pt x="2659" y="8616"/>
                      <a:pt x="2650" y="8625"/>
                      <a:pt x="2650" y="8643"/>
                    </a:cubicBezTo>
                    <a:cubicBezTo>
                      <a:pt x="2650" y="8661"/>
                      <a:pt x="2668" y="8679"/>
                      <a:pt x="2686" y="8697"/>
                    </a:cubicBezTo>
                    <a:cubicBezTo>
                      <a:pt x="2695" y="8697"/>
                      <a:pt x="2703" y="8706"/>
                      <a:pt x="2712" y="8706"/>
                    </a:cubicBezTo>
                    <a:cubicBezTo>
                      <a:pt x="2739" y="8706"/>
                      <a:pt x="2757" y="8697"/>
                      <a:pt x="2775" y="8670"/>
                    </a:cubicBezTo>
                    <a:cubicBezTo>
                      <a:pt x="2926" y="8420"/>
                      <a:pt x="3087" y="8170"/>
                      <a:pt x="3257" y="7929"/>
                    </a:cubicBezTo>
                    <a:lnTo>
                      <a:pt x="3257" y="7920"/>
                    </a:lnTo>
                    <a:cubicBezTo>
                      <a:pt x="3265" y="7912"/>
                      <a:pt x="3265" y="7903"/>
                      <a:pt x="3265" y="7894"/>
                    </a:cubicBezTo>
                    <a:cubicBezTo>
                      <a:pt x="3265" y="7867"/>
                      <a:pt x="3257" y="7849"/>
                      <a:pt x="3239" y="7831"/>
                    </a:cubicBezTo>
                    <a:cubicBezTo>
                      <a:pt x="3229" y="7825"/>
                      <a:pt x="3217" y="7822"/>
                      <a:pt x="3206" y="7822"/>
                    </a:cubicBezTo>
                    <a:close/>
                    <a:moveTo>
                      <a:pt x="32890" y="7858"/>
                    </a:moveTo>
                    <a:cubicBezTo>
                      <a:pt x="32878" y="7858"/>
                      <a:pt x="32866" y="7861"/>
                      <a:pt x="32857" y="7867"/>
                    </a:cubicBezTo>
                    <a:cubicBezTo>
                      <a:pt x="32839" y="7885"/>
                      <a:pt x="32830" y="7903"/>
                      <a:pt x="32830" y="7920"/>
                    </a:cubicBezTo>
                    <a:cubicBezTo>
                      <a:pt x="32830" y="7938"/>
                      <a:pt x="32830" y="7947"/>
                      <a:pt x="32839" y="7956"/>
                    </a:cubicBezTo>
                    <a:cubicBezTo>
                      <a:pt x="33008" y="8206"/>
                      <a:pt x="33169" y="8456"/>
                      <a:pt x="33320" y="8714"/>
                    </a:cubicBezTo>
                    <a:cubicBezTo>
                      <a:pt x="33338" y="8732"/>
                      <a:pt x="33356" y="8741"/>
                      <a:pt x="33374" y="8741"/>
                    </a:cubicBezTo>
                    <a:cubicBezTo>
                      <a:pt x="33392" y="8741"/>
                      <a:pt x="33401" y="8741"/>
                      <a:pt x="33410" y="8732"/>
                    </a:cubicBezTo>
                    <a:cubicBezTo>
                      <a:pt x="33428" y="8723"/>
                      <a:pt x="33445" y="8697"/>
                      <a:pt x="33445" y="8679"/>
                    </a:cubicBezTo>
                    <a:cubicBezTo>
                      <a:pt x="33445" y="8661"/>
                      <a:pt x="33436" y="8652"/>
                      <a:pt x="33436" y="8643"/>
                    </a:cubicBezTo>
                    <a:cubicBezTo>
                      <a:pt x="33276" y="8393"/>
                      <a:pt x="33115" y="8135"/>
                      <a:pt x="32946" y="7885"/>
                    </a:cubicBezTo>
                    <a:cubicBezTo>
                      <a:pt x="32934" y="7867"/>
                      <a:pt x="32912" y="7858"/>
                      <a:pt x="32890" y="7858"/>
                    </a:cubicBezTo>
                    <a:close/>
                    <a:moveTo>
                      <a:pt x="2267" y="9348"/>
                    </a:moveTo>
                    <a:cubicBezTo>
                      <a:pt x="2244" y="9348"/>
                      <a:pt x="2225" y="9360"/>
                      <a:pt x="2213" y="9384"/>
                    </a:cubicBezTo>
                    <a:cubicBezTo>
                      <a:pt x="2070" y="9642"/>
                      <a:pt x="1927" y="9910"/>
                      <a:pt x="1802" y="10177"/>
                    </a:cubicBezTo>
                    <a:cubicBezTo>
                      <a:pt x="1793" y="10186"/>
                      <a:pt x="1793" y="10195"/>
                      <a:pt x="1793" y="10204"/>
                    </a:cubicBezTo>
                    <a:cubicBezTo>
                      <a:pt x="1793" y="10231"/>
                      <a:pt x="1811" y="10258"/>
                      <a:pt x="1829" y="10267"/>
                    </a:cubicBezTo>
                    <a:cubicBezTo>
                      <a:pt x="1838" y="10267"/>
                      <a:pt x="1847" y="10276"/>
                      <a:pt x="1856" y="10276"/>
                    </a:cubicBezTo>
                    <a:cubicBezTo>
                      <a:pt x="1883" y="10276"/>
                      <a:pt x="1901" y="10258"/>
                      <a:pt x="1918" y="10240"/>
                    </a:cubicBezTo>
                    <a:cubicBezTo>
                      <a:pt x="2043" y="9972"/>
                      <a:pt x="2186" y="9705"/>
                      <a:pt x="2320" y="9446"/>
                    </a:cubicBezTo>
                    <a:cubicBezTo>
                      <a:pt x="2329" y="9437"/>
                      <a:pt x="2329" y="9419"/>
                      <a:pt x="2329" y="9410"/>
                    </a:cubicBezTo>
                    <a:cubicBezTo>
                      <a:pt x="2329" y="9392"/>
                      <a:pt x="2320" y="9366"/>
                      <a:pt x="2302" y="9357"/>
                    </a:cubicBezTo>
                    <a:cubicBezTo>
                      <a:pt x="2290" y="9351"/>
                      <a:pt x="2278" y="9348"/>
                      <a:pt x="2267" y="9348"/>
                    </a:cubicBezTo>
                    <a:close/>
                    <a:moveTo>
                      <a:pt x="33820" y="9389"/>
                    </a:moveTo>
                    <a:cubicBezTo>
                      <a:pt x="33811" y="9389"/>
                      <a:pt x="33802" y="9390"/>
                      <a:pt x="33793" y="9392"/>
                    </a:cubicBezTo>
                    <a:cubicBezTo>
                      <a:pt x="33775" y="9410"/>
                      <a:pt x="33758" y="9428"/>
                      <a:pt x="33758" y="9455"/>
                    </a:cubicBezTo>
                    <a:cubicBezTo>
                      <a:pt x="33758" y="9464"/>
                      <a:pt x="33767" y="9473"/>
                      <a:pt x="33767" y="9482"/>
                    </a:cubicBezTo>
                    <a:cubicBezTo>
                      <a:pt x="33909" y="9749"/>
                      <a:pt x="34052" y="10017"/>
                      <a:pt x="34177" y="10276"/>
                    </a:cubicBezTo>
                    <a:lnTo>
                      <a:pt x="34186" y="10293"/>
                    </a:lnTo>
                    <a:cubicBezTo>
                      <a:pt x="34195" y="10302"/>
                      <a:pt x="34213" y="10311"/>
                      <a:pt x="34239" y="10311"/>
                    </a:cubicBezTo>
                    <a:lnTo>
                      <a:pt x="34266" y="10311"/>
                    </a:lnTo>
                    <a:cubicBezTo>
                      <a:pt x="34284" y="10302"/>
                      <a:pt x="34302" y="10276"/>
                      <a:pt x="34302" y="10249"/>
                    </a:cubicBezTo>
                    <a:cubicBezTo>
                      <a:pt x="34302" y="10240"/>
                      <a:pt x="34293" y="10231"/>
                      <a:pt x="34293" y="10222"/>
                    </a:cubicBezTo>
                    <a:cubicBezTo>
                      <a:pt x="34159" y="9954"/>
                      <a:pt x="34025" y="9687"/>
                      <a:pt x="33882" y="9419"/>
                    </a:cubicBezTo>
                    <a:cubicBezTo>
                      <a:pt x="33869" y="9399"/>
                      <a:pt x="33846" y="9389"/>
                      <a:pt x="33820" y="9389"/>
                    </a:cubicBezTo>
                    <a:close/>
                    <a:moveTo>
                      <a:pt x="1489" y="10956"/>
                    </a:moveTo>
                    <a:cubicBezTo>
                      <a:pt x="1463" y="10956"/>
                      <a:pt x="1441" y="10972"/>
                      <a:pt x="1428" y="10998"/>
                    </a:cubicBezTo>
                    <a:cubicBezTo>
                      <a:pt x="1312" y="11266"/>
                      <a:pt x="1205" y="11551"/>
                      <a:pt x="1098" y="11828"/>
                    </a:cubicBezTo>
                    <a:cubicBezTo>
                      <a:pt x="1098" y="11837"/>
                      <a:pt x="1098" y="11846"/>
                      <a:pt x="1098" y="11855"/>
                    </a:cubicBezTo>
                    <a:cubicBezTo>
                      <a:pt x="1098" y="11881"/>
                      <a:pt x="1115" y="11908"/>
                      <a:pt x="1133" y="11917"/>
                    </a:cubicBezTo>
                    <a:lnTo>
                      <a:pt x="1160" y="11917"/>
                    </a:lnTo>
                    <a:cubicBezTo>
                      <a:pt x="1187" y="11917"/>
                      <a:pt x="1214" y="11899"/>
                      <a:pt x="1223" y="11872"/>
                    </a:cubicBezTo>
                    <a:cubicBezTo>
                      <a:pt x="1321" y="11596"/>
                      <a:pt x="1428" y="11319"/>
                      <a:pt x="1544" y="11052"/>
                    </a:cubicBezTo>
                    <a:lnTo>
                      <a:pt x="1544" y="11043"/>
                    </a:lnTo>
                    <a:cubicBezTo>
                      <a:pt x="1553" y="11043"/>
                      <a:pt x="1553" y="11034"/>
                      <a:pt x="1553" y="11025"/>
                    </a:cubicBezTo>
                    <a:cubicBezTo>
                      <a:pt x="1553" y="10998"/>
                      <a:pt x="1535" y="10971"/>
                      <a:pt x="1517" y="10963"/>
                    </a:cubicBezTo>
                    <a:cubicBezTo>
                      <a:pt x="1507" y="10958"/>
                      <a:pt x="1498" y="10956"/>
                      <a:pt x="1489" y="10956"/>
                    </a:cubicBezTo>
                    <a:close/>
                    <a:moveTo>
                      <a:pt x="34597" y="11005"/>
                    </a:moveTo>
                    <a:cubicBezTo>
                      <a:pt x="34591" y="11005"/>
                      <a:pt x="34585" y="11006"/>
                      <a:pt x="34578" y="11007"/>
                    </a:cubicBezTo>
                    <a:cubicBezTo>
                      <a:pt x="34552" y="11016"/>
                      <a:pt x="34543" y="11043"/>
                      <a:pt x="34543" y="11070"/>
                    </a:cubicBezTo>
                    <a:cubicBezTo>
                      <a:pt x="34543" y="11078"/>
                      <a:pt x="34543" y="11087"/>
                      <a:pt x="34543" y="11096"/>
                    </a:cubicBezTo>
                    <a:cubicBezTo>
                      <a:pt x="34659" y="11364"/>
                      <a:pt x="34766" y="11649"/>
                      <a:pt x="34873" y="11926"/>
                    </a:cubicBezTo>
                    <a:cubicBezTo>
                      <a:pt x="34882" y="11953"/>
                      <a:pt x="34908" y="11971"/>
                      <a:pt x="34935" y="11971"/>
                    </a:cubicBezTo>
                    <a:cubicBezTo>
                      <a:pt x="34935" y="11971"/>
                      <a:pt x="34944" y="11971"/>
                      <a:pt x="34953" y="11962"/>
                    </a:cubicBezTo>
                    <a:cubicBezTo>
                      <a:pt x="34980" y="11953"/>
                      <a:pt x="34998" y="11935"/>
                      <a:pt x="34998" y="11908"/>
                    </a:cubicBezTo>
                    <a:cubicBezTo>
                      <a:pt x="34998" y="11899"/>
                      <a:pt x="34998" y="11890"/>
                      <a:pt x="34989" y="11881"/>
                    </a:cubicBezTo>
                    <a:cubicBezTo>
                      <a:pt x="34891" y="11605"/>
                      <a:pt x="34775" y="11319"/>
                      <a:pt x="34659" y="11043"/>
                    </a:cubicBezTo>
                    <a:cubicBezTo>
                      <a:pt x="34651" y="11021"/>
                      <a:pt x="34626" y="11005"/>
                      <a:pt x="34597" y="11005"/>
                    </a:cubicBezTo>
                    <a:close/>
                    <a:moveTo>
                      <a:pt x="874" y="12637"/>
                    </a:moveTo>
                    <a:cubicBezTo>
                      <a:pt x="845" y="12637"/>
                      <a:pt x="820" y="12655"/>
                      <a:pt x="812" y="12684"/>
                    </a:cubicBezTo>
                    <a:cubicBezTo>
                      <a:pt x="723" y="12970"/>
                      <a:pt x="643" y="13255"/>
                      <a:pt x="571" y="13550"/>
                    </a:cubicBezTo>
                    <a:lnTo>
                      <a:pt x="562" y="13550"/>
                    </a:lnTo>
                    <a:cubicBezTo>
                      <a:pt x="562" y="13550"/>
                      <a:pt x="562" y="13559"/>
                      <a:pt x="562" y="13559"/>
                    </a:cubicBezTo>
                    <a:cubicBezTo>
                      <a:pt x="562" y="13594"/>
                      <a:pt x="580" y="13621"/>
                      <a:pt x="616" y="13621"/>
                    </a:cubicBezTo>
                    <a:cubicBezTo>
                      <a:pt x="616" y="13630"/>
                      <a:pt x="625" y="13630"/>
                      <a:pt x="625" y="13630"/>
                    </a:cubicBezTo>
                    <a:cubicBezTo>
                      <a:pt x="661" y="13630"/>
                      <a:pt x="687" y="13603"/>
                      <a:pt x="687" y="13576"/>
                    </a:cubicBezTo>
                    <a:cubicBezTo>
                      <a:pt x="768" y="13291"/>
                      <a:pt x="848" y="13005"/>
                      <a:pt x="937" y="12720"/>
                    </a:cubicBezTo>
                    <a:cubicBezTo>
                      <a:pt x="937" y="12711"/>
                      <a:pt x="937" y="12711"/>
                      <a:pt x="937" y="12702"/>
                    </a:cubicBezTo>
                    <a:cubicBezTo>
                      <a:pt x="937" y="12675"/>
                      <a:pt x="919" y="12649"/>
                      <a:pt x="892" y="12640"/>
                    </a:cubicBezTo>
                    <a:cubicBezTo>
                      <a:pt x="886" y="12638"/>
                      <a:pt x="880" y="12637"/>
                      <a:pt x="874" y="12637"/>
                    </a:cubicBezTo>
                    <a:close/>
                    <a:moveTo>
                      <a:pt x="35212" y="12691"/>
                    </a:moveTo>
                    <a:cubicBezTo>
                      <a:pt x="35206" y="12691"/>
                      <a:pt x="35200" y="12692"/>
                      <a:pt x="35194" y="12693"/>
                    </a:cubicBezTo>
                    <a:cubicBezTo>
                      <a:pt x="35167" y="12702"/>
                      <a:pt x="35149" y="12729"/>
                      <a:pt x="35149" y="12756"/>
                    </a:cubicBezTo>
                    <a:cubicBezTo>
                      <a:pt x="35149" y="12765"/>
                      <a:pt x="35149" y="12765"/>
                      <a:pt x="35158" y="12773"/>
                    </a:cubicBezTo>
                    <a:cubicBezTo>
                      <a:pt x="35238" y="13059"/>
                      <a:pt x="35319" y="13344"/>
                      <a:pt x="35390" y="13639"/>
                    </a:cubicBezTo>
                    <a:cubicBezTo>
                      <a:pt x="35399" y="13666"/>
                      <a:pt x="35426" y="13683"/>
                      <a:pt x="35453" y="13683"/>
                    </a:cubicBezTo>
                    <a:lnTo>
                      <a:pt x="35470" y="13683"/>
                    </a:lnTo>
                    <a:cubicBezTo>
                      <a:pt x="35497" y="13675"/>
                      <a:pt x="35524" y="13648"/>
                      <a:pt x="35524" y="13621"/>
                    </a:cubicBezTo>
                    <a:cubicBezTo>
                      <a:pt x="35524" y="13612"/>
                      <a:pt x="35524" y="13612"/>
                      <a:pt x="35515" y="13603"/>
                    </a:cubicBezTo>
                    <a:cubicBezTo>
                      <a:pt x="35444" y="13318"/>
                      <a:pt x="35363" y="13023"/>
                      <a:pt x="35274" y="12738"/>
                    </a:cubicBezTo>
                    <a:cubicBezTo>
                      <a:pt x="35267" y="12708"/>
                      <a:pt x="35241" y="12691"/>
                      <a:pt x="35212" y="12691"/>
                    </a:cubicBezTo>
                    <a:close/>
                    <a:moveTo>
                      <a:pt x="427" y="14369"/>
                    </a:moveTo>
                    <a:cubicBezTo>
                      <a:pt x="402" y="14369"/>
                      <a:pt x="374" y="14393"/>
                      <a:pt x="366" y="14424"/>
                    </a:cubicBezTo>
                    <a:cubicBezTo>
                      <a:pt x="304" y="14718"/>
                      <a:pt x="250" y="15013"/>
                      <a:pt x="206" y="15307"/>
                    </a:cubicBezTo>
                    <a:cubicBezTo>
                      <a:pt x="206" y="15307"/>
                      <a:pt x="206" y="15316"/>
                      <a:pt x="206" y="15316"/>
                    </a:cubicBezTo>
                    <a:cubicBezTo>
                      <a:pt x="206" y="15352"/>
                      <a:pt x="232" y="15378"/>
                      <a:pt x="259" y="15378"/>
                    </a:cubicBezTo>
                    <a:lnTo>
                      <a:pt x="268" y="15378"/>
                    </a:lnTo>
                    <a:cubicBezTo>
                      <a:pt x="304" y="15378"/>
                      <a:pt x="330" y="15361"/>
                      <a:pt x="339" y="15325"/>
                    </a:cubicBezTo>
                    <a:cubicBezTo>
                      <a:pt x="384" y="15030"/>
                      <a:pt x="429" y="14736"/>
                      <a:pt x="491" y="14451"/>
                    </a:cubicBezTo>
                    <a:cubicBezTo>
                      <a:pt x="491" y="14442"/>
                      <a:pt x="491" y="14442"/>
                      <a:pt x="491" y="14433"/>
                    </a:cubicBezTo>
                    <a:cubicBezTo>
                      <a:pt x="491" y="14406"/>
                      <a:pt x="473" y="14379"/>
                      <a:pt x="437" y="14370"/>
                    </a:cubicBezTo>
                    <a:cubicBezTo>
                      <a:pt x="434" y="14369"/>
                      <a:pt x="430" y="14369"/>
                      <a:pt x="427" y="14369"/>
                    </a:cubicBezTo>
                    <a:close/>
                    <a:moveTo>
                      <a:pt x="35658" y="14431"/>
                    </a:moveTo>
                    <a:cubicBezTo>
                      <a:pt x="35652" y="14431"/>
                      <a:pt x="35646" y="14431"/>
                      <a:pt x="35640" y="14433"/>
                    </a:cubicBezTo>
                    <a:cubicBezTo>
                      <a:pt x="35613" y="14433"/>
                      <a:pt x="35586" y="14460"/>
                      <a:pt x="35586" y="14495"/>
                    </a:cubicBezTo>
                    <a:cubicBezTo>
                      <a:pt x="35586" y="14495"/>
                      <a:pt x="35586" y="14495"/>
                      <a:pt x="35586" y="14504"/>
                    </a:cubicBezTo>
                    <a:lnTo>
                      <a:pt x="35595" y="14504"/>
                    </a:lnTo>
                    <a:cubicBezTo>
                      <a:pt x="35595" y="14504"/>
                      <a:pt x="35595" y="14504"/>
                      <a:pt x="35595" y="14513"/>
                    </a:cubicBezTo>
                    <a:cubicBezTo>
                      <a:pt x="35649" y="14799"/>
                      <a:pt x="35702" y="15093"/>
                      <a:pt x="35747" y="15387"/>
                    </a:cubicBezTo>
                    <a:cubicBezTo>
                      <a:pt x="35747" y="15414"/>
                      <a:pt x="35774" y="15441"/>
                      <a:pt x="35809" y="15441"/>
                    </a:cubicBezTo>
                    <a:lnTo>
                      <a:pt x="35818" y="15441"/>
                    </a:lnTo>
                    <a:cubicBezTo>
                      <a:pt x="35845" y="15432"/>
                      <a:pt x="35872" y="15405"/>
                      <a:pt x="35872" y="15378"/>
                    </a:cubicBezTo>
                    <a:cubicBezTo>
                      <a:pt x="35872" y="15369"/>
                      <a:pt x="35872" y="15369"/>
                      <a:pt x="35872" y="15369"/>
                    </a:cubicBezTo>
                    <a:cubicBezTo>
                      <a:pt x="35827" y="15075"/>
                      <a:pt x="35774" y="14772"/>
                      <a:pt x="35720" y="14486"/>
                    </a:cubicBezTo>
                    <a:cubicBezTo>
                      <a:pt x="35720" y="14486"/>
                      <a:pt x="35720" y="14477"/>
                      <a:pt x="35720" y="14477"/>
                    </a:cubicBezTo>
                    <a:cubicBezTo>
                      <a:pt x="35713" y="14448"/>
                      <a:pt x="35687" y="14431"/>
                      <a:pt x="35658" y="14431"/>
                    </a:cubicBezTo>
                    <a:close/>
                    <a:moveTo>
                      <a:pt x="156" y="16144"/>
                    </a:moveTo>
                    <a:cubicBezTo>
                      <a:pt x="125" y="16144"/>
                      <a:pt x="98" y="16168"/>
                      <a:pt x="98" y="16199"/>
                    </a:cubicBezTo>
                    <a:cubicBezTo>
                      <a:pt x="63" y="16494"/>
                      <a:pt x="45" y="16797"/>
                      <a:pt x="27" y="17100"/>
                    </a:cubicBezTo>
                    <a:cubicBezTo>
                      <a:pt x="27" y="17136"/>
                      <a:pt x="54" y="17163"/>
                      <a:pt x="90" y="17163"/>
                    </a:cubicBezTo>
                    <a:cubicBezTo>
                      <a:pt x="125" y="17163"/>
                      <a:pt x="152" y="17136"/>
                      <a:pt x="161" y="17100"/>
                    </a:cubicBezTo>
                    <a:cubicBezTo>
                      <a:pt x="170" y="16806"/>
                      <a:pt x="197" y="16502"/>
                      <a:pt x="223" y="16208"/>
                    </a:cubicBezTo>
                    <a:cubicBezTo>
                      <a:pt x="223" y="16172"/>
                      <a:pt x="197" y="16146"/>
                      <a:pt x="170" y="16146"/>
                    </a:cubicBezTo>
                    <a:cubicBezTo>
                      <a:pt x="165" y="16144"/>
                      <a:pt x="160" y="16144"/>
                      <a:pt x="156" y="16144"/>
                    </a:cubicBezTo>
                    <a:close/>
                    <a:moveTo>
                      <a:pt x="35908" y="16199"/>
                    </a:moveTo>
                    <a:cubicBezTo>
                      <a:pt x="35881" y="16199"/>
                      <a:pt x="35854" y="16235"/>
                      <a:pt x="35854" y="16262"/>
                    </a:cubicBezTo>
                    <a:lnTo>
                      <a:pt x="35854" y="16271"/>
                    </a:lnTo>
                    <a:cubicBezTo>
                      <a:pt x="35881" y="16565"/>
                      <a:pt x="35908" y="16859"/>
                      <a:pt x="35916" y="17163"/>
                    </a:cubicBezTo>
                    <a:cubicBezTo>
                      <a:pt x="35916" y="17198"/>
                      <a:pt x="35943" y="17225"/>
                      <a:pt x="35979" y="17225"/>
                    </a:cubicBezTo>
                    <a:lnTo>
                      <a:pt x="35988" y="17225"/>
                    </a:lnTo>
                    <a:cubicBezTo>
                      <a:pt x="36024" y="17216"/>
                      <a:pt x="36050" y="17189"/>
                      <a:pt x="36050" y="17154"/>
                    </a:cubicBezTo>
                    <a:cubicBezTo>
                      <a:pt x="36032" y="16850"/>
                      <a:pt x="36006" y="16556"/>
                      <a:pt x="35979" y="16262"/>
                    </a:cubicBezTo>
                    <a:cubicBezTo>
                      <a:pt x="35979" y="16226"/>
                      <a:pt x="35943" y="16199"/>
                      <a:pt x="35908" y="16199"/>
                    </a:cubicBezTo>
                    <a:close/>
                    <a:moveTo>
                      <a:pt x="72" y="17930"/>
                    </a:moveTo>
                    <a:cubicBezTo>
                      <a:pt x="36" y="17930"/>
                      <a:pt x="0" y="17957"/>
                      <a:pt x="0" y="17992"/>
                    </a:cubicBezTo>
                    <a:lnTo>
                      <a:pt x="0" y="18037"/>
                    </a:lnTo>
                    <a:cubicBezTo>
                      <a:pt x="0" y="18331"/>
                      <a:pt x="9" y="18635"/>
                      <a:pt x="27" y="18929"/>
                    </a:cubicBezTo>
                    <a:cubicBezTo>
                      <a:pt x="27" y="18965"/>
                      <a:pt x="54" y="18991"/>
                      <a:pt x="90" y="18991"/>
                    </a:cubicBezTo>
                    <a:cubicBezTo>
                      <a:pt x="125" y="18991"/>
                      <a:pt x="152" y="18965"/>
                      <a:pt x="152" y="18929"/>
                    </a:cubicBezTo>
                    <a:cubicBezTo>
                      <a:pt x="143" y="18626"/>
                      <a:pt x="134" y="18331"/>
                      <a:pt x="134" y="18037"/>
                    </a:cubicBezTo>
                    <a:lnTo>
                      <a:pt x="134" y="18010"/>
                    </a:lnTo>
                    <a:lnTo>
                      <a:pt x="134" y="17992"/>
                    </a:lnTo>
                    <a:cubicBezTo>
                      <a:pt x="134" y="17974"/>
                      <a:pt x="125" y="17957"/>
                      <a:pt x="116" y="17948"/>
                    </a:cubicBezTo>
                    <a:cubicBezTo>
                      <a:pt x="98" y="17939"/>
                      <a:pt x="90" y="17930"/>
                      <a:pt x="72" y="17930"/>
                    </a:cubicBezTo>
                    <a:close/>
                    <a:moveTo>
                      <a:pt x="36006" y="17992"/>
                    </a:moveTo>
                    <a:cubicBezTo>
                      <a:pt x="35970" y="17992"/>
                      <a:pt x="35934" y="18019"/>
                      <a:pt x="35934" y="18055"/>
                    </a:cubicBezTo>
                    <a:cubicBezTo>
                      <a:pt x="35934" y="18349"/>
                      <a:pt x="35934" y="18643"/>
                      <a:pt x="35916" y="18947"/>
                    </a:cubicBezTo>
                    <a:cubicBezTo>
                      <a:pt x="35916" y="18982"/>
                      <a:pt x="35943" y="19009"/>
                      <a:pt x="35979" y="19009"/>
                    </a:cubicBezTo>
                    <a:cubicBezTo>
                      <a:pt x="36015" y="19009"/>
                      <a:pt x="36041" y="18982"/>
                      <a:pt x="36041" y="18947"/>
                    </a:cubicBezTo>
                    <a:cubicBezTo>
                      <a:pt x="36059" y="18652"/>
                      <a:pt x="36068" y="18349"/>
                      <a:pt x="36068" y="18055"/>
                    </a:cubicBezTo>
                    <a:cubicBezTo>
                      <a:pt x="36068" y="18037"/>
                      <a:pt x="36059" y="18019"/>
                      <a:pt x="36050" y="18010"/>
                    </a:cubicBezTo>
                    <a:cubicBezTo>
                      <a:pt x="36032" y="17992"/>
                      <a:pt x="36024" y="17992"/>
                      <a:pt x="36006" y="17992"/>
                    </a:cubicBezTo>
                    <a:close/>
                    <a:moveTo>
                      <a:pt x="152" y="19759"/>
                    </a:moveTo>
                    <a:cubicBezTo>
                      <a:pt x="116" y="19759"/>
                      <a:pt x="90" y="19785"/>
                      <a:pt x="90" y="19821"/>
                    </a:cubicBezTo>
                    <a:cubicBezTo>
                      <a:pt x="90" y="19821"/>
                      <a:pt x="90" y="19830"/>
                      <a:pt x="90" y="19830"/>
                    </a:cubicBezTo>
                    <a:cubicBezTo>
                      <a:pt x="125" y="20124"/>
                      <a:pt x="161" y="20428"/>
                      <a:pt x="206" y="20722"/>
                    </a:cubicBezTo>
                    <a:cubicBezTo>
                      <a:pt x="206" y="20749"/>
                      <a:pt x="232" y="20776"/>
                      <a:pt x="268" y="20776"/>
                    </a:cubicBezTo>
                    <a:lnTo>
                      <a:pt x="277" y="20776"/>
                    </a:lnTo>
                    <a:cubicBezTo>
                      <a:pt x="304" y="20767"/>
                      <a:pt x="330" y="20740"/>
                      <a:pt x="330" y="20713"/>
                    </a:cubicBezTo>
                    <a:cubicBezTo>
                      <a:pt x="330" y="20704"/>
                      <a:pt x="330" y="20704"/>
                      <a:pt x="330" y="20704"/>
                    </a:cubicBezTo>
                    <a:cubicBezTo>
                      <a:pt x="286" y="20410"/>
                      <a:pt x="250" y="20115"/>
                      <a:pt x="223" y="19812"/>
                    </a:cubicBezTo>
                    <a:cubicBezTo>
                      <a:pt x="214" y="19776"/>
                      <a:pt x="188" y="19759"/>
                      <a:pt x="152" y="19759"/>
                    </a:cubicBezTo>
                    <a:close/>
                    <a:moveTo>
                      <a:pt x="35916" y="19776"/>
                    </a:moveTo>
                    <a:cubicBezTo>
                      <a:pt x="35881" y="19776"/>
                      <a:pt x="35854" y="19803"/>
                      <a:pt x="35845" y="19839"/>
                    </a:cubicBezTo>
                    <a:cubicBezTo>
                      <a:pt x="35818" y="20124"/>
                      <a:pt x="35783" y="20428"/>
                      <a:pt x="35738" y="20722"/>
                    </a:cubicBezTo>
                    <a:cubicBezTo>
                      <a:pt x="35738" y="20722"/>
                      <a:pt x="35738" y="20722"/>
                      <a:pt x="35738" y="20731"/>
                    </a:cubicBezTo>
                    <a:cubicBezTo>
                      <a:pt x="35738" y="20758"/>
                      <a:pt x="35765" y="20785"/>
                      <a:pt x="35792" y="20793"/>
                    </a:cubicBezTo>
                    <a:lnTo>
                      <a:pt x="35800" y="20793"/>
                    </a:lnTo>
                    <a:cubicBezTo>
                      <a:pt x="35836" y="20793"/>
                      <a:pt x="35863" y="20767"/>
                      <a:pt x="35863" y="20740"/>
                    </a:cubicBezTo>
                    <a:cubicBezTo>
                      <a:pt x="35908" y="20446"/>
                      <a:pt x="35952" y="20142"/>
                      <a:pt x="35979" y="19848"/>
                    </a:cubicBezTo>
                    <a:cubicBezTo>
                      <a:pt x="35979" y="19848"/>
                      <a:pt x="35979" y="19839"/>
                      <a:pt x="35979" y="19839"/>
                    </a:cubicBezTo>
                    <a:cubicBezTo>
                      <a:pt x="35979" y="19803"/>
                      <a:pt x="35952" y="19776"/>
                      <a:pt x="35916" y="19776"/>
                    </a:cubicBezTo>
                    <a:close/>
                    <a:moveTo>
                      <a:pt x="428" y="21532"/>
                    </a:moveTo>
                    <a:cubicBezTo>
                      <a:pt x="423" y="21532"/>
                      <a:pt x="417" y="21532"/>
                      <a:pt x="411" y="21534"/>
                    </a:cubicBezTo>
                    <a:cubicBezTo>
                      <a:pt x="375" y="21534"/>
                      <a:pt x="357" y="21561"/>
                      <a:pt x="357" y="21596"/>
                    </a:cubicBezTo>
                    <a:cubicBezTo>
                      <a:pt x="357" y="21596"/>
                      <a:pt x="357" y="21605"/>
                      <a:pt x="357" y="21605"/>
                    </a:cubicBezTo>
                    <a:cubicBezTo>
                      <a:pt x="420" y="21900"/>
                      <a:pt x="482" y="22194"/>
                      <a:pt x="553" y="22480"/>
                    </a:cubicBezTo>
                    <a:cubicBezTo>
                      <a:pt x="562" y="22506"/>
                      <a:pt x="589" y="22533"/>
                      <a:pt x="616" y="22533"/>
                    </a:cubicBezTo>
                    <a:cubicBezTo>
                      <a:pt x="625" y="22533"/>
                      <a:pt x="634" y="22533"/>
                      <a:pt x="634" y="22524"/>
                    </a:cubicBezTo>
                    <a:cubicBezTo>
                      <a:pt x="661" y="22524"/>
                      <a:pt x="687" y="22497"/>
                      <a:pt x="687" y="22462"/>
                    </a:cubicBezTo>
                    <a:cubicBezTo>
                      <a:pt x="687" y="22462"/>
                      <a:pt x="678" y="22453"/>
                      <a:pt x="678" y="22453"/>
                    </a:cubicBezTo>
                    <a:cubicBezTo>
                      <a:pt x="607" y="22167"/>
                      <a:pt x="545" y="21873"/>
                      <a:pt x="482" y="21587"/>
                    </a:cubicBezTo>
                    <a:lnTo>
                      <a:pt x="482" y="21579"/>
                    </a:lnTo>
                    <a:cubicBezTo>
                      <a:pt x="475" y="21549"/>
                      <a:pt x="455" y="21532"/>
                      <a:pt x="428" y="21532"/>
                    </a:cubicBezTo>
                    <a:close/>
                    <a:moveTo>
                      <a:pt x="35640" y="21549"/>
                    </a:moveTo>
                    <a:cubicBezTo>
                      <a:pt x="35611" y="21549"/>
                      <a:pt x="35586" y="21567"/>
                      <a:pt x="35586" y="21596"/>
                    </a:cubicBezTo>
                    <a:cubicBezTo>
                      <a:pt x="35524" y="21891"/>
                      <a:pt x="35461" y="22176"/>
                      <a:pt x="35381" y="22471"/>
                    </a:cubicBezTo>
                    <a:cubicBezTo>
                      <a:pt x="35381" y="22471"/>
                      <a:pt x="35381" y="22480"/>
                      <a:pt x="35381" y="22488"/>
                    </a:cubicBezTo>
                    <a:cubicBezTo>
                      <a:pt x="35381" y="22515"/>
                      <a:pt x="35399" y="22542"/>
                      <a:pt x="35435" y="22551"/>
                    </a:cubicBezTo>
                    <a:lnTo>
                      <a:pt x="35444" y="22551"/>
                    </a:lnTo>
                    <a:cubicBezTo>
                      <a:pt x="35479" y="22551"/>
                      <a:pt x="35506" y="22533"/>
                      <a:pt x="35506" y="22497"/>
                    </a:cubicBezTo>
                    <a:cubicBezTo>
                      <a:pt x="35586" y="22212"/>
                      <a:pt x="35649" y="21918"/>
                      <a:pt x="35711" y="21623"/>
                    </a:cubicBezTo>
                    <a:cubicBezTo>
                      <a:pt x="35711" y="21623"/>
                      <a:pt x="35711" y="21614"/>
                      <a:pt x="35711" y="21614"/>
                    </a:cubicBezTo>
                    <a:cubicBezTo>
                      <a:pt x="35711" y="21579"/>
                      <a:pt x="35693" y="21552"/>
                      <a:pt x="35658" y="21552"/>
                    </a:cubicBezTo>
                    <a:cubicBezTo>
                      <a:pt x="35652" y="21550"/>
                      <a:pt x="35646" y="21549"/>
                      <a:pt x="35640" y="21549"/>
                    </a:cubicBezTo>
                    <a:close/>
                    <a:moveTo>
                      <a:pt x="857" y="23262"/>
                    </a:moveTo>
                    <a:cubicBezTo>
                      <a:pt x="851" y="23262"/>
                      <a:pt x="845" y="23263"/>
                      <a:pt x="839" y="23265"/>
                    </a:cubicBezTo>
                    <a:cubicBezTo>
                      <a:pt x="812" y="23273"/>
                      <a:pt x="794" y="23300"/>
                      <a:pt x="794" y="23327"/>
                    </a:cubicBezTo>
                    <a:cubicBezTo>
                      <a:pt x="794" y="23336"/>
                      <a:pt x="794" y="23345"/>
                      <a:pt x="803" y="23345"/>
                    </a:cubicBezTo>
                    <a:cubicBezTo>
                      <a:pt x="884" y="23630"/>
                      <a:pt x="982" y="23916"/>
                      <a:pt x="1089" y="24201"/>
                    </a:cubicBezTo>
                    <a:cubicBezTo>
                      <a:pt x="1098" y="24228"/>
                      <a:pt x="1124" y="24246"/>
                      <a:pt x="1151" y="24246"/>
                    </a:cubicBezTo>
                    <a:cubicBezTo>
                      <a:pt x="1151" y="24246"/>
                      <a:pt x="1160" y="24246"/>
                      <a:pt x="1169" y="24237"/>
                    </a:cubicBezTo>
                    <a:cubicBezTo>
                      <a:pt x="1196" y="24228"/>
                      <a:pt x="1214" y="24210"/>
                      <a:pt x="1214" y="24183"/>
                    </a:cubicBezTo>
                    <a:cubicBezTo>
                      <a:pt x="1214" y="24175"/>
                      <a:pt x="1214" y="24166"/>
                      <a:pt x="1205" y="24157"/>
                    </a:cubicBezTo>
                    <a:cubicBezTo>
                      <a:pt x="1107" y="23880"/>
                      <a:pt x="1008" y="23595"/>
                      <a:pt x="928" y="23309"/>
                    </a:cubicBezTo>
                    <a:lnTo>
                      <a:pt x="919" y="23309"/>
                    </a:lnTo>
                    <a:cubicBezTo>
                      <a:pt x="912" y="23280"/>
                      <a:pt x="886" y="23262"/>
                      <a:pt x="857" y="23262"/>
                    </a:cubicBezTo>
                    <a:close/>
                    <a:moveTo>
                      <a:pt x="35206" y="23280"/>
                    </a:moveTo>
                    <a:cubicBezTo>
                      <a:pt x="35180" y="23280"/>
                      <a:pt x="35148" y="23297"/>
                      <a:pt x="35140" y="23327"/>
                    </a:cubicBezTo>
                    <a:cubicBezTo>
                      <a:pt x="35060" y="23612"/>
                      <a:pt x="34962" y="23889"/>
                      <a:pt x="34855" y="24175"/>
                    </a:cubicBezTo>
                    <a:cubicBezTo>
                      <a:pt x="34855" y="24183"/>
                      <a:pt x="34855" y="24192"/>
                      <a:pt x="34855" y="24192"/>
                    </a:cubicBezTo>
                    <a:cubicBezTo>
                      <a:pt x="34855" y="24219"/>
                      <a:pt x="34873" y="24246"/>
                      <a:pt x="34899" y="24255"/>
                    </a:cubicBezTo>
                    <a:cubicBezTo>
                      <a:pt x="34899" y="24255"/>
                      <a:pt x="34908" y="24264"/>
                      <a:pt x="34917" y="24264"/>
                    </a:cubicBezTo>
                    <a:cubicBezTo>
                      <a:pt x="34944" y="24264"/>
                      <a:pt x="34971" y="24246"/>
                      <a:pt x="34980" y="24219"/>
                    </a:cubicBezTo>
                    <a:cubicBezTo>
                      <a:pt x="34980" y="24219"/>
                      <a:pt x="34980" y="24219"/>
                      <a:pt x="34980" y="24210"/>
                    </a:cubicBezTo>
                    <a:cubicBezTo>
                      <a:pt x="35078" y="23934"/>
                      <a:pt x="35176" y="23648"/>
                      <a:pt x="35265" y="23363"/>
                    </a:cubicBezTo>
                    <a:cubicBezTo>
                      <a:pt x="35265" y="23363"/>
                      <a:pt x="35265" y="23354"/>
                      <a:pt x="35265" y="23345"/>
                    </a:cubicBezTo>
                    <a:cubicBezTo>
                      <a:pt x="35265" y="23318"/>
                      <a:pt x="35247" y="23291"/>
                      <a:pt x="35221" y="23282"/>
                    </a:cubicBezTo>
                    <a:cubicBezTo>
                      <a:pt x="35216" y="23281"/>
                      <a:pt x="35211" y="23280"/>
                      <a:pt x="35206" y="23280"/>
                    </a:cubicBezTo>
                    <a:close/>
                    <a:moveTo>
                      <a:pt x="1478" y="24952"/>
                    </a:moveTo>
                    <a:cubicBezTo>
                      <a:pt x="1470" y="24952"/>
                      <a:pt x="1462" y="24955"/>
                      <a:pt x="1454" y="24960"/>
                    </a:cubicBezTo>
                    <a:cubicBezTo>
                      <a:pt x="1428" y="24968"/>
                      <a:pt x="1410" y="24986"/>
                      <a:pt x="1410" y="25013"/>
                    </a:cubicBezTo>
                    <a:cubicBezTo>
                      <a:pt x="1410" y="25022"/>
                      <a:pt x="1410" y="25031"/>
                      <a:pt x="1419" y="25040"/>
                    </a:cubicBezTo>
                    <a:cubicBezTo>
                      <a:pt x="1535" y="25316"/>
                      <a:pt x="1660" y="25593"/>
                      <a:pt x="1785" y="25861"/>
                    </a:cubicBezTo>
                    <a:cubicBezTo>
                      <a:pt x="1793" y="25878"/>
                      <a:pt x="1820" y="25896"/>
                      <a:pt x="1847" y="25896"/>
                    </a:cubicBezTo>
                    <a:cubicBezTo>
                      <a:pt x="1856" y="25896"/>
                      <a:pt x="1865" y="25896"/>
                      <a:pt x="1874" y="25887"/>
                    </a:cubicBezTo>
                    <a:cubicBezTo>
                      <a:pt x="1892" y="25878"/>
                      <a:pt x="1909" y="25861"/>
                      <a:pt x="1909" y="25834"/>
                    </a:cubicBezTo>
                    <a:cubicBezTo>
                      <a:pt x="1909" y="25825"/>
                      <a:pt x="1909" y="25816"/>
                      <a:pt x="1901" y="25807"/>
                    </a:cubicBezTo>
                    <a:cubicBezTo>
                      <a:pt x="1776" y="25531"/>
                      <a:pt x="1651" y="25263"/>
                      <a:pt x="1535" y="24986"/>
                    </a:cubicBezTo>
                    <a:cubicBezTo>
                      <a:pt x="1522" y="24967"/>
                      <a:pt x="1500" y="24952"/>
                      <a:pt x="1478" y="24952"/>
                    </a:cubicBezTo>
                    <a:close/>
                    <a:moveTo>
                      <a:pt x="34590" y="24961"/>
                    </a:moveTo>
                    <a:cubicBezTo>
                      <a:pt x="34566" y="24961"/>
                      <a:pt x="34540" y="24978"/>
                      <a:pt x="34534" y="25004"/>
                    </a:cubicBezTo>
                    <a:cubicBezTo>
                      <a:pt x="34418" y="25272"/>
                      <a:pt x="34293" y="25548"/>
                      <a:pt x="34168" y="25816"/>
                    </a:cubicBezTo>
                    <a:cubicBezTo>
                      <a:pt x="34159" y="25825"/>
                      <a:pt x="34159" y="25834"/>
                      <a:pt x="34159" y="25843"/>
                    </a:cubicBezTo>
                    <a:cubicBezTo>
                      <a:pt x="34159" y="25870"/>
                      <a:pt x="34168" y="25887"/>
                      <a:pt x="34195" y="25896"/>
                    </a:cubicBezTo>
                    <a:cubicBezTo>
                      <a:pt x="34204" y="25905"/>
                      <a:pt x="34213" y="25905"/>
                      <a:pt x="34221" y="25905"/>
                    </a:cubicBezTo>
                    <a:cubicBezTo>
                      <a:pt x="34248" y="25905"/>
                      <a:pt x="34266" y="25887"/>
                      <a:pt x="34284" y="25870"/>
                    </a:cubicBezTo>
                    <a:cubicBezTo>
                      <a:pt x="34409" y="25602"/>
                      <a:pt x="34534" y="25325"/>
                      <a:pt x="34650" y="25049"/>
                    </a:cubicBezTo>
                    <a:cubicBezTo>
                      <a:pt x="34650" y="25040"/>
                      <a:pt x="34659" y="25040"/>
                      <a:pt x="34659" y="25031"/>
                    </a:cubicBezTo>
                    <a:cubicBezTo>
                      <a:pt x="34659" y="25004"/>
                      <a:pt x="34641" y="24977"/>
                      <a:pt x="34614" y="24968"/>
                    </a:cubicBezTo>
                    <a:cubicBezTo>
                      <a:pt x="34607" y="24964"/>
                      <a:pt x="34598" y="24961"/>
                      <a:pt x="34590" y="24961"/>
                    </a:cubicBezTo>
                    <a:close/>
                    <a:moveTo>
                      <a:pt x="2257" y="26565"/>
                    </a:moveTo>
                    <a:cubicBezTo>
                      <a:pt x="2245" y="26565"/>
                      <a:pt x="2234" y="26568"/>
                      <a:pt x="2222" y="26574"/>
                    </a:cubicBezTo>
                    <a:cubicBezTo>
                      <a:pt x="2204" y="26583"/>
                      <a:pt x="2195" y="26610"/>
                      <a:pt x="2195" y="26628"/>
                    </a:cubicBezTo>
                    <a:cubicBezTo>
                      <a:pt x="2195" y="26637"/>
                      <a:pt x="2195" y="26655"/>
                      <a:pt x="2195" y="26663"/>
                    </a:cubicBezTo>
                    <a:cubicBezTo>
                      <a:pt x="2338" y="26922"/>
                      <a:pt x="2489" y="27190"/>
                      <a:pt x="2650" y="27440"/>
                    </a:cubicBezTo>
                    <a:cubicBezTo>
                      <a:pt x="2659" y="27457"/>
                      <a:pt x="2686" y="27466"/>
                      <a:pt x="2703" y="27466"/>
                    </a:cubicBezTo>
                    <a:cubicBezTo>
                      <a:pt x="2712" y="27466"/>
                      <a:pt x="2730" y="27466"/>
                      <a:pt x="2739" y="27457"/>
                    </a:cubicBezTo>
                    <a:cubicBezTo>
                      <a:pt x="2757" y="27449"/>
                      <a:pt x="2766" y="27431"/>
                      <a:pt x="2766" y="27404"/>
                    </a:cubicBezTo>
                    <a:cubicBezTo>
                      <a:pt x="2766" y="27395"/>
                      <a:pt x="2766" y="27386"/>
                      <a:pt x="2757" y="27368"/>
                    </a:cubicBezTo>
                    <a:cubicBezTo>
                      <a:pt x="2605" y="27118"/>
                      <a:pt x="2454" y="26860"/>
                      <a:pt x="2311" y="26601"/>
                    </a:cubicBezTo>
                    <a:cubicBezTo>
                      <a:pt x="2299" y="26577"/>
                      <a:pt x="2279" y="26565"/>
                      <a:pt x="2257" y="26565"/>
                    </a:cubicBezTo>
                    <a:close/>
                    <a:moveTo>
                      <a:pt x="33810" y="26574"/>
                    </a:moveTo>
                    <a:cubicBezTo>
                      <a:pt x="33788" y="26574"/>
                      <a:pt x="33769" y="26584"/>
                      <a:pt x="33758" y="26601"/>
                    </a:cubicBezTo>
                    <a:cubicBezTo>
                      <a:pt x="33615" y="26869"/>
                      <a:pt x="33463" y="27127"/>
                      <a:pt x="33312" y="27377"/>
                    </a:cubicBezTo>
                    <a:cubicBezTo>
                      <a:pt x="33303" y="27386"/>
                      <a:pt x="33303" y="27395"/>
                      <a:pt x="33303" y="27413"/>
                    </a:cubicBezTo>
                    <a:cubicBezTo>
                      <a:pt x="33303" y="27431"/>
                      <a:pt x="33312" y="27449"/>
                      <a:pt x="33329" y="27466"/>
                    </a:cubicBezTo>
                    <a:cubicBezTo>
                      <a:pt x="33338" y="27475"/>
                      <a:pt x="33356" y="27475"/>
                      <a:pt x="33365" y="27475"/>
                    </a:cubicBezTo>
                    <a:cubicBezTo>
                      <a:pt x="33392" y="27475"/>
                      <a:pt x="33410" y="27466"/>
                      <a:pt x="33419" y="27440"/>
                    </a:cubicBezTo>
                    <a:cubicBezTo>
                      <a:pt x="33579" y="27190"/>
                      <a:pt x="33731" y="26931"/>
                      <a:pt x="33865" y="26672"/>
                    </a:cubicBezTo>
                    <a:lnTo>
                      <a:pt x="33874" y="26663"/>
                    </a:lnTo>
                    <a:cubicBezTo>
                      <a:pt x="33874" y="26655"/>
                      <a:pt x="33874" y="26646"/>
                      <a:pt x="33874" y="26637"/>
                    </a:cubicBezTo>
                    <a:cubicBezTo>
                      <a:pt x="33874" y="26610"/>
                      <a:pt x="33865" y="26592"/>
                      <a:pt x="33847" y="26583"/>
                    </a:cubicBezTo>
                    <a:cubicBezTo>
                      <a:pt x="33834" y="26577"/>
                      <a:pt x="33822" y="26574"/>
                      <a:pt x="33810" y="26574"/>
                    </a:cubicBezTo>
                    <a:close/>
                    <a:moveTo>
                      <a:pt x="3193" y="28093"/>
                    </a:moveTo>
                    <a:cubicBezTo>
                      <a:pt x="3181" y="28093"/>
                      <a:pt x="3169" y="28098"/>
                      <a:pt x="3158" y="28109"/>
                    </a:cubicBezTo>
                    <a:cubicBezTo>
                      <a:pt x="3141" y="28118"/>
                      <a:pt x="3123" y="28135"/>
                      <a:pt x="3123" y="28162"/>
                    </a:cubicBezTo>
                    <a:cubicBezTo>
                      <a:pt x="3123" y="28171"/>
                      <a:pt x="3132" y="28180"/>
                      <a:pt x="3132" y="28189"/>
                    </a:cubicBezTo>
                    <a:lnTo>
                      <a:pt x="3141" y="28198"/>
                    </a:lnTo>
                    <a:cubicBezTo>
                      <a:pt x="3310" y="28439"/>
                      <a:pt x="3488" y="28689"/>
                      <a:pt x="3667" y="28920"/>
                    </a:cubicBezTo>
                    <a:cubicBezTo>
                      <a:pt x="3676" y="28938"/>
                      <a:pt x="3694" y="28947"/>
                      <a:pt x="3711" y="28947"/>
                    </a:cubicBezTo>
                    <a:cubicBezTo>
                      <a:pt x="3729" y="28947"/>
                      <a:pt x="3738" y="28947"/>
                      <a:pt x="3756" y="28938"/>
                    </a:cubicBezTo>
                    <a:cubicBezTo>
                      <a:pt x="3774" y="28920"/>
                      <a:pt x="3783" y="28903"/>
                      <a:pt x="3783" y="28885"/>
                    </a:cubicBezTo>
                    <a:cubicBezTo>
                      <a:pt x="3783" y="28867"/>
                      <a:pt x="3774" y="28858"/>
                      <a:pt x="3765" y="28849"/>
                    </a:cubicBezTo>
                    <a:cubicBezTo>
                      <a:pt x="3587" y="28608"/>
                      <a:pt x="3408" y="28367"/>
                      <a:pt x="3248" y="28127"/>
                    </a:cubicBezTo>
                    <a:cubicBezTo>
                      <a:pt x="3231" y="28105"/>
                      <a:pt x="3212" y="28093"/>
                      <a:pt x="3193" y="28093"/>
                    </a:cubicBezTo>
                    <a:close/>
                    <a:moveTo>
                      <a:pt x="32881" y="28099"/>
                    </a:moveTo>
                    <a:cubicBezTo>
                      <a:pt x="32859" y="28099"/>
                      <a:pt x="32838" y="28109"/>
                      <a:pt x="32821" y="28127"/>
                    </a:cubicBezTo>
                    <a:cubicBezTo>
                      <a:pt x="32660" y="28367"/>
                      <a:pt x="32482" y="28617"/>
                      <a:pt x="32303" y="28849"/>
                    </a:cubicBezTo>
                    <a:cubicBezTo>
                      <a:pt x="32295" y="28858"/>
                      <a:pt x="32295" y="28876"/>
                      <a:pt x="32295" y="28885"/>
                    </a:cubicBezTo>
                    <a:cubicBezTo>
                      <a:pt x="32295" y="28912"/>
                      <a:pt x="32303" y="28929"/>
                      <a:pt x="32312" y="28938"/>
                    </a:cubicBezTo>
                    <a:cubicBezTo>
                      <a:pt x="32330" y="28947"/>
                      <a:pt x="32339" y="28947"/>
                      <a:pt x="32357" y="28947"/>
                    </a:cubicBezTo>
                    <a:cubicBezTo>
                      <a:pt x="32375" y="28947"/>
                      <a:pt x="32393" y="28938"/>
                      <a:pt x="32402" y="28929"/>
                    </a:cubicBezTo>
                    <a:lnTo>
                      <a:pt x="32411" y="28929"/>
                    </a:lnTo>
                    <a:cubicBezTo>
                      <a:pt x="32411" y="28929"/>
                      <a:pt x="32411" y="28920"/>
                      <a:pt x="32411" y="28920"/>
                    </a:cubicBezTo>
                    <a:cubicBezTo>
                      <a:pt x="32589" y="28689"/>
                      <a:pt x="32767" y="28439"/>
                      <a:pt x="32928" y="28198"/>
                    </a:cubicBezTo>
                    <a:cubicBezTo>
                      <a:pt x="32937" y="28189"/>
                      <a:pt x="32946" y="28171"/>
                      <a:pt x="32946" y="28162"/>
                    </a:cubicBezTo>
                    <a:cubicBezTo>
                      <a:pt x="32946" y="28144"/>
                      <a:pt x="32928" y="28118"/>
                      <a:pt x="32919" y="28109"/>
                    </a:cubicBezTo>
                    <a:cubicBezTo>
                      <a:pt x="32906" y="28102"/>
                      <a:pt x="32894" y="28099"/>
                      <a:pt x="32881" y="28099"/>
                    </a:cubicBezTo>
                    <a:close/>
                    <a:moveTo>
                      <a:pt x="4273" y="29524"/>
                    </a:moveTo>
                    <a:cubicBezTo>
                      <a:pt x="4257" y="29524"/>
                      <a:pt x="4241" y="29528"/>
                      <a:pt x="4229" y="29536"/>
                    </a:cubicBezTo>
                    <a:cubicBezTo>
                      <a:pt x="4220" y="29545"/>
                      <a:pt x="4211" y="29563"/>
                      <a:pt x="4211" y="29590"/>
                    </a:cubicBezTo>
                    <a:cubicBezTo>
                      <a:pt x="4211" y="29598"/>
                      <a:pt x="4220" y="29616"/>
                      <a:pt x="4229" y="29625"/>
                    </a:cubicBezTo>
                    <a:cubicBezTo>
                      <a:pt x="4416" y="29857"/>
                      <a:pt x="4613" y="30080"/>
                      <a:pt x="4818" y="30303"/>
                    </a:cubicBezTo>
                    <a:cubicBezTo>
                      <a:pt x="4836" y="30312"/>
                      <a:pt x="4853" y="30321"/>
                      <a:pt x="4871" y="30321"/>
                    </a:cubicBezTo>
                    <a:cubicBezTo>
                      <a:pt x="4880" y="30321"/>
                      <a:pt x="4898" y="30312"/>
                      <a:pt x="4907" y="30303"/>
                    </a:cubicBezTo>
                    <a:cubicBezTo>
                      <a:pt x="4925" y="30294"/>
                      <a:pt x="4934" y="30276"/>
                      <a:pt x="4934" y="30259"/>
                    </a:cubicBezTo>
                    <a:cubicBezTo>
                      <a:pt x="4934" y="30241"/>
                      <a:pt x="4925" y="30223"/>
                      <a:pt x="4916" y="30214"/>
                    </a:cubicBezTo>
                    <a:cubicBezTo>
                      <a:pt x="4711" y="30000"/>
                      <a:pt x="4514" y="29768"/>
                      <a:pt x="4327" y="29545"/>
                    </a:cubicBezTo>
                    <a:cubicBezTo>
                      <a:pt x="4312" y="29530"/>
                      <a:pt x="4292" y="29524"/>
                      <a:pt x="4273" y="29524"/>
                    </a:cubicBezTo>
                    <a:close/>
                    <a:moveTo>
                      <a:pt x="31797" y="29524"/>
                    </a:moveTo>
                    <a:cubicBezTo>
                      <a:pt x="31778" y="29524"/>
                      <a:pt x="31760" y="29530"/>
                      <a:pt x="31750" y="29545"/>
                    </a:cubicBezTo>
                    <a:cubicBezTo>
                      <a:pt x="31554" y="29777"/>
                      <a:pt x="31358" y="30000"/>
                      <a:pt x="31153" y="30214"/>
                    </a:cubicBezTo>
                    <a:cubicBezTo>
                      <a:pt x="31144" y="30223"/>
                      <a:pt x="31135" y="30241"/>
                      <a:pt x="31135" y="30259"/>
                    </a:cubicBezTo>
                    <a:cubicBezTo>
                      <a:pt x="31135" y="30276"/>
                      <a:pt x="31144" y="30294"/>
                      <a:pt x="31162" y="30303"/>
                    </a:cubicBezTo>
                    <a:cubicBezTo>
                      <a:pt x="31170" y="30312"/>
                      <a:pt x="31188" y="30321"/>
                      <a:pt x="31206" y="30321"/>
                    </a:cubicBezTo>
                    <a:cubicBezTo>
                      <a:pt x="31224" y="30321"/>
                      <a:pt x="31242" y="30312"/>
                      <a:pt x="31251" y="30303"/>
                    </a:cubicBezTo>
                    <a:cubicBezTo>
                      <a:pt x="31456" y="30080"/>
                      <a:pt x="31652" y="29857"/>
                      <a:pt x="31848" y="29625"/>
                    </a:cubicBezTo>
                    <a:cubicBezTo>
                      <a:pt x="31857" y="29616"/>
                      <a:pt x="31857" y="29598"/>
                      <a:pt x="31857" y="29590"/>
                    </a:cubicBezTo>
                    <a:cubicBezTo>
                      <a:pt x="31857" y="29572"/>
                      <a:pt x="31848" y="29554"/>
                      <a:pt x="31840" y="29536"/>
                    </a:cubicBezTo>
                    <a:cubicBezTo>
                      <a:pt x="31828" y="29528"/>
                      <a:pt x="31812" y="29524"/>
                      <a:pt x="31797" y="29524"/>
                    </a:cubicBezTo>
                    <a:close/>
                    <a:moveTo>
                      <a:pt x="5492" y="30836"/>
                    </a:moveTo>
                    <a:cubicBezTo>
                      <a:pt x="5476" y="30836"/>
                      <a:pt x="5460" y="30843"/>
                      <a:pt x="5451" y="30856"/>
                    </a:cubicBezTo>
                    <a:cubicBezTo>
                      <a:pt x="5433" y="30865"/>
                      <a:pt x="5433" y="30883"/>
                      <a:pt x="5433" y="30901"/>
                    </a:cubicBezTo>
                    <a:cubicBezTo>
                      <a:pt x="5433" y="30919"/>
                      <a:pt x="5433" y="30928"/>
                      <a:pt x="5451" y="30946"/>
                    </a:cubicBezTo>
                    <a:cubicBezTo>
                      <a:pt x="5665" y="31151"/>
                      <a:pt x="5879" y="31356"/>
                      <a:pt x="6111" y="31552"/>
                    </a:cubicBezTo>
                    <a:cubicBezTo>
                      <a:pt x="6120" y="31570"/>
                      <a:pt x="6138" y="31570"/>
                      <a:pt x="6147" y="31570"/>
                    </a:cubicBezTo>
                    <a:cubicBezTo>
                      <a:pt x="6165" y="31570"/>
                      <a:pt x="6183" y="31561"/>
                      <a:pt x="6200" y="31552"/>
                    </a:cubicBezTo>
                    <a:cubicBezTo>
                      <a:pt x="6209" y="31534"/>
                      <a:pt x="6209" y="31525"/>
                      <a:pt x="6218" y="31508"/>
                    </a:cubicBezTo>
                    <a:cubicBezTo>
                      <a:pt x="6218" y="31490"/>
                      <a:pt x="6209" y="31472"/>
                      <a:pt x="6192" y="31463"/>
                    </a:cubicBezTo>
                    <a:cubicBezTo>
                      <a:pt x="5969" y="31267"/>
                      <a:pt x="5754" y="31062"/>
                      <a:pt x="5540" y="30856"/>
                    </a:cubicBezTo>
                    <a:cubicBezTo>
                      <a:pt x="5527" y="30843"/>
                      <a:pt x="5509" y="30836"/>
                      <a:pt x="5492" y="30836"/>
                    </a:cubicBezTo>
                    <a:close/>
                    <a:moveTo>
                      <a:pt x="30578" y="30836"/>
                    </a:moveTo>
                    <a:cubicBezTo>
                      <a:pt x="30562" y="30836"/>
                      <a:pt x="30546" y="30843"/>
                      <a:pt x="30537" y="30856"/>
                    </a:cubicBezTo>
                    <a:cubicBezTo>
                      <a:pt x="30323" y="31062"/>
                      <a:pt x="30100" y="31258"/>
                      <a:pt x="29877" y="31463"/>
                    </a:cubicBezTo>
                    <a:cubicBezTo>
                      <a:pt x="29868" y="31472"/>
                      <a:pt x="29859" y="31490"/>
                      <a:pt x="29859" y="31508"/>
                    </a:cubicBezTo>
                    <a:cubicBezTo>
                      <a:pt x="29859" y="31525"/>
                      <a:pt x="29859" y="31534"/>
                      <a:pt x="29877" y="31552"/>
                    </a:cubicBezTo>
                    <a:cubicBezTo>
                      <a:pt x="29886" y="31561"/>
                      <a:pt x="29904" y="31570"/>
                      <a:pt x="29922" y="31570"/>
                    </a:cubicBezTo>
                    <a:cubicBezTo>
                      <a:pt x="29930" y="31570"/>
                      <a:pt x="29948" y="31570"/>
                      <a:pt x="29957" y="31561"/>
                    </a:cubicBezTo>
                    <a:lnTo>
                      <a:pt x="29966" y="31552"/>
                    </a:lnTo>
                    <a:cubicBezTo>
                      <a:pt x="30189" y="31356"/>
                      <a:pt x="30412" y="31151"/>
                      <a:pt x="30626" y="30946"/>
                    </a:cubicBezTo>
                    <a:cubicBezTo>
                      <a:pt x="30635" y="30928"/>
                      <a:pt x="30644" y="30919"/>
                      <a:pt x="30644" y="30901"/>
                    </a:cubicBezTo>
                    <a:cubicBezTo>
                      <a:pt x="30644" y="30883"/>
                      <a:pt x="30635" y="30865"/>
                      <a:pt x="30626" y="30856"/>
                    </a:cubicBezTo>
                    <a:cubicBezTo>
                      <a:pt x="30613" y="30843"/>
                      <a:pt x="30595" y="30836"/>
                      <a:pt x="30578" y="30836"/>
                    </a:cubicBezTo>
                    <a:close/>
                    <a:moveTo>
                      <a:pt x="6839" y="32018"/>
                    </a:moveTo>
                    <a:cubicBezTo>
                      <a:pt x="6819" y="32018"/>
                      <a:pt x="6800" y="32027"/>
                      <a:pt x="6789" y="32043"/>
                    </a:cubicBezTo>
                    <a:cubicBezTo>
                      <a:pt x="6780" y="32052"/>
                      <a:pt x="6771" y="32070"/>
                      <a:pt x="6771" y="32079"/>
                    </a:cubicBezTo>
                    <a:cubicBezTo>
                      <a:pt x="6771" y="32096"/>
                      <a:pt x="6780" y="32114"/>
                      <a:pt x="6789" y="32132"/>
                    </a:cubicBezTo>
                    <a:lnTo>
                      <a:pt x="6798" y="32132"/>
                    </a:lnTo>
                    <a:cubicBezTo>
                      <a:pt x="7030" y="32319"/>
                      <a:pt x="7271" y="32507"/>
                      <a:pt x="7512" y="32676"/>
                    </a:cubicBezTo>
                    <a:cubicBezTo>
                      <a:pt x="7521" y="32685"/>
                      <a:pt x="7539" y="32685"/>
                      <a:pt x="7548" y="32685"/>
                    </a:cubicBezTo>
                    <a:cubicBezTo>
                      <a:pt x="7565" y="32685"/>
                      <a:pt x="7592" y="32676"/>
                      <a:pt x="7601" y="32658"/>
                    </a:cubicBezTo>
                    <a:cubicBezTo>
                      <a:pt x="7610" y="32649"/>
                      <a:pt x="7610" y="32641"/>
                      <a:pt x="7610" y="32623"/>
                    </a:cubicBezTo>
                    <a:cubicBezTo>
                      <a:pt x="7610" y="32605"/>
                      <a:pt x="7601" y="32587"/>
                      <a:pt x="7592" y="32569"/>
                    </a:cubicBezTo>
                    <a:lnTo>
                      <a:pt x="7583" y="32569"/>
                    </a:lnTo>
                    <a:cubicBezTo>
                      <a:pt x="7342" y="32400"/>
                      <a:pt x="7110" y="32221"/>
                      <a:pt x="6878" y="32034"/>
                    </a:cubicBezTo>
                    <a:cubicBezTo>
                      <a:pt x="6867" y="32023"/>
                      <a:pt x="6853" y="32018"/>
                      <a:pt x="6839" y="32018"/>
                    </a:cubicBezTo>
                    <a:close/>
                    <a:moveTo>
                      <a:pt x="29237" y="32021"/>
                    </a:moveTo>
                    <a:cubicBezTo>
                      <a:pt x="29222" y="32021"/>
                      <a:pt x="29206" y="32026"/>
                      <a:pt x="29190" y="32034"/>
                    </a:cubicBezTo>
                    <a:cubicBezTo>
                      <a:pt x="28967" y="32221"/>
                      <a:pt x="28726" y="32400"/>
                      <a:pt x="28485" y="32569"/>
                    </a:cubicBezTo>
                    <a:cubicBezTo>
                      <a:pt x="28467" y="32587"/>
                      <a:pt x="28458" y="32605"/>
                      <a:pt x="28458" y="32623"/>
                    </a:cubicBezTo>
                    <a:cubicBezTo>
                      <a:pt x="28458" y="32641"/>
                      <a:pt x="28458" y="32649"/>
                      <a:pt x="28467" y="32667"/>
                    </a:cubicBezTo>
                    <a:cubicBezTo>
                      <a:pt x="28476" y="32676"/>
                      <a:pt x="28503" y="32694"/>
                      <a:pt x="28521" y="32694"/>
                    </a:cubicBezTo>
                    <a:cubicBezTo>
                      <a:pt x="28530" y="32694"/>
                      <a:pt x="28548" y="32685"/>
                      <a:pt x="28557" y="32676"/>
                    </a:cubicBezTo>
                    <a:cubicBezTo>
                      <a:pt x="28797" y="32507"/>
                      <a:pt x="29038" y="32319"/>
                      <a:pt x="29270" y="32132"/>
                    </a:cubicBezTo>
                    <a:cubicBezTo>
                      <a:pt x="29288" y="32123"/>
                      <a:pt x="29297" y="32105"/>
                      <a:pt x="29297" y="32087"/>
                    </a:cubicBezTo>
                    <a:cubicBezTo>
                      <a:pt x="29297" y="32070"/>
                      <a:pt x="29297" y="32052"/>
                      <a:pt x="29288" y="32043"/>
                    </a:cubicBezTo>
                    <a:cubicBezTo>
                      <a:pt x="29273" y="32028"/>
                      <a:pt x="29256" y="32021"/>
                      <a:pt x="29237" y="32021"/>
                    </a:cubicBezTo>
                    <a:close/>
                    <a:moveTo>
                      <a:pt x="8291" y="33068"/>
                    </a:moveTo>
                    <a:cubicBezTo>
                      <a:pt x="8269" y="33068"/>
                      <a:pt x="8246" y="33078"/>
                      <a:pt x="8234" y="33096"/>
                    </a:cubicBezTo>
                    <a:cubicBezTo>
                      <a:pt x="8226" y="33104"/>
                      <a:pt x="8226" y="33113"/>
                      <a:pt x="8226" y="33131"/>
                    </a:cubicBezTo>
                    <a:cubicBezTo>
                      <a:pt x="8226" y="33149"/>
                      <a:pt x="8234" y="33167"/>
                      <a:pt x="8243" y="33176"/>
                    </a:cubicBezTo>
                    <a:lnTo>
                      <a:pt x="8252" y="33185"/>
                    </a:lnTo>
                    <a:cubicBezTo>
                      <a:pt x="8502" y="33345"/>
                      <a:pt x="8761" y="33506"/>
                      <a:pt x="9020" y="33649"/>
                    </a:cubicBezTo>
                    <a:cubicBezTo>
                      <a:pt x="9028" y="33658"/>
                      <a:pt x="9037" y="33658"/>
                      <a:pt x="9046" y="33658"/>
                    </a:cubicBezTo>
                    <a:cubicBezTo>
                      <a:pt x="9073" y="33658"/>
                      <a:pt x="9091" y="33649"/>
                      <a:pt x="9109" y="33631"/>
                    </a:cubicBezTo>
                    <a:cubicBezTo>
                      <a:pt x="9109" y="33622"/>
                      <a:pt x="9118" y="33604"/>
                      <a:pt x="9118" y="33595"/>
                    </a:cubicBezTo>
                    <a:cubicBezTo>
                      <a:pt x="9118" y="33577"/>
                      <a:pt x="9109" y="33559"/>
                      <a:pt x="9091" y="33550"/>
                    </a:cubicBezTo>
                    <a:lnTo>
                      <a:pt x="9082" y="33542"/>
                    </a:lnTo>
                    <a:cubicBezTo>
                      <a:pt x="8823" y="33390"/>
                      <a:pt x="8573" y="33238"/>
                      <a:pt x="8324" y="33078"/>
                    </a:cubicBezTo>
                    <a:cubicBezTo>
                      <a:pt x="8314" y="33071"/>
                      <a:pt x="8302" y="33068"/>
                      <a:pt x="8291" y="33068"/>
                    </a:cubicBezTo>
                    <a:close/>
                    <a:moveTo>
                      <a:pt x="27778" y="33068"/>
                    </a:moveTo>
                    <a:cubicBezTo>
                      <a:pt x="27766" y="33068"/>
                      <a:pt x="27754" y="33071"/>
                      <a:pt x="27745" y="33078"/>
                    </a:cubicBezTo>
                    <a:cubicBezTo>
                      <a:pt x="27495" y="33238"/>
                      <a:pt x="27236" y="33390"/>
                      <a:pt x="26987" y="33542"/>
                    </a:cubicBezTo>
                    <a:cubicBezTo>
                      <a:pt x="26960" y="33550"/>
                      <a:pt x="26951" y="33577"/>
                      <a:pt x="26951" y="33595"/>
                    </a:cubicBezTo>
                    <a:cubicBezTo>
                      <a:pt x="26951" y="33613"/>
                      <a:pt x="26951" y="33622"/>
                      <a:pt x="26960" y="33631"/>
                    </a:cubicBezTo>
                    <a:cubicBezTo>
                      <a:pt x="26969" y="33649"/>
                      <a:pt x="26995" y="33666"/>
                      <a:pt x="27013" y="33666"/>
                    </a:cubicBezTo>
                    <a:cubicBezTo>
                      <a:pt x="27022" y="33666"/>
                      <a:pt x="27040" y="33658"/>
                      <a:pt x="27049" y="33658"/>
                    </a:cubicBezTo>
                    <a:cubicBezTo>
                      <a:pt x="27308" y="33506"/>
                      <a:pt x="27566" y="33345"/>
                      <a:pt x="27816" y="33185"/>
                    </a:cubicBezTo>
                    <a:cubicBezTo>
                      <a:pt x="27834" y="33176"/>
                      <a:pt x="27843" y="33149"/>
                      <a:pt x="27843" y="33131"/>
                    </a:cubicBezTo>
                    <a:cubicBezTo>
                      <a:pt x="27843" y="33122"/>
                      <a:pt x="27843" y="33104"/>
                      <a:pt x="27834" y="33096"/>
                    </a:cubicBezTo>
                    <a:cubicBezTo>
                      <a:pt x="27822" y="33078"/>
                      <a:pt x="27800" y="33068"/>
                      <a:pt x="27778" y="33068"/>
                    </a:cubicBezTo>
                    <a:close/>
                    <a:moveTo>
                      <a:pt x="9832" y="33961"/>
                    </a:moveTo>
                    <a:cubicBezTo>
                      <a:pt x="9810" y="33961"/>
                      <a:pt x="9790" y="33973"/>
                      <a:pt x="9778" y="33997"/>
                    </a:cubicBezTo>
                    <a:cubicBezTo>
                      <a:pt x="9778" y="34005"/>
                      <a:pt x="9769" y="34014"/>
                      <a:pt x="9769" y="34023"/>
                    </a:cubicBezTo>
                    <a:cubicBezTo>
                      <a:pt x="9769" y="34050"/>
                      <a:pt x="9787" y="34068"/>
                      <a:pt x="9805" y="34086"/>
                    </a:cubicBezTo>
                    <a:cubicBezTo>
                      <a:pt x="10072" y="34220"/>
                      <a:pt x="10340" y="34353"/>
                      <a:pt x="10616" y="34469"/>
                    </a:cubicBezTo>
                    <a:cubicBezTo>
                      <a:pt x="10625" y="34478"/>
                      <a:pt x="10634" y="34478"/>
                      <a:pt x="10643" y="34478"/>
                    </a:cubicBezTo>
                    <a:cubicBezTo>
                      <a:pt x="10670" y="34478"/>
                      <a:pt x="10688" y="34460"/>
                      <a:pt x="10697" y="34443"/>
                    </a:cubicBezTo>
                    <a:cubicBezTo>
                      <a:pt x="10706" y="34434"/>
                      <a:pt x="10706" y="34425"/>
                      <a:pt x="10706" y="34416"/>
                    </a:cubicBezTo>
                    <a:cubicBezTo>
                      <a:pt x="10706" y="34389"/>
                      <a:pt x="10688" y="34362"/>
                      <a:pt x="10670" y="34353"/>
                    </a:cubicBezTo>
                    <a:lnTo>
                      <a:pt x="10661" y="34353"/>
                    </a:lnTo>
                    <a:cubicBezTo>
                      <a:pt x="10402" y="34228"/>
                      <a:pt x="10135" y="34104"/>
                      <a:pt x="9876" y="33970"/>
                    </a:cubicBezTo>
                    <a:lnTo>
                      <a:pt x="9867" y="33970"/>
                    </a:lnTo>
                    <a:cubicBezTo>
                      <a:pt x="9855" y="33964"/>
                      <a:pt x="9843" y="33961"/>
                      <a:pt x="9832" y="33961"/>
                    </a:cubicBezTo>
                    <a:close/>
                    <a:moveTo>
                      <a:pt x="26228" y="33966"/>
                    </a:moveTo>
                    <a:cubicBezTo>
                      <a:pt x="26219" y="33966"/>
                      <a:pt x="26210" y="33968"/>
                      <a:pt x="26201" y="33970"/>
                    </a:cubicBezTo>
                    <a:lnTo>
                      <a:pt x="26193" y="33970"/>
                    </a:lnTo>
                    <a:cubicBezTo>
                      <a:pt x="25934" y="34104"/>
                      <a:pt x="25666" y="34237"/>
                      <a:pt x="25390" y="34362"/>
                    </a:cubicBezTo>
                    <a:cubicBezTo>
                      <a:pt x="25372" y="34371"/>
                      <a:pt x="25354" y="34389"/>
                      <a:pt x="25354" y="34416"/>
                    </a:cubicBezTo>
                    <a:cubicBezTo>
                      <a:pt x="25354" y="34425"/>
                      <a:pt x="25354" y="34434"/>
                      <a:pt x="25363" y="34443"/>
                    </a:cubicBezTo>
                    <a:cubicBezTo>
                      <a:pt x="25372" y="34469"/>
                      <a:pt x="25399" y="34478"/>
                      <a:pt x="25416" y="34478"/>
                    </a:cubicBezTo>
                    <a:lnTo>
                      <a:pt x="25452" y="34478"/>
                    </a:lnTo>
                    <a:cubicBezTo>
                      <a:pt x="25720" y="34353"/>
                      <a:pt x="25987" y="34220"/>
                      <a:pt x="26255" y="34086"/>
                    </a:cubicBezTo>
                    <a:cubicBezTo>
                      <a:pt x="26282" y="34077"/>
                      <a:pt x="26291" y="34050"/>
                      <a:pt x="26291" y="34032"/>
                    </a:cubicBezTo>
                    <a:cubicBezTo>
                      <a:pt x="26291" y="34014"/>
                      <a:pt x="26291" y="34005"/>
                      <a:pt x="26282" y="33997"/>
                    </a:cubicBezTo>
                    <a:cubicBezTo>
                      <a:pt x="26275" y="33976"/>
                      <a:pt x="26253" y="33966"/>
                      <a:pt x="26228" y="33966"/>
                    </a:cubicBezTo>
                    <a:close/>
                    <a:moveTo>
                      <a:pt x="11466" y="34698"/>
                    </a:moveTo>
                    <a:cubicBezTo>
                      <a:pt x="11439" y="34698"/>
                      <a:pt x="11415" y="34710"/>
                      <a:pt x="11401" y="34737"/>
                    </a:cubicBezTo>
                    <a:cubicBezTo>
                      <a:pt x="11401" y="34746"/>
                      <a:pt x="11401" y="34755"/>
                      <a:pt x="11401" y="34764"/>
                    </a:cubicBezTo>
                    <a:cubicBezTo>
                      <a:pt x="11401" y="34791"/>
                      <a:pt x="11419" y="34808"/>
                      <a:pt x="11437" y="34817"/>
                    </a:cubicBezTo>
                    <a:lnTo>
                      <a:pt x="11446" y="34817"/>
                    </a:lnTo>
                    <a:cubicBezTo>
                      <a:pt x="11723" y="34933"/>
                      <a:pt x="12008" y="35031"/>
                      <a:pt x="12285" y="35129"/>
                    </a:cubicBezTo>
                    <a:lnTo>
                      <a:pt x="12302" y="35129"/>
                    </a:lnTo>
                    <a:cubicBezTo>
                      <a:pt x="12329" y="35129"/>
                      <a:pt x="12356" y="35112"/>
                      <a:pt x="12365" y="35085"/>
                    </a:cubicBezTo>
                    <a:cubicBezTo>
                      <a:pt x="12365" y="35085"/>
                      <a:pt x="12374" y="35076"/>
                      <a:pt x="12374" y="35067"/>
                    </a:cubicBezTo>
                    <a:cubicBezTo>
                      <a:pt x="12374" y="35040"/>
                      <a:pt x="12356" y="35014"/>
                      <a:pt x="12329" y="35005"/>
                    </a:cubicBezTo>
                    <a:cubicBezTo>
                      <a:pt x="12044" y="34915"/>
                      <a:pt x="11767" y="34808"/>
                      <a:pt x="11491" y="34701"/>
                    </a:cubicBezTo>
                    <a:cubicBezTo>
                      <a:pt x="11482" y="34699"/>
                      <a:pt x="11474" y="34698"/>
                      <a:pt x="11466" y="34698"/>
                    </a:cubicBezTo>
                    <a:close/>
                    <a:moveTo>
                      <a:pt x="24597" y="34703"/>
                    </a:moveTo>
                    <a:cubicBezTo>
                      <a:pt x="24588" y="34703"/>
                      <a:pt x="24578" y="34705"/>
                      <a:pt x="24569" y="34710"/>
                    </a:cubicBezTo>
                    <a:cubicBezTo>
                      <a:pt x="24292" y="34817"/>
                      <a:pt x="24007" y="34915"/>
                      <a:pt x="23730" y="35014"/>
                    </a:cubicBezTo>
                    <a:cubicBezTo>
                      <a:pt x="23704" y="35022"/>
                      <a:pt x="23686" y="35049"/>
                      <a:pt x="23686" y="35076"/>
                    </a:cubicBezTo>
                    <a:cubicBezTo>
                      <a:pt x="23686" y="35076"/>
                      <a:pt x="23686" y="35085"/>
                      <a:pt x="23686" y="35094"/>
                    </a:cubicBezTo>
                    <a:cubicBezTo>
                      <a:pt x="23695" y="35121"/>
                      <a:pt x="23721" y="35138"/>
                      <a:pt x="23748" y="35138"/>
                    </a:cubicBezTo>
                    <a:cubicBezTo>
                      <a:pt x="23757" y="35138"/>
                      <a:pt x="23766" y="35138"/>
                      <a:pt x="23766" y="35129"/>
                    </a:cubicBezTo>
                    <a:cubicBezTo>
                      <a:pt x="24051" y="35040"/>
                      <a:pt x="24337" y="34933"/>
                      <a:pt x="24614" y="34826"/>
                    </a:cubicBezTo>
                    <a:cubicBezTo>
                      <a:pt x="24640" y="34817"/>
                      <a:pt x="24658" y="34791"/>
                      <a:pt x="24658" y="34764"/>
                    </a:cubicBezTo>
                    <a:cubicBezTo>
                      <a:pt x="24658" y="34755"/>
                      <a:pt x="24658" y="34746"/>
                      <a:pt x="24649" y="34746"/>
                    </a:cubicBezTo>
                    <a:cubicBezTo>
                      <a:pt x="24643" y="34720"/>
                      <a:pt x="24622" y="34703"/>
                      <a:pt x="24597" y="34703"/>
                    </a:cubicBezTo>
                    <a:close/>
                    <a:moveTo>
                      <a:pt x="13162" y="35270"/>
                    </a:moveTo>
                    <a:cubicBezTo>
                      <a:pt x="13136" y="35270"/>
                      <a:pt x="13104" y="35287"/>
                      <a:pt x="13096" y="35317"/>
                    </a:cubicBezTo>
                    <a:cubicBezTo>
                      <a:pt x="13096" y="35317"/>
                      <a:pt x="13096" y="35326"/>
                      <a:pt x="13096" y="35335"/>
                    </a:cubicBezTo>
                    <a:cubicBezTo>
                      <a:pt x="13096" y="35361"/>
                      <a:pt x="13114" y="35388"/>
                      <a:pt x="13141" y="35397"/>
                    </a:cubicBezTo>
                    <a:cubicBezTo>
                      <a:pt x="13435" y="35477"/>
                      <a:pt x="13721" y="35549"/>
                      <a:pt x="14015" y="35611"/>
                    </a:cubicBezTo>
                    <a:cubicBezTo>
                      <a:pt x="14024" y="35620"/>
                      <a:pt x="14024" y="35620"/>
                      <a:pt x="14033" y="35620"/>
                    </a:cubicBezTo>
                    <a:cubicBezTo>
                      <a:pt x="14060" y="35620"/>
                      <a:pt x="14087" y="35593"/>
                      <a:pt x="14096" y="35567"/>
                    </a:cubicBezTo>
                    <a:cubicBezTo>
                      <a:pt x="14096" y="35558"/>
                      <a:pt x="14096" y="35558"/>
                      <a:pt x="14096" y="35549"/>
                    </a:cubicBezTo>
                    <a:cubicBezTo>
                      <a:pt x="14096" y="35522"/>
                      <a:pt x="14078" y="35495"/>
                      <a:pt x="14042" y="35486"/>
                    </a:cubicBezTo>
                    <a:cubicBezTo>
                      <a:pt x="13757" y="35424"/>
                      <a:pt x="13462" y="35353"/>
                      <a:pt x="13186" y="35272"/>
                    </a:cubicBezTo>
                    <a:lnTo>
                      <a:pt x="13177" y="35272"/>
                    </a:lnTo>
                    <a:cubicBezTo>
                      <a:pt x="13172" y="35271"/>
                      <a:pt x="13167" y="35270"/>
                      <a:pt x="13162" y="35270"/>
                    </a:cubicBezTo>
                    <a:close/>
                    <a:moveTo>
                      <a:pt x="22892" y="35270"/>
                    </a:moveTo>
                    <a:cubicBezTo>
                      <a:pt x="22886" y="35270"/>
                      <a:pt x="22880" y="35271"/>
                      <a:pt x="22874" y="35272"/>
                    </a:cubicBezTo>
                    <a:cubicBezTo>
                      <a:pt x="22588" y="35353"/>
                      <a:pt x="22303" y="35424"/>
                      <a:pt x="22017" y="35495"/>
                    </a:cubicBezTo>
                    <a:lnTo>
                      <a:pt x="22009" y="35495"/>
                    </a:lnTo>
                    <a:cubicBezTo>
                      <a:pt x="21982" y="35495"/>
                      <a:pt x="21964" y="35522"/>
                      <a:pt x="21964" y="35558"/>
                    </a:cubicBezTo>
                    <a:cubicBezTo>
                      <a:pt x="21964" y="35558"/>
                      <a:pt x="21964" y="35567"/>
                      <a:pt x="21964" y="35567"/>
                    </a:cubicBezTo>
                    <a:cubicBezTo>
                      <a:pt x="21973" y="35602"/>
                      <a:pt x="21991" y="35620"/>
                      <a:pt x="22026" y="35620"/>
                    </a:cubicBezTo>
                    <a:lnTo>
                      <a:pt x="22035" y="35620"/>
                    </a:lnTo>
                    <a:cubicBezTo>
                      <a:pt x="22330" y="35549"/>
                      <a:pt x="22624" y="35477"/>
                      <a:pt x="22910" y="35397"/>
                    </a:cubicBezTo>
                    <a:lnTo>
                      <a:pt x="22927" y="35388"/>
                    </a:lnTo>
                    <a:cubicBezTo>
                      <a:pt x="22945" y="35379"/>
                      <a:pt x="22954" y="35361"/>
                      <a:pt x="22954" y="35335"/>
                    </a:cubicBezTo>
                    <a:cubicBezTo>
                      <a:pt x="22954" y="35335"/>
                      <a:pt x="22954" y="35326"/>
                      <a:pt x="22954" y="35317"/>
                    </a:cubicBezTo>
                    <a:cubicBezTo>
                      <a:pt x="22947" y="35287"/>
                      <a:pt x="22921" y="35270"/>
                      <a:pt x="22892" y="35270"/>
                    </a:cubicBezTo>
                    <a:close/>
                    <a:moveTo>
                      <a:pt x="14903" y="35663"/>
                    </a:moveTo>
                    <a:cubicBezTo>
                      <a:pt x="14874" y="35663"/>
                      <a:pt x="14853" y="35687"/>
                      <a:pt x="14845" y="35718"/>
                    </a:cubicBezTo>
                    <a:cubicBezTo>
                      <a:pt x="14845" y="35718"/>
                      <a:pt x="14845" y="35727"/>
                      <a:pt x="14845" y="35727"/>
                    </a:cubicBezTo>
                    <a:cubicBezTo>
                      <a:pt x="14845" y="35763"/>
                      <a:pt x="14863" y="35790"/>
                      <a:pt x="14898" y="35790"/>
                    </a:cubicBezTo>
                    <a:cubicBezTo>
                      <a:pt x="15193" y="35843"/>
                      <a:pt x="15487" y="35888"/>
                      <a:pt x="15782" y="35923"/>
                    </a:cubicBezTo>
                    <a:lnTo>
                      <a:pt x="15791" y="35923"/>
                    </a:lnTo>
                    <a:cubicBezTo>
                      <a:pt x="15826" y="35923"/>
                      <a:pt x="15853" y="35906"/>
                      <a:pt x="15853" y="35870"/>
                    </a:cubicBezTo>
                    <a:cubicBezTo>
                      <a:pt x="15862" y="35870"/>
                      <a:pt x="15862" y="35861"/>
                      <a:pt x="15862" y="35861"/>
                    </a:cubicBezTo>
                    <a:cubicBezTo>
                      <a:pt x="15862" y="35825"/>
                      <a:pt x="15835" y="35799"/>
                      <a:pt x="15800" y="35799"/>
                    </a:cubicBezTo>
                    <a:cubicBezTo>
                      <a:pt x="15505" y="35763"/>
                      <a:pt x="15211" y="35718"/>
                      <a:pt x="14916" y="35665"/>
                    </a:cubicBezTo>
                    <a:cubicBezTo>
                      <a:pt x="14912" y="35664"/>
                      <a:pt x="14907" y="35663"/>
                      <a:pt x="14903" y="35663"/>
                    </a:cubicBezTo>
                    <a:close/>
                    <a:moveTo>
                      <a:pt x="21134" y="35665"/>
                    </a:moveTo>
                    <a:cubicBezTo>
                      <a:pt x="20840" y="35718"/>
                      <a:pt x="20546" y="35763"/>
                      <a:pt x="20251" y="35799"/>
                    </a:cubicBezTo>
                    <a:cubicBezTo>
                      <a:pt x="20215" y="35807"/>
                      <a:pt x="20198" y="35834"/>
                      <a:pt x="20198" y="35861"/>
                    </a:cubicBezTo>
                    <a:cubicBezTo>
                      <a:pt x="20198" y="35870"/>
                      <a:pt x="20198" y="35870"/>
                      <a:pt x="20198" y="35870"/>
                    </a:cubicBezTo>
                    <a:cubicBezTo>
                      <a:pt x="20198" y="35906"/>
                      <a:pt x="20233" y="35932"/>
                      <a:pt x="20269" y="35932"/>
                    </a:cubicBezTo>
                    <a:cubicBezTo>
                      <a:pt x="20269" y="35923"/>
                      <a:pt x="20269" y="35923"/>
                      <a:pt x="20269" y="35923"/>
                    </a:cubicBezTo>
                    <a:cubicBezTo>
                      <a:pt x="20563" y="35888"/>
                      <a:pt x="20867" y="35843"/>
                      <a:pt x="21161" y="35799"/>
                    </a:cubicBezTo>
                    <a:cubicBezTo>
                      <a:pt x="21188" y="35790"/>
                      <a:pt x="21215" y="35763"/>
                      <a:pt x="21215" y="35736"/>
                    </a:cubicBezTo>
                    <a:cubicBezTo>
                      <a:pt x="21215" y="35727"/>
                      <a:pt x="21215" y="35727"/>
                      <a:pt x="21206" y="35718"/>
                    </a:cubicBezTo>
                    <a:cubicBezTo>
                      <a:pt x="21206" y="35683"/>
                      <a:pt x="21170" y="35665"/>
                      <a:pt x="21134" y="35665"/>
                    </a:cubicBezTo>
                    <a:close/>
                    <a:moveTo>
                      <a:pt x="16692" y="35888"/>
                    </a:moveTo>
                    <a:cubicBezTo>
                      <a:pt x="16656" y="35888"/>
                      <a:pt x="16620" y="35915"/>
                      <a:pt x="16620" y="35941"/>
                    </a:cubicBezTo>
                    <a:cubicBezTo>
                      <a:pt x="16620" y="35950"/>
                      <a:pt x="16620" y="35950"/>
                      <a:pt x="16620" y="35950"/>
                    </a:cubicBezTo>
                    <a:cubicBezTo>
                      <a:pt x="16620" y="35986"/>
                      <a:pt x="16647" y="36013"/>
                      <a:pt x="16683" y="36013"/>
                    </a:cubicBezTo>
                    <a:cubicBezTo>
                      <a:pt x="16977" y="36039"/>
                      <a:pt x="17280" y="36048"/>
                      <a:pt x="17575" y="36057"/>
                    </a:cubicBezTo>
                    <a:cubicBezTo>
                      <a:pt x="17610" y="36057"/>
                      <a:pt x="17646" y="36031"/>
                      <a:pt x="17646" y="35995"/>
                    </a:cubicBezTo>
                    <a:cubicBezTo>
                      <a:pt x="17646" y="35959"/>
                      <a:pt x="17619" y="35932"/>
                      <a:pt x="17584" y="35932"/>
                    </a:cubicBezTo>
                    <a:cubicBezTo>
                      <a:pt x="17289" y="35923"/>
                      <a:pt x="16986" y="35906"/>
                      <a:pt x="16692" y="35888"/>
                    </a:cubicBezTo>
                    <a:close/>
                    <a:moveTo>
                      <a:pt x="19368" y="35888"/>
                    </a:moveTo>
                    <a:cubicBezTo>
                      <a:pt x="19074" y="35906"/>
                      <a:pt x="18770" y="35923"/>
                      <a:pt x="18476" y="35932"/>
                    </a:cubicBezTo>
                    <a:lnTo>
                      <a:pt x="18467" y="35932"/>
                    </a:lnTo>
                    <a:cubicBezTo>
                      <a:pt x="18440" y="35932"/>
                      <a:pt x="18413" y="35959"/>
                      <a:pt x="18413" y="35995"/>
                    </a:cubicBezTo>
                    <a:cubicBezTo>
                      <a:pt x="18413" y="36031"/>
                      <a:pt x="18440" y="36057"/>
                      <a:pt x="18476" y="36057"/>
                    </a:cubicBezTo>
                    <a:cubicBezTo>
                      <a:pt x="18779" y="36048"/>
                      <a:pt x="19074" y="36039"/>
                      <a:pt x="19368" y="36013"/>
                    </a:cubicBezTo>
                    <a:lnTo>
                      <a:pt x="19377" y="36013"/>
                    </a:lnTo>
                    <a:cubicBezTo>
                      <a:pt x="19413" y="36013"/>
                      <a:pt x="19430" y="35986"/>
                      <a:pt x="19430" y="35950"/>
                    </a:cubicBezTo>
                    <a:cubicBezTo>
                      <a:pt x="19430" y="35915"/>
                      <a:pt x="19404" y="35888"/>
                      <a:pt x="19368" y="35888"/>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46" name="Google Shape;646;p30"/>
              <p:cNvSpPr/>
              <p:nvPr/>
            </p:nvSpPr>
            <p:spPr>
              <a:xfrm>
                <a:off x="2573777" y="2150469"/>
                <a:ext cx="921667" cy="921667"/>
              </a:xfrm>
              <a:custGeom>
                <a:avLst/>
                <a:gdLst/>
                <a:ahLst/>
                <a:cxnLst/>
                <a:rect l="l" t="t" r="r" b="b"/>
                <a:pathLst>
                  <a:path w="28539" h="28539" extrusionOk="0">
                    <a:moveTo>
                      <a:pt x="13578" y="18"/>
                    </a:moveTo>
                    <a:cubicBezTo>
                      <a:pt x="13489" y="18"/>
                      <a:pt x="13409" y="27"/>
                      <a:pt x="13320" y="27"/>
                    </a:cubicBezTo>
                    <a:cubicBezTo>
                      <a:pt x="13284" y="36"/>
                      <a:pt x="13257" y="63"/>
                      <a:pt x="13257" y="98"/>
                    </a:cubicBezTo>
                    <a:cubicBezTo>
                      <a:pt x="13266" y="134"/>
                      <a:pt x="13293" y="161"/>
                      <a:pt x="13320" y="161"/>
                    </a:cubicBezTo>
                    <a:lnTo>
                      <a:pt x="13329" y="161"/>
                    </a:lnTo>
                    <a:cubicBezTo>
                      <a:pt x="13418" y="152"/>
                      <a:pt x="13498" y="152"/>
                      <a:pt x="13587" y="143"/>
                    </a:cubicBezTo>
                    <a:cubicBezTo>
                      <a:pt x="13623" y="143"/>
                      <a:pt x="13650" y="116"/>
                      <a:pt x="13650" y="81"/>
                    </a:cubicBezTo>
                    <a:cubicBezTo>
                      <a:pt x="13641" y="45"/>
                      <a:pt x="13614" y="18"/>
                      <a:pt x="13578" y="18"/>
                    </a:cubicBezTo>
                    <a:close/>
                    <a:moveTo>
                      <a:pt x="14354" y="0"/>
                    </a:moveTo>
                    <a:cubicBezTo>
                      <a:pt x="14319" y="0"/>
                      <a:pt x="14292" y="27"/>
                      <a:pt x="14292" y="63"/>
                    </a:cubicBezTo>
                    <a:cubicBezTo>
                      <a:pt x="14292" y="98"/>
                      <a:pt x="14319" y="125"/>
                      <a:pt x="14354" y="125"/>
                    </a:cubicBezTo>
                    <a:cubicBezTo>
                      <a:pt x="14658" y="134"/>
                      <a:pt x="14961" y="143"/>
                      <a:pt x="15255" y="161"/>
                    </a:cubicBezTo>
                    <a:lnTo>
                      <a:pt x="15264" y="161"/>
                    </a:lnTo>
                    <a:cubicBezTo>
                      <a:pt x="15300" y="161"/>
                      <a:pt x="15327" y="134"/>
                      <a:pt x="15327" y="98"/>
                    </a:cubicBezTo>
                    <a:cubicBezTo>
                      <a:pt x="15327" y="63"/>
                      <a:pt x="15300" y="36"/>
                      <a:pt x="15264" y="36"/>
                    </a:cubicBezTo>
                    <a:cubicBezTo>
                      <a:pt x="14970" y="9"/>
                      <a:pt x="14658" y="0"/>
                      <a:pt x="14354" y="0"/>
                    </a:cubicBezTo>
                    <a:close/>
                    <a:moveTo>
                      <a:pt x="15523" y="54"/>
                    </a:moveTo>
                    <a:cubicBezTo>
                      <a:pt x="15487" y="54"/>
                      <a:pt x="15461" y="81"/>
                      <a:pt x="15461" y="116"/>
                    </a:cubicBezTo>
                    <a:cubicBezTo>
                      <a:pt x="15452" y="152"/>
                      <a:pt x="15478" y="179"/>
                      <a:pt x="15514" y="179"/>
                    </a:cubicBezTo>
                    <a:cubicBezTo>
                      <a:pt x="15773" y="205"/>
                      <a:pt x="16032" y="232"/>
                      <a:pt x="16281" y="268"/>
                    </a:cubicBezTo>
                    <a:lnTo>
                      <a:pt x="16290" y="268"/>
                    </a:lnTo>
                    <a:cubicBezTo>
                      <a:pt x="16326" y="268"/>
                      <a:pt x="16353" y="250"/>
                      <a:pt x="16353" y="214"/>
                    </a:cubicBezTo>
                    <a:cubicBezTo>
                      <a:pt x="16362" y="179"/>
                      <a:pt x="16335" y="152"/>
                      <a:pt x="16299" y="143"/>
                    </a:cubicBezTo>
                    <a:cubicBezTo>
                      <a:pt x="16041" y="107"/>
                      <a:pt x="15782" y="81"/>
                      <a:pt x="15523" y="54"/>
                    </a:cubicBezTo>
                    <a:close/>
                    <a:moveTo>
                      <a:pt x="12419" y="116"/>
                    </a:moveTo>
                    <a:cubicBezTo>
                      <a:pt x="12160" y="152"/>
                      <a:pt x="11901" y="197"/>
                      <a:pt x="11642" y="241"/>
                    </a:cubicBezTo>
                    <a:cubicBezTo>
                      <a:pt x="11607" y="250"/>
                      <a:pt x="11589" y="277"/>
                      <a:pt x="11598" y="313"/>
                    </a:cubicBezTo>
                    <a:cubicBezTo>
                      <a:pt x="11598" y="348"/>
                      <a:pt x="11625" y="366"/>
                      <a:pt x="11660" y="366"/>
                    </a:cubicBezTo>
                    <a:lnTo>
                      <a:pt x="11669" y="366"/>
                    </a:lnTo>
                    <a:cubicBezTo>
                      <a:pt x="11919" y="321"/>
                      <a:pt x="12178" y="277"/>
                      <a:pt x="12427" y="250"/>
                    </a:cubicBezTo>
                    <a:cubicBezTo>
                      <a:pt x="12463" y="241"/>
                      <a:pt x="12490" y="205"/>
                      <a:pt x="12490" y="179"/>
                    </a:cubicBezTo>
                    <a:cubicBezTo>
                      <a:pt x="12481" y="143"/>
                      <a:pt x="12454" y="116"/>
                      <a:pt x="12419" y="116"/>
                    </a:cubicBezTo>
                    <a:close/>
                    <a:moveTo>
                      <a:pt x="17182" y="301"/>
                    </a:moveTo>
                    <a:cubicBezTo>
                      <a:pt x="17153" y="301"/>
                      <a:pt x="17127" y="319"/>
                      <a:pt x="17120" y="348"/>
                    </a:cubicBezTo>
                    <a:cubicBezTo>
                      <a:pt x="17111" y="384"/>
                      <a:pt x="17138" y="420"/>
                      <a:pt x="17173" y="428"/>
                    </a:cubicBezTo>
                    <a:cubicBezTo>
                      <a:pt x="17254" y="446"/>
                      <a:pt x="17334" y="464"/>
                      <a:pt x="17423" y="482"/>
                    </a:cubicBezTo>
                    <a:lnTo>
                      <a:pt x="17432" y="482"/>
                    </a:lnTo>
                    <a:cubicBezTo>
                      <a:pt x="17468" y="482"/>
                      <a:pt x="17495" y="464"/>
                      <a:pt x="17495" y="428"/>
                    </a:cubicBezTo>
                    <a:cubicBezTo>
                      <a:pt x="17504" y="402"/>
                      <a:pt x="17486" y="366"/>
                      <a:pt x="17450" y="357"/>
                    </a:cubicBezTo>
                    <a:cubicBezTo>
                      <a:pt x="17370" y="339"/>
                      <a:pt x="17281" y="321"/>
                      <a:pt x="17200" y="304"/>
                    </a:cubicBezTo>
                    <a:cubicBezTo>
                      <a:pt x="17194" y="302"/>
                      <a:pt x="17188" y="301"/>
                      <a:pt x="17182" y="301"/>
                    </a:cubicBezTo>
                    <a:close/>
                    <a:moveTo>
                      <a:pt x="11393" y="286"/>
                    </a:moveTo>
                    <a:cubicBezTo>
                      <a:pt x="11098" y="348"/>
                      <a:pt x="10795" y="420"/>
                      <a:pt x="10509" y="500"/>
                    </a:cubicBezTo>
                    <a:cubicBezTo>
                      <a:pt x="10474" y="509"/>
                      <a:pt x="10447" y="544"/>
                      <a:pt x="10465" y="580"/>
                    </a:cubicBezTo>
                    <a:cubicBezTo>
                      <a:pt x="10465" y="607"/>
                      <a:pt x="10492" y="625"/>
                      <a:pt x="10518" y="625"/>
                    </a:cubicBezTo>
                    <a:lnTo>
                      <a:pt x="10536" y="625"/>
                    </a:lnTo>
                    <a:cubicBezTo>
                      <a:pt x="10831" y="544"/>
                      <a:pt x="11125" y="473"/>
                      <a:pt x="11419" y="420"/>
                    </a:cubicBezTo>
                    <a:cubicBezTo>
                      <a:pt x="11455" y="411"/>
                      <a:pt x="11473" y="375"/>
                      <a:pt x="11464" y="339"/>
                    </a:cubicBezTo>
                    <a:cubicBezTo>
                      <a:pt x="11455" y="304"/>
                      <a:pt x="11428" y="286"/>
                      <a:pt x="11393" y="286"/>
                    </a:cubicBezTo>
                    <a:close/>
                    <a:moveTo>
                      <a:pt x="9778" y="721"/>
                    </a:moveTo>
                    <a:cubicBezTo>
                      <a:pt x="9772" y="721"/>
                      <a:pt x="9766" y="721"/>
                      <a:pt x="9760" y="723"/>
                    </a:cubicBezTo>
                    <a:cubicBezTo>
                      <a:pt x="9680" y="750"/>
                      <a:pt x="9591" y="785"/>
                      <a:pt x="9510" y="812"/>
                    </a:cubicBezTo>
                    <a:cubicBezTo>
                      <a:pt x="9484" y="821"/>
                      <a:pt x="9466" y="857"/>
                      <a:pt x="9475" y="892"/>
                    </a:cubicBezTo>
                    <a:cubicBezTo>
                      <a:pt x="9484" y="919"/>
                      <a:pt x="9510" y="937"/>
                      <a:pt x="9537" y="937"/>
                    </a:cubicBezTo>
                    <a:cubicBezTo>
                      <a:pt x="9537" y="937"/>
                      <a:pt x="9546" y="937"/>
                      <a:pt x="9555" y="928"/>
                    </a:cubicBezTo>
                    <a:cubicBezTo>
                      <a:pt x="9635" y="901"/>
                      <a:pt x="9715" y="875"/>
                      <a:pt x="9805" y="848"/>
                    </a:cubicBezTo>
                    <a:cubicBezTo>
                      <a:pt x="9831" y="839"/>
                      <a:pt x="9849" y="803"/>
                      <a:pt x="9840" y="767"/>
                    </a:cubicBezTo>
                    <a:cubicBezTo>
                      <a:pt x="9833" y="738"/>
                      <a:pt x="9807" y="721"/>
                      <a:pt x="9778" y="721"/>
                    </a:cubicBezTo>
                    <a:close/>
                    <a:moveTo>
                      <a:pt x="18185" y="548"/>
                    </a:moveTo>
                    <a:cubicBezTo>
                      <a:pt x="18158" y="548"/>
                      <a:pt x="18135" y="568"/>
                      <a:pt x="18128" y="589"/>
                    </a:cubicBezTo>
                    <a:cubicBezTo>
                      <a:pt x="18119" y="625"/>
                      <a:pt x="18137" y="660"/>
                      <a:pt x="18173" y="669"/>
                    </a:cubicBezTo>
                    <a:cubicBezTo>
                      <a:pt x="18458" y="759"/>
                      <a:pt x="18744" y="848"/>
                      <a:pt x="19029" y="946"/>
                    </a:cubicBezTo>
                    <a:cubicBezTo>
                      <a:pt x="19038" y="955"/>
                      <a:pt x="19038" y="955"/>
                      <a:pt x="19047" y="955"/>
                    </a:cubicBezTo>
                    <a:cubicBezTo>
                      <a:pt x="19074" y="955"/>
                      <a:pt x="19100" y="937"/>
                      <a:pt x="19109" y="910"/>
                    </a:cubicBezTo>
                    <a:cubicBezTo>
                      <a:pt x="19118" y="875"/>
                      <a:pt x="19100" y="839"/>
                      <a:pt x="19074" y="830"/>
                    </a:cubicBezTo>
                    <a:cubicBezTo>
                      <a:pt x="18788" y="723"/>
                      <a:pt x="18494" y="634"/>
                      <a:pt x="18208" y="553"/>
                    </a:cubicBezTo>
                    <a:cubicBezTo>
                      <a:pt x="18200" y="549"/>
                      <a:pt x="18192" y="548"/>
                      <a:pt x="18185" y="548"/>
                    </a:cubicBezTo>
                    <a:close/>
                    <a:moveTo>
                      <a:pt x="19286" y="912"/>
                    </a:moveTo>
                    <a:cubicBezTo>
                      <a:pt x="19262" y="912"/>
                      <a:pt x="19241" y="929"/>
                      <a:pt x="19234" y="955"/>
                    </a:cubicBezTo>
                    <a:cubicBezTo>
                      <a:pt x="19216" y="991"/>
                      <a:pt x="19234" y="1026"/>
                      <a:pt x="19270" y="1035"/>
                    </a:cubicBezTo>
                    <a:cubicBezTo>
                      <a:pt x="19511" y="1124"/>
                      <a:pt x="19752" y="1222"/>
                      <a:pt x="19984" y="1330"/>
                    </a:cubicBezTo>
                    <a:cubicBezTo>
                      <a:pt x="19993" y="1330"/>
                      <a:pt x="20001" y="1338"/>
                      <a:pt x="20010" y="1338"/>
                    </a:cubicBezTo>
                    <a:cubicBezTo>
                      <a:pt x="20028" y="1338"/>
                      <a:pt x="20055" y="1321"/>
                      <a:pt x="20064" y="1294"/>
                    </a:cubicBezTo>
                    <a:cubicBezTo>
                      <a:pt x="20082" y="1267"/>
                      <a:pt x="20064" y="1222"/>
                      <a:pt x="20037" y="1214"/>
                    </a:cubicBezTo>
                    <a:cubicBezTo>
                      <a:pt x="19796" y="1106"/>
                      <a:pt x="19555" y="1008"/>
                      <a:pt x="19315" y="919"/>
                    </a:cubicBezTo>
                    <a:cubicBezTo>
                      <a:pt x="19305" y="914"/>
                      <a:pt x="19295" y="912"/>
                      <a:pt x="19286" y="912"/>
                    </a:cubicBezTo>
                    <a:close/>
                    <a:moveTo>
                      <a:pt x="8691" y="1135"/>
                    </a:moveTo>
                    <a:cubicBezTo>
                      <a:pt x="8682" y="1135"/>
                      <a:pt x="8672" y="1137"/>
                      <a:pt x="8663" y="1142"/>
                    </a:cubicBezTo>
                    <a:cubicBezTo>
                      <a:pt x="8431" y="1240"/>
                      <a:pt x="8190" y="1356"/>
                      <a:pt x="7958" y="1472"/>
                    </a:cubicBezTo>
                    <a:cubicBezTo>
                      <a:pt x="7922" y="1481"/>
                      <a:pt x="7913" y="1526"/>
                      <a:pt x="7922" y="1553"/>
                    </a:cubicBezTo>
                    <a:cubicBezTo>
                      <a:pt x="7940" y="1579"/>
                      <a:pt x="7958" y="1588"/>
                      <a:pt x="7985" y="1588"/>
                    </a:cubicBezTo>
                    <a:cubicBezTo>
                      <a:pt x="7994" y="1588"/>
                      <a:pt x="8003" y="1588"/>
                      <a:pt x="8012" y="1579"/>
                    </a:cubicBezTo>
                    <a:cubicBezTo>
                      <a:pt x="8244" y="1472"/>
                      <a:pt x="8475" y="1365"/>
                      <a:pt x="8716" y="1258"/>
                    </a:cubicBezTo>
                    <a:cubicBezTo>
                      <a:pt x="8752" y="1249"/>
                      <a:pt x="8761" y="1205"/>
                      <a:pt x="8752" y="1178"/>
                    </a:cubicBezTo>
                    <a:cubicBezTo>
                      <a:pt x="8739" y="1152"/>
                      <a:pt x="8716" y="1135"/>
                      <a:pt x="8691" y="1135"/>
                    </a:cubicBezTo>
                    <a:close/>
                    <a:moveTo>
                      <a:pt x="20818" y="1597"/>
                    </a:moveTo>
                    <a:cubicBezTo>
                      <a:pt x="20796" y="1597"/>
                      <a:pt x="20775" y="1609"/>
                      <a:pt x="20769" y="1633"/>
                    </a:cubicBezTo>
                    <a:cubicBezTo>
                      <a:pt x="20751" y="1669"/>
                      <a:pt x="20760" y="1704"/>
                      <a:pt x="20795" y="1722"/>
                    </a:cubicBezTo>
                    <a:cubicBezTo>
                      <a:pt x="20867" y="1758"/>
                      <a:pt x="20947" y="1802"/>
                      <a:pt x="21018" y="1838"/>
                    </a:cubicBezTo>
                    <a:cubicBezTo>
                      <a:pt x="21027" y="1847"/>
                      <a:pt x="21036" y="1847"/>
                      <a:pt x="21054" y="1847"/>
                    </a:cubicBezTo>
                    <a:cubicBezTo>
                      <a:pt x="21072" y="1847"/>
                      <a:pt x="21099" y="1838"/>
                      <a:pt x="21108" y="1811"/>
                    </a:cubicBezTo>
                    <a:cubicBezTo>
                      <a:pt x="21126" y="1784"/>
                      <a:pt x="21117" y="1749"/>
                      <a:pt x="21081" y="1731"/>
                    </a:cubicBezTo>
                    <a:cubicBezTo>
                      <a:pt x="21010" y="1686"/>
                      <a:pt x="20929" y="1642"/>
                      <a:pt x="20849" y="1606"/>
                    </a:cubicBezTo>
                    <a:cubicBezTo>
                      <a:pt x="20840" y="1600"/>
                      <a:pt x="20829" y="1597"/>
                      <a:pt x="20818" y="1597"/>
                    </a:cubicBezTo>
                    <a:close/>
                    <a:moveTo>
                      <a:pt x="7757" y="1579"/>
                    </a:moveTo>
                    <a:cubicBezTo>
                      <a:pt x="7746" y="1579"/>
                      <a:pt x="7735" y="1582"/>
                      <a:pt x="7726" y="1588"/>
                    </a:cubicBezTo>
                    <a:cubicBezTo>
                      <a:pt x="7458" y="1722"/>
                      <a:pt x="7191" y="1874"/>
                      <a:pt x="6932" y="2025"/>
                    </a:cubicBezTo>
                    <a:cubicBezTo>
                      <a:pt x="6896" y="2052"/>
                      <a:pt x="6888" y="2088"/>
                      <a:pt x="6905" y="2115"/>
                    </a:cubicBezTo>
                    <a:cubicBezTo>
                      <a:pt x="6914" y="2141"/>
                      <a:pt x="6941" y="2150"/>
                      <a:pt x="6959" y="2150"/>
                    </a:cubicBezTo>
                    <a:cubicBezTo>
                      <a:pt x="6977" y="2150"/>
                      <a:pt x="6986" y="2150"/>
                      <a:pt x="6995" y="2141"/>
                    </a:cubicBezTo>
                    <a:cubicBezTo>
                      <a:pt x="7253" y="1990"/>
                      <a:pt x="7512" y="1838"/>
                      <a:pt x="7780" y="1704"/>
                    </a:cubicBezTo>
                    <a:cubicBezTo>
                      <a:pt x="7815" y="1686"/>
                      <a:pt x="7824" y="1642"/>
                      <a:pt x="7806" y="1615"/>
                    </a:cubicBezTo>
                    <a:cubicBezTo>
                      <a:pt x="7800" y="1591"/>
                      <a:pt x="7779" y="1579"/>
                      <a:pt x="7757" y="1579"/>
                    </a:cubicBezTo>
                    <a:close/>
                    <a:moveTo>
                      <a:pt x="6312" y="2437"/>
                    </a:moveTo>
                    <a:cubicBezTo>
                      <a:pt x="6298" y="2437"/>
                      <a:pt x="6283" y="2442"/>
                      <a:pt x="6272" y="2454"/>
                    </a:cubicBezTo>
                    <a:cubicBezTo>
                      <a:pt x="6201" y="2498"/>
                      <a:pt x="6129" y="2552"/>
                      <a:pt x="6058" y="2596"/>
                    </a:cubicBezTo>
                    <a:cubicBezTo>
                      <a:pt x="6031" y="2614"/>
                      <a:pt x="6022" y="2659"/>
                      <a:pt x="6040" y="2685"/>
                    </a:cubicBezTo>
                    <a:cubicBezTo>
                      <a:pt x="6058" y="2703"/>
                      <a:pt x="6076" y="2712"/>
                      <a:pt x="6094" y="2712"/>
                    </a:cubicBezTo>
                    <a:cubicBezTo>
                      <a:pt x="6102" y="2712"/>
                      <a:pt x="6120" y="2712"/>
                      <a:pt x="6129" y="2703"/>
                    </a:cubicBezTo>
                    <a:cubicBezTo>
                      <a:pt x="6201" y="2650"/>
                      <a:pt x="6272" y="2605"/>
                      <a:pt x="6343" y="2552"/>
                    </a:cubicBezTo>
                    <a:cubicBezTo>
                      <a:pt x="6370" y="2534"/>
                      <a:pt x="6379" y="2498"/>
                      <a:pt x="6361" y="2462"/>
                    </a:cubicBezTo>
                    <a:cubicBezTo>
                      <a:pt x="6351" y="2447"/>
                      <a:pt x="6331" y="2437"/>
                      <a:pt x="6312" y="2437"/>
                    </a:cubicBezTo>
                    <a:close/>
                    <a:moveTo>
                      <a:pt x="21724" y="2106"/>
                    </a:moveTo>
                    <a:cubicBezTo>
                      <a:pt x="21701" y="2106"/>
                      <a:pt x="21682" y="2118"/>
                      <a:pt x="21670" y="2141"/>
                    </a:cubicBezTo>
                    <a:cubicBezTo>
                      <a:pt x="21643" y="2168"/>
                      <a:pt x="21661" y="2213"/>
                      <a:pt x="21688" y="2231"/>
                    </a:cubicBezTo>
                    <a:cubicBezTo>
                      <a:pt x="21937" y="2382"/>
                      <a:pt x="22196" y="2552"/>
                      <a:pt x="22437" y="2721"/>
                    </a:cubicBezTo>
                    <a:cubicBezTo>
                      <a:pt x="22446" y="2730"/>
                      <a:pt x="22464" y="2739"/>
                      <a:pt x="22473" y="2739"/>
                    </a:cubicBezTo>
                    <a:cubicBezTo>
                      <a:pt x="22499" y="2739"/>
                      <a:pt x="22517" y="2730"/>
                      <a:pt x="22526" y="2712"/>
                    </a:cubicBezTo>
                    <a:cubicBezTo>
                      <a:pt x="22544" y="2677"/>
                      <a:pt x="22544" y="2641"/>
                      <a:pt x="22508" y="2623"/>
                    </a:cubicBezTo>
                    <a:cubicBezTo>
                      <a:pt x="22267" y="2445"/>
                      <a:pt x="22009" y="2275"/>
                      <a:pt x="21759" y="2115"/>
                    </a:cubicBezTo>
                    <a:cubicBezTo>
                      <a:pt x="21747" y="2109"/>
                      <a:pt x="21735" y="2106"/>
                      <a:pt x="21724" y="2106"/>
                    </a:cubicBezTo>
                    <a:close/>
                    <a:moveTo>
                      <a:pt x="22683" y="2759"/>
                    </a:moveTo>
                    <a:cubicBezTo>
                      <a:pt x="22663" y="2759"/>
                      <a:pt x="22644" y="2768"/>
                      <a:pt x="22633" y="2784"/>
                    </a:cubicBezTo>
                    <a:cubicBezTo>
                      <a:pt x="22615" y="2810"/>
                      <a:pt x="22615" y="2855"/>
                      <a:pt x="22642" y="2873"/>
                    </a:cubicBezTo>
                    <a:cubicBezTo>
                      <a:pt x="22856" y="3024"/>
                      <a:pt x="23061" y="3185"/>
                      <a:pt x="23258" y="3346"/>
                    </a:cubicBezTo>
                    <a:cubicBezTo>
                      <a:pt x="23267" y="3363"/>
                      <a:pt x="23284" y="3363"/>
                      <a:pt x="23293" y="3363"/>
                    </a:cubicBezTo>
                    <a:cubicBezTo>
                      <a:pt x="23311" y="3363"/>
                      <a:pt x="23329" y="3355"/>
                      <a:pt x="23347" y="3346"/>
                    </a:cubicBezTo>
                    <a:cubicBezTo>
                      <a:pt x="23365" y="3310"/>
                      <a:pt x="23365" y="3274"/>
                      <a:pt x="23338" y="3248"/>
                    </a:cubicBezTo>
                    <a:cubicBezTo>
                      <a:pt x="23142" y="3087"/>
                      <a:pt x="22928" y="2926"/>
                      <a:pt x="22722" y="2775"/>
                    </a:cubicBezTo>
                    <a:cubicBezTo>
                      <a:pt x="22711" y="2763"/>
                      <a:pt x="22697" y="2759"/>
                      <a:pt x="22683" y="2759"/>
                    </a:cubicBezTo>
                    <a:close/>
                    <a:moveTo>
                      <a:pt x="5370" y="3129"/>
                    </a:moveTo>
                    <a:cubicBezTo>
                      <a:pt x="5356" y="3129"/>
                      <a:pt x="5341" y="3133"/>
                      <a:pt x="5326" y="3140"/>
                    </a:cubicBezTo>
                    <a:cubicBezTo>
                      <a:pt x="5130" y="3310"/>
                      <a:pt x="4925" y="3479"/>
                      <a:pt x="4738" y="3649"/>
                    </a:cubicBezTo>
                    <a:cubicBezTo>
                      <a:pt x="4711" y="3676"/>
                      <a:pt x="4711" y="3711"/>
                      <a:pt x="4729" y="3738"/>
                    </a:cubicBezTo>
                    <a:cubicBezTo>
                      <a:pt x="4746" y="3756"/>
                      <a:pt x="4764" y="3765"/>
                      <a:pt x="4782" y="3765"/>
                    </a:cubicBezTo>
                    <a:cubicBezTo>
                      <a:pt x="4791" y="3765"/>
                      <a:pt x="4809" y="3756"/>
                      <a:pt x="4818" y="3747"/>
                    </a:cubicBezTo>
                    <a:cubicBezTo>
                      <a:pt x="5014" y="3578"/>
                      <a:pt x="5210" y="3408"/>
                      <a:pt x="5407" y="3248"/>
                    </a:cubicBezTo>
                    <a:cubicBezTo>
                      <a:pt x="5442" y="3221"/>
                      <a:pt x="5442" y="3185"/>
                      <a:pt x="5424" y="3158"/>
                    </a:cubicBezTo>
                    <a:cubicBezTo>
                      <a:pt x="5409" y="3137"/>
                      <a:pt x="5390" y="3129"/>
                      <a:pt x="5370" y="3129"/>
                    </a:cubicBezTo>
                    <a:close/>
                    <a:moveTo>
                      <a:pt x="23975" y="3834"/>
                    </a:moveTo>
                    <a:cubicBezTo>
                      <a:pt x="23958" y="3834"/>
                      <a:pt x="23940" y="3841"/>
                      <a:pt x="23927" y="3854"/>
                    </a:cubicBezTo>
                    <a:cubicBezTo>
                      <a:pt x="23909" y="3881"/>
                      <a:pt x="23909" y="3917"/>
                      <a:pt x="23936" y="3943"/>
                    </a:cubicBezTo>
                    <a:cubicBezTo>
                      <a:pt x="23998" y="4006"/>
                      <a:pt x="24061" y="4059"/>
                      <a:pt x="24114" y="4122"/>
                    </a:cubicBezTo>
                    <a:cubicBezTo>
                      <a:pt x="24132" y="4131"/>
                      <a:pt x="24150" y="4140"/>
                      <a:pt x="24159" y="4140"/>
                    </a:cubicBezTo>
                    <a:cubicBezTo>
                      <a:pt x="24177" y="4140"/>
                      <a:pt x="24194" y="4131"/>
                      <a:pt x="24212" y="4122"/>
                    </a:cubicBezTo>
                    <a:cubicBezTo>
                      <a:pt x="24230" y="4095"/>
                      <a:pt x="24230" y="4050"/>
                      <a:pt x="24212" y="4033"/>
                    </a:cubicBezTo>
                    <a:cubicBezTo>
                      <a:pt x="24150" y="3970"/>
                      <a:pt x="24087" y="3908"/>
                      <a:pt x="24016" y="3854"/>
                    </a:cubicBezTo>
                    <a:cubicBezTo>
                      <a:pt x="24007" y="3841"/>
                      <a:pt x="23991" y="3834"/>
                      <a:pt x="23975" y="3834"/>
                    </a:cubicBezTo>
                    <a:close/>
                    <a:moveTo>
                      <a:pt x="4590" y="3807"/>
                    </a:moveTo>
                    <a:cubicBezTo>
                      <a:pt x="4573" y="3807"/>
                      <a:pt x="4555" y="3814"/>
                      <a:pt x="4541" y="3827"/>
                    </a:cubicBezTo>
                    <a:cubicBezTo>
                      <a:pt x="4327" y="4033"/>
                      <a:pt x="4104" y="4247"/>
                      <a:pt x="3899" y="4470"/>
                    </a:cubicBezTo>
                    <a:cubicBezTo>
                      <a:pt x="3872" y="4488"/>
                      <a:pt x="3872" y="4532"/>
                      <a:pt x="3899" y="4559"/>
                    </a:cubicBezTo>
                    <a:cubicBezTo>
                      <a:pt x="3917" y="4568"/>
                      <a:pt x="3926" y="4577"/>
                      <a:pt x="3944" y="4577"/>
                    </a:cubicBezTo>
                    <a:cubicBezTo>
                      <a:pt x="3961" y="4577"/>
                      <a:pt x="3979" y="4568"/>
                      <a:pt x="3988" y="4550"/>
                    </a:cubicBezTo>
                    <a:cubicBezTo>
                      <a:pt x="4193" y="4336"/>
                      <a:pt x="4416" y="4122"/>
                      <a:pt x="4630" y="3917"/>
                    </a:cubicBezTo>
                    <a:cubicBezTo>
                      <a:pt x="4657" y="3899"/>
                      <a:pt x="4657" y="3854"/>
                      <a:pt x="4639" y="3827"/>
                    </a:cubicBezTo>
                    <a:cubicBezTo>
                      <a:pt x="4626" y="3814"/>
                      <a:pt x="4608" y="3807"/>
                      <a:pt x="4590" y="3807"/>
                    </a:cubicBezTo>
                    <a:close/>
                    <a:moveTo>
                      <a:pt x="3431" y="5024"/>
                    </a:moveTo>
                    <a:cubicBezTo>
                      <a:pt x="3411" y="5024"/>
                      <a:pt x="3392" y="5034"/>
                      <a:pt x="3382" y="5050"/>
                    </a:cubicBezTo>
                    <a:cubicBezTo>
                      <a:pt x="3319" y="5112"/>
                      <a:pt x="3266" y="5174"/>
                      <a:pt x="3212" y="5246"/>
                    </a:cubicBezTo>
                    <a:cubicBezTo>
                      <a:pt x="3194" y="5273"/>
                      <a:pt x="3194" y="5317"/>
                      <a:pt x="3221" y="5335"/>
                    </a:cubicBezTo>
                    <a:cubicBezTo>
                      <a:pt x="3230" y="5344"/>
                      <a:pt x="3248" y="5353"/>
                      <a:pt x="3266" y="5353"/>
                    </a:cubicBezTo>
                    <a:cubicBezTo>
                      <a:pt x="3283" y="5353"/>
                      <a:pt x="3301" y="5344"/>
                      <a:pt x="3310" y="5326"/>
                    </a:cubicBezTo>
                    <a:cubicBezTo>
                      <a:pt x="3364" y="5264"/>
                      <a:pt x="3426" y="5192"/>
                      <a:pt x="3480" y="5130"/>
                    </a:cubicBezTo>
                    <a:cubicBezTo>
                      <a:pt x="3498" y="5103"/>
                      <a:pt x="3498" y="5058"/>
                      <a:pt x="3471" y="5041"/>
                    </a:cubicBezTo>
                    <a:cubicBezTo>
                      <a:pt x="3460" y="5029"/>
                      <a:pt x="3445" y="5024"/>
                      <a:pt x="3431" y="5024"/>
                    </a:cubicBezTo>
                    <a:close/>
                    <a:moveTo>
                      <a:pt x="24707" y="4566"/>
                    </a:moveTo>
                    <a:cubicBezTo>
                      <a:pt x="24689" y="4566"/>
                      <a:pt x="24672" y="4572"/>
                      <a:pt x="24658" y="4586"/>
                    </a:cubicBezTo>
                    <a:cubicBezTo>
                      <a:pt x="24631" y="4612"/>
                      <a:pt x="24631" y="4648"/>
                      <a:pt x="24658" y="4675"/>
                    </a:cubicBezTo>
                    <a:cubicBezTo>
                      <a:pt x="24863" y="4898"/>
                      <a:pt x="25060" y="5121"/>
                      <a:pt x="25247" y="5353"/>
                    </a:cubicBezTo>
                    <a:cubicBezTo>
                      <a:pt x="25265" y="5371"/>
                      <a:pt x="25283" y="5380"/>
                      <a:pt x="25301" y="5380"/>
                    </a:cubicBezTo>
                    <a:cubicBezTo>
                      <a:pt x="25309" y="5380"/>
                      <a:pt x="25327" y="5380"/>
                      <a:pt x="25336" y="5362"/>
                    </a:cubicBezTo>
                    <a:cubicBezTo>
                      <a:pt x="25363" y="5344"/>
                      <a:pt x="25372" y="5299"/>
                      <a:pt x="25345" y="5273"/>
                    </a:cubicBezTo>
                    <a:cubicBezTo>
                      <a:pt x="25158" y="5041"/>
                      <a:pt x="24953" y="4809"/>
                      <a:pt x="24756" y="4586"/>
                    </a:cubicBezTo>
                    <a:cubicBezTo>
                      <a:pt x="24743" y="4572"/>
                      <a:pt x="24725" y="4566"/>
                      <a:pt x="24707" y="4566"/>
                    </a:cubicBezTo>
                    <a:close/>
                    <a:moveTo>
                      <a:pt x="25460" y="5453"/>
                    </a:moveTo>
                    <a:cubicBezTo>
                      <a:pt x="25446" y="5453"/>
                      <a:pt x="25431" y="5458"/>
                      <a:pt x="25417" y="5469"/>
                    </a:cubicBezTo>
                    <a:cubicBezTo>
                      <a:pt x="25390" y="5487"/>
                      <a:pt x="25390" y="5531"/>
                      <a:pt x="25408" y="5558"/>
                    </a:cubicBezTo>
                    <a:cubicBezTo>
                      <a:pt x="25568" y="5763"/>
                      <a:pt x="25720" y="5968"/>
                      <a:pt x="25872" y="6183"/>
                    </a:cubicBezTo>
                    <a:cubicBezTo>
                      <a:pt x="25880" y="6200"/>
                      <a:pt x="25898" y="6209"/>
                      <a:pt x="25925" y="6209"/>
                    </a:cubicBezTo>
                    <a:cubicBezTo>
                      <a:pt x="25934" y="6209"/>
                      <a:pt x="25943" y="6200"/>
                      <a:pt x="25961" y="6191"/>
                    </a:cubicBezTo>
                    <a:cubicBezTo>
                      <a:pt x="25987" y="6174"/>
                      <a:pt x="25996" y="6138"/>
                      <a:pt x="25979" y="6102"/>
                    </a:cubicBezTo>
                    <a:cubicBezTo>
                      <a:pt x="25827" y="5897"/>
                      <a:pt x="25666" y="5683"/>
                      <a:pt x="25506" y="5478"/>
                    </a:cubicBezTo>
                    <a:cubicBezTo>
                      <a:pt x="25495" y="5462"/>
                      <a:pt x="25479" y="5453"/>
                      <a:pt x="25460" y="5453"/>
                    </a:cubicBezTo>
                    <a:close/>
                    <a:moveTo>
                      <a:pt x="2717" y="5941"/>
                    </a:moveTo>
                    <a:cubicBezTo>
                      <a:pt x="2697" y="5941"/>
                      <a:pt x="2676" y="5951"/>
                      <a:pt x="2659" y="5968"/>
                    </a:cubicBezTo>
                    <a:cubicBezTo>
                      <a:pt x="2507" y="6174"/>
                      <a:pt x="2365" y="6397"/>
                      <a:pt x="2222" y="6611"/>
                    </a:cubicBezTo>
                    <a:cubicBezTo>
                      <a:pt x="2204" y="6646"/>
                      <a:pt x="2213" y="6682"/>
                      <a:pt x="2240" y="6700"/>
                    </a:cubicBezTo>
                    <a:cubicBezTo>
                      <a:pt x="2257" y="6709"/>
                      <a:pt x="2266" y="6709"/>
                      <a:pt x="2275" y="6709"/>
                    </a:cubicBezTo>
                    <a:cubicBezTo>
                      <a:pt x="2302" y="6709"/>
                      <a:pt x="2320" y="6700"/>
                      <a:pt x="2329" y="6682"/>
                    </a:cubicBezTo>
                    <a:cubicBezTo>
                      <a:pt x="2472" y="6468"/>
                      <a:pt x="2614" y="6254"/>
                      <a:pt x="2766" y="6040"/>
                    </a:cubicBezTo>
                    <a:cubicBezTo>
                      <a:pt x="2784" y="6013"/>
                      <a:pt x="2775" y="5977"/>
                      <a:pt x="2748" y="5951"/>
                    </a:cubicBezTo>
                    <a:cubicBezTo>
                      <a:pt x="2739" y="5944"/>
                      <a:pt x="2728" y="5941"/>
                      <a:pt x="2717" y="5941"/>
                    </a:cubicBezTo>
                    <a:close/>
                    <a:moveTo>
                      <a:pt x="26415" y="6834"/>
                    </a:moveTo>
                    <a:cubicBezTo>
                      <a:pt x="26404" y="6834"/>
                      <a:pt x="26392" y="6837"/>
                      <a:pt x="26380" y="6843"/>
                    </a:cubicBezTo>
                    <a:cubicBezTo>
                      <a:pt x="26353" y="6861"/>
                      <a:pt x="26344" y="6905"/>
                      <a:pt x="26362" y="6932"/>
                    </a:cubicBezTo>
                    <a:cubicBezTo>
                      <a:pt x="26407" y="7003"/>
                      <a:pt x="26451" y="7084"/>
                      <a:pt x="26496" y="7155"/>
                    </a:cubicBezTo>
                    <a:cubicBezTo>
                      <a:pt x="26505" y="7173"/>
                      <a:pt x="26523" y="7191"/>
                      <a:pt x="26550" y="7191"/>
                    </a:cubicBezTo>
                    <a:cubicBezTo>
                      <a:pt x="26558" y="7191"/>
                      <a:pt x="26567" y="7182"/>
                      <a:pt x="26585" y="7182"/>
                    </a:cubicBezTo>
                    <a:cubicBezTo>
                      <a:pt x="26612" y="7164"/>
                      <a:pt x="26621" y="7119"/>
                      <a:pt x="26603" y="7092"/>
                    </a:cubicBezTo>
                    <a:cubicBezTo>
                      <a:pt x="26558" y="7012"/>
                      <a:pt x="26514" y="6941"/>
                      <a:pt x="26469" y="6869"/>
                    </a:cubicBezTo>
                    <a:cubicBezTo>
                      <a:pt x="26457" y="6846"/>
                      <a:pt x="26437" y="6834"/>
                      <a:pt x="26415" y="6834"/>
                    </a:cubicBezTo>
                    <a:close/>
                    <a:moveTo>
                      <a:pt x="2142" y="6798"/>
                    </a:moveTo>
                    <a:cubicBezTo>
                      <a:pt x="2120" y="6798"/>
                      <a:pt x="2100" y="6810"/>
                      <a:pt x="2088" y="6834"/>
                    </a:cubicBezTo>
                    <a:cubicBezTo>
                      <a:pt x="1927" y="7092"/>
                      <a:pt x="1776" y="7360"/>
                      <a:pt x="1642" y="7619"/>
                    </a:cubicBezTo>
                    <a:cubicBezTo>
                      <a:pt x="1624" y="7654"/>
                      <a:pt x="1633" y="7690"/>
                      <a:pt x="1669" y="7708"/>
                    </a:cubicBezTo>
                    <a:cubicBezTo>
                      <a:pt x="1678" y="7717"/>
                      <a:pt x="1687" y="7717"/>
                      <a:pt x="1695" y="7717"/>
                    </a:cubicBezTo>
                    <a:cubicBezTo>
                      <a:pt x="1713" y="7717"/>
                      <a:pt x="1740" y="7708"/>
                      <a:pt x="1749" y="7681"/>
                    </a:cubicBezTo>
                    <a:cubicBezTo>
                      <a:pt x="1892" y="7423"/>
                      <a:pt x="2043" y="7155"/>
                      <a:pt x="2195" y="6896"/>
                    </a:cubicBezTo>
                    <a:cubicBezTo>
                      <a:pt x="2213" y="6869"/>
                      <a:pt x="2204" y="6834"/>
                      <a:pt x="2177" y="6807"/>
                    </a:cubicBezTo>
                    <a:cubicBezTo>
                      <a:pt x="2165" y="6801"/>
                      <a:pt x="2153" y="6798"/>
                      <a:pt x="2142" y="6798"/>
                    </a:cubicBezTo>
                    <a:close/>
                    <a:moveTo>
                      <a:pt x="1355" y="8281"/>
                    </a:moveTo>
                    <a:cubicBezTo>
                      <a:pt x="1330" y="8281"/>
                      <a:pt x="1307" y="8297"/>
                      <a:pt x="1294" y="8324"/>
                    </a:cubicBezTo>
                    <a:cubicBezTo>
                      <a:pt x="1258" y="8395"/>
                      <a:pt x="1223" y="8475"/>
                      <a:pt x="1187" y="8556"/>
                    </a:cubicBezTo>
                    <a:cubicBezTo>
                      <a:pt x="1169" y="8591"/>
                      <a:pt x="1187" y="8627"/>
                      <a:pt x="1223" y="8645"/>
                    </a:cubicBezTo>
                    <a:lnTo>
                      <a:pt x="1249" y="8645"/>
                    </a:lnTo>
                    <a:cubicBezTo>
                      <a:pt x="1267" y="8645"/>
                      <a:pt x="1294" y="8636"/>
                      <a:pt x="1303" y="8609"/>
                    </a:cubicBezTo>
                    <a:cubicBezTo>
                      <a:pt x="1339" y="8529"/>
                      <a:pt x="1374" y="8448"/>
                      <a:pt x="1410" y="8377"/>
                    </a:cubicBezTo>
                    <a:cubicBezTo>
                      <a:pt x="1428" y="8341"/>
                      <a:pt x="1410" y="8306"/>
                      <a:pt x="1383" y="8288"/>
                    </a:cubicBezTo>
                    <a:cubicBezTo>
                      <a:pt x="1374" y="8283"/>
                      <a:pt x="1364" y="8281"/>
                      <a:pt x="1355" y="8281"/>
                    </a:cubicBezTo>
                    <a:close/>
                    <a:moveTo>
                      <a:pt x="26914" y="7740"/>
                    </a:moveTo>
                    <a:cubicBezTo>
                      <a:pt x="26905" y="7740"/>
                      <a:pt x="26897" y="7742"/>
                      <a:pt x="26889" y="7744"/>
                    </a:cubicBezTo>
                    <a:cubicBezTo>
                      <a:pt x="26862" y="7762"/>
                      <a:pt x="26853" y="7806"/>
                      <a:pt x="26862" y="7833"/>
                    </a:cubicBezTo>
                    <a:cubicBezTo>
                      <a:pt x="27004" y="8101"/>
                      <a:pt x="27129" y="8377"/>
                      <a:pt x="27245" y="8654"/>
                    </a:cubicBezTo>
                    <a:cubicBezTo>
                      <a:pt x="27263" y="8671"/>
                      <a:pt x="27281" y="8689"/>
                      <a:pt x="27308" y="8689"/>
                    </a:cubicBezTo>
                    <a:cubicBezTo>
                      <a:pt x="27317" y="8689"/>
                      <a:pt x="27326" y="8689"/>
                      <a:pt x="27335" y="8680"/>
                    </a:cubicBezTo>
                    <a:cubicBezTo>
                      <a:pt x="27370" y="8671"/>
                      <a:pt x="27379" y="8636"/>
                      <a:pt x="27370" y="8600"/>
                    </a:cubicBezTo>
                    <a:cubicBezTo>
                      <a:pt x="27245" y="8324"/>
                      <a:pt x="27120" y="8047"/>
                      <a:pt x="26978" y="7779"/>
                    </a:cubicBezTo>
                    <a:cubicBezTo>
                      <a:pt x="26964" y="7752"/>
                      <a:pt x="26940" y="7740"/>
                      <a:pt x="26914" y="7740"/>
                    </a:cubicBezTo>
                    <a:close/>
                    <a:moveTo>
                      <a:pt x="27412" y="8798"/>
                    </a:moveTo>
                    <a:cubicBezTo>
                      <a:pt x="27404" y="8798"/>
                      <a:pt x="27395" y="8801"/>
                      <a:pt x="27388" y="8805"/>
                    </a:cubicBezTo>
                    <a:cubicBezTo>
                      <a:pt x="27352" y="8814"/>
                      <a:pt x="27335" y="8859"/>
                      <a:pt x="27352" y="8886"/>
                    </a:cubicBezTo>
                    <a:cubicBezTo>
                      <a:pt x="27451" y="9126"/>
                      <a:pt x="27540" y="9367"/>
                      <a:pt x="27629" y="9608"/>
                    </a:cubicBezTo>
                    <a:cubicBezTo>
                      <a:pt x="27638" y="9635"/>
                      <a:pt x="27656" y="9653"/>
                      <a:pt x="27682" y="9653"/>
                    </a:cubicBezTo>
                    <a:lnTo>
                      <a:pt x="27709" y="9653"/>
                    </a:lnTo>
                    <a:cubicBezTo>
                      <a:pt x="27745" y="9635"/>
                      <a:pt x="27763" y="9599"/>
                      <a:pt x="27745" y="9573"/>
                    </a:cubicBezTo>
                    <a:cubicBezTo>
                      <a:pt x="27665" y="9323"/>
                      <a:pt x="27567" y="9082"/>
                      <a:pt x="27468" y="8841"/>
                    </a:cubicBezTo>
                    <a:cubicBezTo>
                      <a:pt x="27462" y="8815"/>
                      <a:pt x="27436" y="8798"/>
                      <a:pt x="27412" y="8798"/>
                    </a:cubicBezTo>
                    <a:close/>
                    <a:moveTo>
                      <a:pt x="919" y="9356"/>
                    </a:moveTo>
                    <a:cubicBezTo>
                      <a:pt x="890" y="9356"/>
                      <a:pt x="863" y="9373"/>
                      <a:pt x="848" y="9403"/>
                    </a:cubicBezTo>
                    <a:cubicBezTo>
                      <a:pt x="759" y="9644"/>
                      <a:pt x="678" y="9894"/>
                      <a:pt x="607" y="10143"/>
                    </a:cubicBezTo>
                    <a:cubicBezTo>
                      <a:pt x="598" y="10170"/>
                      <a:pt x="616" y="10206"/>
                      <a:pt x="652" y="10224"/>
                    </a:cubicBezTo>
                    <a:lnTo>
                      <a:pt x="670" y="10224"/>
                    </a:lnTo>
                    <a:cubicBezTo>
                      <a:pt x="696" y="10224"/>
                      <a:pt x="723" y="10206"/>
                      <a:pt x="732" y="10179"/>
                    </a:cubicBezTo>
                    <a:cubicBezTo>
                      <a:pt x="803" y="9929"/>
                      <a:pt x="884" y="9688"/>
                      <a:pt x="973" y="9448"/>
                    </a:cubicBezTo>
                    <a:cubicBezTo>
                      <a:pt x="982" y="9412"/>
                      <a:pt x="964" y="9376"/>
                      <a:pt x="937" y="9358"/>
                    </a:cubicBezTo>
                    <a:cubicBezTo>
                      <a:pt x="931" y="9357"/>
                      <a:pt x="925" y="9356"/>
                      <a:pt x="919" y="9356"/>
                    </a:cubicBezTo>
                    <a:close/>
                    <a:moveTo>
                      <a:pt x="27959" y="10391"/>
                    </a:moveTo>
                    <a:cubicBezTo>
                      <a:pt x="27953" y="10391"/>
                      <a:pt x="27947" y="10392"/>
                      <a:pt x="27941" y="10393"/>
                    </a:cubicBezTo>
                    <a:cubicBezTo>
                      <a:pt x="27906" y="10402"/>
                      <a:pt x="27888" y="10438"/>
                      <a:pt x="27897" y="10474"/>
                    </a:cubicBezTo>
                    <a:cubicBezTo>
                      <a:pt x="27914" y="10554"/>
                      <a:pt x="27941" y="10634"/>
                      <a:pt x="27959" y="10723"/>
                    </a:cubicBezTo>
                    <a:cubicBezTo>
                      <a:pt x="27968" y="10750"/>
                      <a:pt x="27995" y="10768"/>
                      <a:pt x="28021" y="10768"/>
                    </a:cubicBezTo>
                    <a:lnTo>
                      <a:pt x="28039" y="10768"/>
                    </a:lnTo>
                    <a:cubicBezTo>
                      <a:pt x="28075" y="10759"/>
                      <a:pt x="28093" y="10723"/>
                      <a:pt x="28084" y="10688"/>
                    </a:cubicBezTo>
                    <a:cubicBezTo>
                      <a:pt x="28066" y="10607"/>
                      <a:pt x="28039" y="10518"/>
                      <a:pt x="28021" y="10438"/>
                    </a:cubicBezTo>
                    <a:cubicBezTo>
                      <a:pt x="28014" y="10408"/>
                      <a:pt x="27988" y="10391"/>
                      <a:pt x="27959" y="10391"/>
                    </a:cubicBezTo>
                    <a:close/>
                    <a:moveTo>
                      <a:pt x="602" y="10338"/>
                    </a:moveTo>
                    <a:cubicBezTo>
                      <a:pt x="571" y="10338"/>
                      <a:pt x="543" y="10361"/>
                      <a:pt x="536" y="10384"/>
                    </a:cubicBezTo>
                    <a:cubicBezTo>
                      <a:pt x="447" y="10679"/>
                      <a:pt x="375" y="10973"/>
                      <a:pt x="313" y="11267"/>
                    </a:cubicBezTo>
                    <a:cubicBezTo>
                      <a:pt x="304" y="11303"/>
                      <a:pt x="331" y="11339"/>
                      <a:pt x="366" y="11348"/>
                    </a:cubicBezTo>
                    <a:lnTo>
                      <a:pt x="375" y="11348"/>
                    </a:lnTo>
                    <a:cubicBezTo>
                      <a:pt x="402" y="11348"/>
                      <a:pt x="429" y="11330"/>
                      <a:pt x="438" y="11294"/>
                    </a:cubicBezTo>
                    <a:cubicBezTo>
                      <a:pt x="500" y="11009"/>
                      <a:pt x="571" y="10714"/>
                      <a:pt x="652" y="10420"/>
                    </a:cubicBezTo>
                    <a:cubicBezTo>
                      <a:pt x="670" y="10393"/>
                      <a:pt x="643" y="10358"/>
                      <a:pt x="616" y="10340"/>
                    </a:cubicBezTo>
                    <a:cubicBezTo>
                      <a:pt x="611" y="10339"/>
                      <a:pt x="606" y="10338"/>
                      <a:pt x="602" y="10338"/>
                    </a:cubicBezTo>
                    <a:close/>
                    <a:moveTo>
                      <a:pt x="241" y="11981"/>
                    </a:moveTo>
                    <a:cubicBezTo>
                      <a:pt x="215" y="11981"/>
                      <a:pt x="179" y="11999"/>
                      <a:pt x="170" y="12035"/>
                    </a:cubicBezTo>
                    <a:cubicBezTo>
                      <a:pt x="161" y="12124"/>
                      <a:pt x="143" y="12204"/>
                      <a:pt x="134" y="12293"/>
                    </a:cubicBezTo>
                    <a:cubicBezTo>
                      <a:pt x="125" y="12329"/>
                      <a:pt x="152" y="12365"/>
                      <a:pt x="188" y="12365"/>
                    </a:cubicBezTo>
                    <a:lnTo>
                      <a:pt x="197" y="12365"/>
                    </a:lnTo>
                    <a:cubicBezTo>
                      <a:pt x="232" y="12365"/>
                      <a:pt x="259" y="12347"/>
                      <a:pt x="259" y="12311"/>
                    </a:cubicBezTo>
                    <a:cubicBezTo>
                      <a:pt x="277" y="12231"/>
                      <a:pt x="286" y="12142"/>
                      <a:pt x="295" y="12061"/>
                    </a:cubicBezTo>
                    <a:cubicBezTo>
                      <a:pt x="304" y="12026"/>
                      <a:pt x="277" y="11990"/>
                      <a:pt x="241" y="11981"/>
                    </a:cubicBezTo>
                    <a:close/>
                    <a:moveTo>
                      <a:pt x="28182" y="11392"/>
                    </a:moveTo>
                    <a:cubicBezTo>
                      <a:pt x="28146" y="11401"/>
                      <a:pt x="28129" y="11437"/>
                      <a:pt x="28137" y="11473"/>
                    </a:cubicBezTo>
                    <a:cubicBezTo>
                      <a:pt x="28191" y="11767"/>
                      <a:pt x="28245" y="12061"/>
                      <a:pt x="28280" y="12365"/>
                    </a:cubicBezTo>
                    <a:cubicBezTo>
                      <a:pt x="28289" y="12392"/>
                      <a:pt x="28316" y="12418"/>
                      <a:pt x="28343" y="12418"/>
                    </a:cubicBezTo>
                    <a:lnTo>
                      <a:pt x="28352" y="12418"/>
                    </a:lnTo>
                    <a:cubicBezTo>
                      <a:pt x="28387" y="12409"/>
                      <a:pt x="28414" y="12383"/>
                      <a:pt x="28414" y="12347"/>
                    </a:cubicBezTo>
                    <a:cubicBezTo>
                      <a:pt x="28369" y="12044"/>
                      <a:pt x="28316" y="11740"/>
                      <a:pt x="28262" y="11446"/>
                    </a:cubicBezTo>
                    <a:cubicBezTo>
                      <a:pt x="28253" y="11410"/>
                      <a:pt x="28218" y="11392"/>
                      <a:pt x="28182" y="11392"/>
                    </a:cubicBezTo>
                    <a:close/>
                    <a:moveTo>
                      <a:pt x="28369" y="12543"/>
                    </a:moveTo>
                    <a:cubicBezTo>
                      <a:pt x="28334" y="12552"/>
                      <a:pt x="28307" y="12579"/>
                      <a:pt x="28316" y="12615"/>
                    </a:cubicBezTo>
                    <a:cubicBezTo>
                      <a:pt x="28343" y="12873"/>
                      <a:pt x="28369" y="13132"/>
                      <a:pt x="28387" y="13382"/>
                    </a:cubicBezTo>
                    <a:cubicBezTo>
                      <a:pt x="28387" y="13417"/>
                      <a:pt x="28414" y="13444"/>
                      <a:pt x="28450" y="13444"/>
                    </a:cubicBezTo>
                    <a:cubicBezTo>
                      <a:pt x="28485" y="13444"/>
                      <a:pt x="28512" y="13417"/>
                      <a:pt x="28512" y="13382"/>
                    </a:cubicBezTo>
                    <a:cubicBezTo>
                      <a:pt x="28494" y="13123"/>
                      <a:pt x="28476" y="12855"/>
                      <a:pt x="28441" y="12606"/>
                    </a:cubicBezTo>
                    <a:cubicBezTo>
                      <a:pt x="28441" y="12570"/>
                      <a:pt x="28405" y="12543"/>
                      <a:pt x="28369" y="12543"/>
                    </a:cubicBezTo>
                    <a:close/>
                    <a:moveTo>
                      <a:pt x="94" y="13139"/>
                    </a:moveTo>
                    <a:cubicBezTo>
                      <a:pt x="63" y="13139"/>
                      <a:pt x="36" y="13163"/>
                      <a:pt x="36" y="13194"/>
                    </a:cubicBezTo>
                    <a:cubicBezTo>
                      <a:pt x="18" y="13453"/>
                      <a:pt x="9" y="13721"/>
                      <a:pt x="0" y="13979"/>
                    </a:cubicBezTo>
                    <a:cubicBezTo>
                      <a:pt x="0" y="14015"/>
                      <a:pt x="27" y="14042"/>
                      <a:pt x="63" y="14042"/>
                    </a:cubicBezTo>
                    <a:cubicBezTo>
                      <a:pt x="99" y="14042"/>
                      <a:pt x="125" y="14015"/>
                      <a:pt x="125" y="13979"/>
                    </a:cubicBezTo>
                    <a:cubicBezTo>
                      <a:pt x="134" y="13721"/>
                      <a:pt x="143" y="13462"/>
                      <a:pt x="170" y="13212"/>
                    </a:cubicBezTo>
                    <a:cubicBezTo>
                      <a:pt x="170" y="13177"/>
                      <a:pt x="143" y="13141"/>
                      <a:pt x="108" y="13141"/>
                    </a:cubicBezTo>
                    <a:cubicBezTo>
                      <a:pt x="103" y="13140"/>
                      <a:pt x="98" y="13139"/>
                      <a:pt x="94" y="13139"/>
                    </a:cubicBezTo>
                    <a:close/>
                    <a:moveTo>
                      <a:pt x="28476" y="14220"/>
                    </a:moveTo>
                    <a:cubicBezTo>
                      <a:pt x="28441" y="14220"/>
                      <a:pt x="28414" y="14247"/>
                      <a:pt x="28414" y="14283"/>
                    </a:cubicBezTo>
                    <a:cubicBezTo>
                      <a:pt x="28414" y="14372"/>
                      <a:pt x="28405" y="14461"/>
                      <a:pt x="28405" y="14541"/>
                    </a:cubicBezTo>
                    <a:cubicBezTo>
                      <a:pt x="28405" y="14577"/>
                      <a:pt x="28432" y="14613"/>
                      <a:pt x="28468" y="14613"/>
                    </a:cubicBezTo>
                    <a:lnTo>
                      <a:pt x="28476" y="14613"/>
                    </a:lnTo>
                    <a:cubicBezTo>
                      <a:pt x="28503" y="14613"/>
                      <a:pt x="28539" y="14577"/>
                      <a:pt x="28539" y="14550"/>
                    </a:cubicBezTo>
                    <a:cubicBezTo>
                      <a:pt x="28539" y="14461"/>
                      <a:pt x="28539" y="14372"/>
                      <a:pt x="28539" y="14283"/>
                    </a:cubicBezTo>
                    <a:cubicBezTo>
                      <a:pt x="28539" y="14247"/>
                      <a:pt x="28512" y="14220"/>
                      <a:pt x="28476" y="14220"/>
                    </a:cubicBezTo>
                    <a:close/>
                    <a:moveTo>
                      <a:pt x="63" y="14176"/>
                    </a:moveTo>
                    <a:cubicBezTo>
                      <a:pt x="27" y="14176"/>
                      <a:pt x="0" y="14202"/>
                      <a:pt x="0" y="14238"/>
                    </a:cubicBezTo>
                    <a:lnTo>
                      <a:pt x="0" y="14274"/>
                    </a:lnTo>
                    <a:cubicBezTo>
                      <a:pt x="0" y="14568"/>
                      <a:pt x="9" y="14880"/>
                      <a:pt x="27" y="15175"/>
                    </a:cubicBezTo>
                    <a:cubicBezTo>
                      <a:pt x="27" y="15211"/>
                      <a:pt x="54" y="15237"/>
                      <a:pt x="90" y="15237"/>
                    </a:cubicBezTo>
                    <a:lnTo>
                      <a:pt x="99" y="15237"/>
                    </a:lnTo>
                    <a:cubicBezTo>
                      <a:pt x="134" y="15237"/>
                      <a:pt x="161" y="15202"/>
                      <a:pt x="152" y="15175"/>
                    </a:cubicBezTo>
                    <a:cubicBezTo>
                      <a:pt x="134" y="14872"/>
                      <a:pt x="125" y="14568"/>
                      <a:pt x="125" y="14274"/>
                    </a:cubicBezTo>
                    <a:lnTo>
                      <a:pt x="125" y="14238"/>
                    </a:lnTo>
                    <a:cubicBezTo>
                      <a:pt x="125" y="14202"/>
                      <a:pt x="99" y="14176"/>
                      <a:pt x="63" y="14176"/>
                    </a:cubicBezTo>
                    <a:close/>
                    <a:moveTo>
                      <a:pt x="152" y="15880"/>
                    </a:moveTo>
                    <a:cubicBezTo>
                      <a:pt x="116" y="15889"/>
                      <a:pt x="90" y="15915"/>
                      <a:pt x="99" y="15951"/>
                    </a:cubicBezTo>
                    <a:cubicBezTo>
                      <a:pt x="108" y="16040"/>
                      <a:pt x="116" y="16129"/>
                      <a:pt x="125" y="16210"/>
                    </a:cubicBezTo>
                    <a:cubicBezTo>
                      <a:pt x="134" y="16245"/>
                      <a:pt x="161" y="16272"/>
                      <a:pt x="197" y="16272"/>
                    </a:cubicBezTo>
                    <a:cubicBezTo>
                      <a:pt x="197" y="16272"/>
                      <a:pt x="197" y="16272"/>
                      <a:pt x="206" y="16263"/>
                    </a:cubicBezTo>
                    <a:cubicBezTo>
                      <a:pt x="232" y="16263"/>
                      <a:pt x="259" y="16228"/>
                      <a:pt x="259" y="16192"/>
                    </a:cubicBezTo>
                    <a:cubicBezTo>
                      <a:pt x="241" y="16112"/>
                      <a:pt x="232" y="16022"/>
                      <a:pt x="224" y="15942"/>
                    </a:cubicBezTo>
                    <a:cubicBezTo>
                      <a:pt x="224" y="15906"/>
                      <a:pt x="188" y="15880"/>
                      <a:pt x="152" y="15880"/>
                    </a:cubicBezTo>
                    <a:close/>
                    <a:moveTo>
                      <a:pt x="28441" y="15255"/>
                    </a:moveTo>
                    <a:cubicBezTo>
                      <a:pt x="28405" y="15255"/>
                      <a:pt x="28378" y="15282"/>
                      <a:pt x="28369" y="15318"/>
                    </a:cubicBezTo>
                    <a:cubicBezTo>
                      <a:pt x="28352" y="15612"/>
                      <a:pt x="28316" y="15915"/>
                      <a:pt x="28280" y="16210"/>
                    </a:cubicBezTo>
                    <a:cubicBezTo>
                      <a:pt x="28271" y="16245"/>
                      <a:pt x="28298" y="16281"/>
                      <a:pt x="28334" y="16281"/>
                    </a:cubicBezTo>
                    <a:lnTo>
                      <a:pt x="28343" y="16281"/>
                    </a:lnTo>
                    <a:cubicBezTo>
                      <a:pt x="28369" y="16281"/>
                      <a:pt x="28405" y="16263"/>
                      <a:pt x="28405" y="16228"/>
                    </a:cubicBezTo>
                    <a:cubicBezTo>
                      <a:pt x="28450" y="15933"/>
                      <a:pt x="28476" y="15630"/>
                      <a:pt x="28503" y="15327"/>
                    </a:cubicBezTo>
                    <a:cubicBezTo>
                      <a:pt x="28503" y="15291"/>
                      <a:pt x="28476" y="15255"/>
                      <a:pt x="28441" y="15255"/>
                    </a:cubicBezTo>
                    <a:close/>
                    <a:moveTo>
                      <a:pt x="28302" y="16413"/>
                    </a:moveTo>
                    <a:cubicBezTo>
                      <a:pt x="28271" y="16413"/>
                      <a:pt x="28245" y="16437"/>
                      <a:pt x="28245" y="16468"/>
                    </a:cubicBezTo>
                    <a:cubicBezTo>
                      <a:pt x="28200" y="16718"/>
                      <a:pt x="28155" y="16977"/>
                      <a:pt x="28102" y="17227"/>
                    </a:cubicBezTo>
                    <a:cubicBezTo>
                      <a:pt x="28093" y="17262"/>
                      <a:pt x="28120" y="17298"/>
                      <a:pt x="28146" y="17298"/>
                    </a:cubicBezTo>
                    <a:cubicBezTo>
                      <a:pt x="28155" y="17307"/>
                      <a:pt x="28155" y="17307"/>
                      <a:pt x="28164" y="17307"/>
                    </a:cubicBezTo>
                    <a:cubicBezTo>
                      <a:pt x="28191" y="17307"/>
                      <a:pt x="28218" y="17280"/>
                      <a:pt x="28227" y="17253"/>
                    </a:cubicBezTo>
                    <a:cubicBezTo>
                      <a:pt x="28280" y="17004"/>
                      <a:pt x="28325" y="16745"/>
                      <a:pt x="28369" y="16486"/>
                    </a:cubicBezTo>
                    <a:cubicBezTo>
                      <a:pt x="28369" y="16451"/>
                      <a:pt x="28352" y="16415"/>
                      <a:pt x="28316" y="16415"/>
                    </a:cubicBezTo>
                    <a:cubicBezTo>
                      <a:pt x="28311" y="16414"/>
                      <a:pt x="28306" y="16413"/>
                      <a:pt x="28302" y="16413"/>
                    </a:cubicBezTo>
                    <a:close/>
                    <a:moveTo>
                      <a:pt x="331" y="17030"/>
                    </a:moveTo>
                    <a:cubicBezTo>
                      <a:pt x="295" y="17039"/>
                      <a:pt x="277" y="17075"/>
                      <a:pt x="277" y="17111"/>
                    </a:cubicBezTo>
                    <a:cubicBezTo>
                      <a:pt x="331" y="17361"/>
                      <a:pt x="393" y="17619"/>
                      <a:pt x="455" y="17869"/>
                    </a:cubicBezTo>
                    <a:cubicBezTo>
                      <a:pt x="464" y="17896"/>
                      <a:pt x="491" y="17914"/>
                      <a:pt x="518" y="17914"/>
                    </a:cubicBezTo>
                    <a:lnTo>
                      <a:pt x="536" y="17914"/>
                    </a:lnTo>
                    <a:cubicBezTo>
                      <a:pt x="571" y="17905"/>
                      <a:pt x="589" y="17869"/>
                      <a:pt x="580" y="17833"/>
                    </a:cubicBezTo>
                    <a:cubicBezTo>
                      <a:pt x="518" y="17592"/>
                      <a:pt x="455" y="17334"/>
                      <a:pt x="411" y="17084"/>
                    </a:cubicBezTo>
                    <a:cubicBezTo>
                      <a:pt x="402" y="17048"/>
                      <a:pt x="366" y="17030"/>
                      <a:pt x="331" y="17030"/>
                    </a:cubicBezTo>
                    <a:close/>
                    <a:moveTo>
                      <a:pt x="27950" y="18054"/>
                    </a:moveTo>
                    <a:cubicBezTo>
                      <a:pt x="27921" y="18054"/>
                      <a:pt x="27895" y="18071"/>
                      <a:pt x="27888" y="18101"/>
                    </a:cubicBezTo>
                    <a:cubicBezTo>
                      <a:pt x="27861" y="18181"/>
                      <a:pt x="27834" y="18262"/>
                      <a:pt x="27816" y="18351"/>
                    </a:cubicBezTo>
                    <a:cubicBezTo>
                      <a:pt x="27807" y="18386"/>
                      <a:pt x="27825" y="18422"/>
                      <a:pt x="27861" y="18431"/>
                    </a:cubicBezTo>
                    <a:lnTo>
                      <a:pt x="27879" y="18431"/>
                    </a:lnTo>
                    <a:cubicBezTo>
                      <a:pt x="27906" y="18431"/>
                      <a:pt x="27932" y="18413"/>
                      <a:pt x="27941" y="18386"/>
                    </a:cubicBezTo>
                    <a:cubicBezTo>
                      <a:pt x="27959" y="18306"/>
                      <a:pt x="27986" y="18217"/>
                      <a:pt x="28013" y="18137"/>
                    </a:cubicBezTo>
                    <a:cubicBezTo>
                      <a:pt x="28021" y="18101"/>
                      <a:pt x="27995" y="18065"/>
                      <a:pt x="27968" y="18056"/>
                    </a:cubicBezTo>
                    <a:cubicBezTo>
                      <a:pt x="27962" y="18055"/>
                      <a:pt x="27956" y="18054"/>
                      <a:pt x="27950" y="18054"/>
                    </a:cubicBezTo>
                    <a:close/>
                    <a:moveTo>
                      <a:pt x="586" y="18036"/>
                    </a:moveTo>
                    <a:cubicBezTo>
                      <a:pt x="581" y="18036"/>
                      <a:pt x="576" y="18037"/>
                      <a:pt x="571" y="18039"/>
                    </a:cubicBezTo>
                    <a:cubicBezTo>
                      <a:pt x="536" y="18047"/>
                      <a:pt x="518" y="18083"/>
                      <a:pt x="527" y="18119"/>
                    </a:cubicBezTo>
                    <a:cubicBezTo>
                      <a:pt x="607" y="18413"/>
                      <a:pt x="696" y="18699"/>
                      <a:pt x="794" y="18984"/>
                    </a:cubicBezTo>
                    <a:cubicBezTo>
                      <a:pt x="803" y="19011"/>
                      <a:pt x="830" y="19029"/>
                      <a:pt x="857" y="19029"/>
                    </a:cubicBezTo>
                    <a:lnTo>
                      <a:pt x="875" y="19029"/>
                    </a:lnTo>
                    <a:cubicBezTo>
                      <a:pt x="910" y="19011"/>
                      <a:pt x="928" y="18975"/>
                      <a:pt x="919" y="18948"/>
                    </a:cubicBezTo>
                    <a:cubicBezTo>
                      <a:pt x="821" y="18663"/>
                      <a:pt x="732" y="18378"/>
                      <a:pt x="643" y="18083"/>
                    </a:cubicBezTo>
                    <a:cubicBezTo>
                      <a:pt x="635" y="18054"/>
                      <a:pt x="610" y="18036"/>
                      <a:pt x="586" y="18036"/>
                    </a:cubicBezTo>
                    <a:close/>
                    <a:moveTo>
                      <a:pt x="1135" y="19628"/>
                    </a:moveTo>
                    <a:cubicBezTo>
                      <a:pt x="1126" y="19628"/>
                      <a:pt x="1116" y="19631"/>
                      <a:pt x="1107" y="19635"/>
                    </a:cubicBezTo>
                    <a:cubicBezTo>
                      <a:pt x="1080" y="19644"/>
                      <a:pt x="1062" y="19680"/>
                      <a:pt x="1071" y="19716"/>
                    </a:cubicBezTo>
                    <a:cubicBezTo>
                      <a:pt x="1107" y="19796"/>
                      <a:pt x="1142" y="19876"/>
                      <a:pt x="1178" y="19957"/>
                    </a:cubicBezTo>
                    <a:cubicBezTo>
                      <a:pt x="1187" y="19983"/>
                      <a:pt x="1214" y="19992"/>
                      <a:pt x="1232" y="19992"/>
                    </a:cubicBezTo>
                    <a:lnTo>
                      <a:pt x="1258" y="19992"/>
                    </a:lnTo>
                    <a:cubicBezTo>
                      <a:pt x="1294" y="19974"/>
                      <a:pt x="1312" y="19939"/>
                      <a:pt x="1294" y="19903"/>
                    </a:cubicBezTo>
                    <a:cubicBezTo>
                      <a:pt x="1258" y="19823"/>
                      <a:pt x="1223" y="19742"/>
                      <a:pt x="1196" y="19671"/>
                    </a:cubicBezTo>
                    <a:cubicBezTo>
                      <a:pt x="1183" y="19645"/>
                      <a:pt x="1160" y="19628"/>
                      <a:pt x="1135" y="19628"/>
                    </a:cubicBezTo>
                    <a:close/>
                    <a:moveTo>
                      <a:pt x="27628" y="19040"/>
                    </a:moveTo>
                    <a:cubicBezTo>
                      <a:pt x="27603" y="19040"/>
                      <a:pt x="27582" y="19056"/>
                      <a:pt x="27575" y="19082"/>
                    </a:cubicBezTo>
                    <a:cubicBezTo>
                      <a:pt x="27468" y="19359"/>
                      <a:pt x="27361" y="19644"/>
                      <a:pt x="27236" y="19921"/>
                    </a:cubicBezTo>
                    <a:cubicBezTo>
                      <a:pt x="27228" y="19948"/>
                      <a:pt x="27236" y="19983"/>
                      <a:pt x="27272" y="20001"/>
                    </a:cubicBezTo>
                    <a:cubicBezTo>
                      <a:pt x="27281" y="20001"/>
                      <a:pt x="27290" y="20010"/>
                      <a:pt x="27299" y="20010"/>
                    </a:cubicBezTo>
                    <a:cubicBezTo>
                      <a:pt x="27326" y="20010"/>
                      <a:pt x="27343" y="19992"/>
                      <a:pt x="27352" y="19965"/>
                    </a:cubicBezTo>
                    <a:cubicBezTo>
                      <a:pt x="27477" y="19689"/>
                      <a:pt x="27593" y="19412"/>
                      <a:pt x="27691" y="19127"/>
                    </a:cubicBezTo>
                    <a:cubicBezTo>
                      <a:pt x="27700" y="19091"/>
                      <a:pt x="27682" y="19056"/>
                      <a:pt x="27656" y="19047"/>
                    </a:cubicBezTo>
                    <a:cubicBezTo>
                      <a:pt x="27646" y="19042"/>
                      <a:pt x="27637" y="19040"/>
                      <a:pt x="27628" y="19040"/>
                    </a:cubicBezTo>
                    <a:close/>
                    <a:moveTo>
                      <a:pt x="27194" y="20114"/>
                    </a:moveTo>
                    <a:cubicBezTo>
                      <a:pt x="27167" y="20114"/>
                      <a:pt x="27143" y="20126"/>
                      <a:pt x="27129" y="20153"/>
                    </a:cubicBezTo>
                    <a:cubicBezTo>
                      <a:pt x="27022" y="20385"/>
                      <a:pt x="26915" y="20617"/>
                      <a:pt x="26790" y="20840"/>
                    </a:cubicBezTo>
                    <a:cubicBezTo>
                      <a:pt x="26773" y="20875"/>
                      <a:pt x="26790" y="20911"/>
                      <a:pt x="26817" y="20929"/>
                    </a:cubicBezTo>
                    <a:cubicBezTo>
                      <a:pt x="26826" y="20938"/>
                      <a:pt x="26844" y="20938"/>
                      <a:pt x="26853" y="20938"/>
                    </a:cubicBezTo>
                    <a:cubicBezTo>
                      <a:pt x="26871" y="20938"/>
                      <a:pt x="26897" y="20929"/>
                      <a:pt x="26906" y="20902"/>
                    </a:cubicBezTo>
                    <a:cubicBezTo>
                      <a:pt x="27031" y="20670"/>
                      <a:pt x="27147" y="20438"/>
                      <a:pt x="27254" y="20206"/>
                    </a:cubicBezTo>
                    <a:cubicBezTo>
                      <a:pt x="27263" y="20171"/>
                      <a:pt x="27254" y="20135"/>
                      <a:pt x="27219" y="20117"/>
                    </a:cubicBezTo>
                    <a:cubicBezTo>
                      <a:pt x="27210" y="20115"/>
                      <a:pt x="27202" y="20114"/>
                      <a:pt x="27194" y="20114"/>
                    </a:cubicBezTo>
                    <a:close/>
                    <a:moveTo>
                      <a:pt x="1617" y="20685"/>
                    </a:moveTo>
                    <a:cubicBezTo>
                      <a:pt x="1610" y="20685"/>
                      <a:pt x="1604" y="20686"/>
                      <a:pt x="1597" y="20688"/>
                    </a:cubicBezTo>
                    <a:cubicBezTo>
                      <a:pt x="1562" y="20706"/>
                      <a:pt x="1553" y="20751"/>
                      <a:pt x="1562" y="20777"/>
                    </a:cubicBezTo>
                    <a:cubicBezTo>
                      <a:pt x="1687" y="21009"/>
                      <a:pt x="1811" y="21241"/>
                      <a:pt x="1945" y="21464"/>
                    </a:cubicBezTo>
                    <a:cubicBezTo>
                      <a:pt x="1954" y="21482"/>
                      <a:pt x="1972" y="21491"/>
                      <a:pt x="1999" y="21491"/>
                    </a:cubicBezTo>
                    <a:cubicBezTo>
                      <a:pt x="2008" y="21491"/>
                      <a:pt x="2017" y="21491"/>
                      <a:pt x="2026" y="21482"/>
                    </a:cubicBezTo>
                    <a:cubicBezTo>
                      <a:pt x="2061" y="21464"/>
                      <a:pt x="2070" y="21429"/>
                      <a:pt x="2052" y="21402"/>
                    </a:cubicBezTo>
                    <a:cubicBezTo>
                      <a:pt x="1919" y="21179"/>
                      <a:pt x="1794" y="20947"/>
                      <a:pt x="1678" y="20724"/>
                    </a:cubicBezTo>
                    <a:cubicBezTo>
                      <a:pt x="1664" y="20696"/>
                      <a:pt x="1640" y="20685"/>
                      <a:pt x="1617" y="20685"/>
                    </a:cubicBezTo>
                    <a:close/>
                    <a:moveTo>
                      <a:pt x="26403" y="21598"/>
                    </a:moveTo>
                    <a:cubicBezTo>
                      <a:pt x="26384" y="21598"/>
                      <a:pt x="26365" y="21607"/>
                      <a:pt x="26353" y="21625"/>
                    </a:cubicBezTo>
                    <a:cubicBezTo>
                      <a:pt x="26309" y="21696"/>
                      <a:pt x="26255" y="21776"/>
                      <a:pt x="26211" y="21848"/>
                    </a:cubicBezTo>
                    <a:cubicBezTo>
                      <a:pt x="26193" y="21875"/>
                      <a:pt x="26202" y="21910"/>
                      <a:pt x="26237" y="21937"/>
                    </a:cubicBezTo>
                    <a:cubicBezTo>
                      <a:pt x="26246" y="21937"/>
                      <a:pt x="26255" y="21946"/>
                      <a:pt x="26264" y="21946"/>
                    </a:cubicBezTo>
                    <a:cubicBezTo>
                      <a:pt x="26291" y="21946"/>
                      <a:pt x="26309" y="21937"/>
                      <a:pt x="26318" y="21910"/>
                    </a:cubicBezTo>
                    <a:cubicBezTo>
                      <a:pt x="26371" y="21839"/>
                      <a:pt x="26416" y="21768"/>
                      <a:pt x="26460" y="21696"/>
                    </a:cubicBezTo>
                    <a:cubicBezTo>
                      <a:pt x="26478" y="21660"/>
                      <a:pt x="26469" y="21625"/>
                      <a:pt x="26434" y="21607"/>
                    </a:cubicBezTo>
                    <a:cubicBezTo>
                      <a:pt x="26424" y="21601"/>
                      <a:pt x="26413" y="21598"/>
                      <a:pt x="26403" y="21598"/>
                    </a:cubicBezTo>
                    <a:close/>
                    <a:moveTo>
                      <a:pt x="2130" y="21589"/>
                    </a:moveTo>
                    <a:cubicBezTo>
                      <a:pt x="2118" y="21589"/>
                      <a:pt x="2106" y="21592"/>
                      <a:pt x="2097" y="21598"/>
                    </a:cubicBezTo>
                    <a:cubicBezTo>
                      <a:pt x="2061" y="21616"/>
                      <a:pt x="2052" y="21660"/>
                      <a:pt x="2070" y="21687"/>
                    </a:cubicBezTo>
                    <a:cubicBezTo>
                      <a:pt x="2231" y="21946"/>
                      <a:pt x="2400" y="22205"/>
                      <a:pt x="2570" y="22445"/>
                    </a:cubicBezTo>
                    <a:cubicBezTo>
                      <a:pt x="2588" y="22463"/>
                      <a:pt x="2605" y="22472"/>
                      <a:pt x="2623" y="22472"/>
                    </a:cubicBezTo>
                    <a:cubicBezTo>
                      <a:pt x="2641" y="22472"/>
                      <a:pt x="2650" y="22472"/>
                      <a:pt x="2659" y="22463"/>
                    </a:cubicBezTo>
                    <a:cubicBezTo>
                      <a:pt x="2695" y="22445"/>
                      <a:pt x="2695" y="22401"/>
                      <a:pt x="2677" y="22374"/>
                    </a:cubicBezTo>
                    <a:cubicBezTo>
                      <a:pt x="2507" y="22133"/>
                      <a:pt x="2338" y="21875"/>
                      <a:pt x="2186" y="21616"/>
                    </a:cubicBezTo>
                    <a:cubicBezTo>
                      <a:pt x="2175" y="21599"/>
                      <a:pt x="2152" y="21589"/>
                      <a:pt x="2130" y="21589"/>
                    </a:cubicBezTo>
                    <a:close/>
                    <a:moveTo>
                      <a:pt x="3088" y="22969"/>
                    </a:moveTo>
                    <a:cubicBezTo>
                      <a:pt x="3075" y="22969"/>
                      <a:pt x="3063" y="22973"/>
                      <a:pt x="3051" y="22981"/>
                    </a:cubicBezTo>
                    <a:cubicBezTo>
                      <a:pt x="3016" y="23008"/>
                      <a:pt x="3016" y="23043"/>
                      <a:pt x="3034" y="23079"/>
                    </a:cubicBezTo>
                    <a:cubicBezTo>
                      <a:pt x="3087" y="23141"/>
                      <a:pt x="3141" y="23213"/>
                      <a:pt x="3203" y="23275"/>
                    </a:cubicBezTo>
                    <a:cubicBezTo>
                      <a:pt x="3212" y="23293"/>
                      <a:pt x="3230" y="23302"/>
                      <a:pt x="3248" y="23302"/>
                    </a:cubicBezTo>
                    <a:cubicBezTo>
                      <a:pt x="3266" y="23302"/>
                      <a:pt x="3274" y="23293"/>
                      <a:pt x="3292" y="23284"/>
                    </a:cubicBezTo>
                    <a:cubicBezTo>
                      <a:pt x="3319" y="23266"/>
                      <a:pt x="3319" y="23222"/>
                      <a:pt x="3301" y="23195"/>
                    </a:cubicBezTo>
                    <a:cubicBezTo>
                      <a:pt x="3248" y="23132"/>
                      <a:pt x="3194" y="23061"/>
                      <a:pt x="3141" y="22999"/>
                    </a:cubicBezTo>
                    <a:cubicBezTo>
                      <a:pt x="3125" y="22978"/>
                      <a:pt x="3106" y="22969"/>
                      <a:pt x="3088" y="22969"/>
                    </a:cubicBezTo>
                    <a:close/>
                    <a:moveTo>
                      <a:pt x="25832" y="22456"/>
                    </a:moveTo>
                    <a:cubicBezTo>
                      <a:pt x="25812" y="22456"/>
                      <a:pt x="25793" y="22466"/>
                      <a:pt x="25782" y="22481"/>
                    </a:cubicBezTo>
                    <a:cubicBezTo>
                      <a:pt x="25604" y="22731"/>
                      <a:pt x="25425" y="22972"/>
                      <a:pt x="25238" y="23204"/>
                    </a:cubicBezTo>
                    <a:cubicBezTo>
                      <a:pt x="25211" y="23231"/>
                      <a:pt x="25220" y="23266"/>
                      <a:pt x="25247" y="23293"/>
                    </a:cubicBezTo>
                    <a:cubicBezTo>
                      <a:pt x="25256" y="23302"/>
                      <a:pt x="25274" y="23302"/>
                      <a:pt x="25283" y="23302"/>
                    </a:cubicBezTo>
                    <a:cubicBezTo>
                      <a:pt x="25301" y="23302"/>
                      <a:pt x="25318" y="23293"/>
                      <a:pt x="25336" y="23284"/>
                    </a:cubicBezTo>
                    <a:cubicBezTo>
                      <a:pt x="25524" y="23043"/>
                      <a:pt x="25711" y="22802"/>
                      <a:pt x="25889" y="22561"/>
                    </a:cubicBezTo>
                    <a:cubicBezTo>
                      <a:pt x="25907" y="22526"/>
                      <a:pt x="25898" y="22490"/>
                      <a:pt x="25872" y="22472"/>
                    </a:cubicBezTo>
                    <a:cubicBezTo>
                      <a:pt x="25860" y="22461"/>
                      <a:pt x="25846" y="22456"/>
                      <a:pt x="25832" y="22456"/>
                    </a:cubicBezTo>
                    <a:close/>
                    <a:moveTo>
                      <a:pt x="25121" y="23375"/>
                    </a:moveTo>
                    <a:cubicBezTo>
                      <a:pt x="25103" y="23375"/>
                      <a:pt x="25084" y="23384"/>
                      <a:pt x="25069" y="23400"/>
                    </a:cubicBezTo>
                    <a:cubicBezTo>
                      <a:pt x="24908" y="23596"/>
                      <a:pt x="24730" y="23784"/>
                      <a:pt x="24560" y="23971"/>
                    </a:cubicBezTo>
                    <a:cubicBezTo>
                      <a:pt x="24533" y="23998"/>
                      <a:pt x="24533" y="24042"/>
                      <a:pt x="24560" y="24069"/>
                    </a:cubicBezTo>
                    <a:cubicBezTo>
                      <a:pt x="24569" y="24078"/>
                      <a:pt x="24587" y="24078"/>
                      <a:pt x="24605" y="24078"/>
                    </a:cubicBezTo>
                    <a:cubicBezTo>
                      <a:pt x="24623" y="24078"/>
                      <a:pt x="24640" y="24078"/>
                      <a:pt x="24649" y="24060"/>
                    </a:cubicBezTo>
                    <a:cubicBezTo>
                      <a:pt x="24828" y="23873"/>
                      <a:pt x="24997" y="23677"/>
                      <a:pt x="25167" y="23480"/>
                    </a:cubicBezTo>
                    <a:cubicBezTo>
                      <a:pt x="25194" y="23454"/>
                      <a:pt x="25185" y="23409"/>
                      <a:pt x="25158" y="23391"/>
                    </a:cubicBezTo>
                    <a:cubicBezTo>
                      <a:pt x="25147" y="23380"/>
                      <a:pt x="25134" y="23375"/>
                      <a:pt x="25121" y="23375"/>
                    </a:cubicBezTo>
                    <a:close/>
                    <a:moveTo>
                      <a:pt x="3845" y="23853"/>
                    </a:moveTo>
                    <a:cubicBezTo>
                      <a:pt x="3830" y="23853"/>
                      <a:pt x="3814" y="23859"/>
                      <a:pt x="3801" y="23873"/>
                    </a:cubicBezTo>
                    <a:cubicBezTo>
                      <a:pt x="3774" y="23900"/>
                      <a:pt x="3774" y="23935"/>
                      <a:pt x="3792" y="23962"/>
                    </a:cubicBezTo>
                    <a:cubicBezTo>
                      <a:pt x="3970" y="24158"/>
                      <a:pt x="4158" y="24346"/>
                      <a:pt x="4345" y="24524"/>
                    </a:cubicBezTo>
                    <a:cubicBezTo>
                      <a:pt x="4354" y="24533"/>
                      <a:pt x="4372" y="24542"/>
                      <a:pt x="4390" y="24542"/>
                    </a:cubicBezTo>
                    <a:cubicBezTo>
                      <a:pt x="4399" y="24542"/>
                      <a:pt x="4416" y="24533"/>
                      <a:pt x="4434" y="24524"/>
                    </a:cubicBezTo>
                    <a:cubicBezTo>
                      <a:pt x="4461" y="24497"/>
                      <a:pt x="4452" y="24453"/>
                      <a:pt x="4434" y="24426"/>
                    </a:cubicBezTo>
                    <a:cubicBezTo>
                      <a:pt x="4247" y="24248"/>
                      <a:pt x="4068" y="24069"/>
                      <a:pt x="3890" y="23873"/>
                    </a:cubicBezTo>
                    <a:cubicBezTo>
                      <a:pt x="3877" y="23859"/>
                      <a:pt x="3861" y="23853"/>
                      <a:pt x="3845" y="23853"/>
                    </a:cubicBezTo>
                    <a:close/>
                    <a:moveTo>
                      <a:pt x="23962" y="24593"/>
                    </a:moveTo>
                    <a:cubicBezTo>
                      <a:pt x="23947" y="24593"/>
                      <a:pt x="23931" y="24600"/>
                      <a:pt x="23918" y="24613"/>
                    </a:cubicBezTo>
                    <a:cubicBezTo>
                      <a:pt x="23855" y="24667"/>
                      <a:pt x="23793" y="24729"/>
                      <a:pt x="23730" y="24783"/>
                    </a:cubicBezTo>
                    <a:cubicBezTo>
                      <a:pt x="23704" y="24810"/>
                      <a:pt x="23695" y="24845"/>
                      <a:pt x="23722" y="24872"/>
                    </a:cubicBezTo>
                    <a:cubicBezTo>
                      <a:pt x="23739" y="24890"/>
                      <a:pt x="23748" y="24899"/>
                      <a:pt x="23766" y="24899"/>
                    </a:cubicBezTo>
                    <a:cubicBezTo>
                      <a:pt x="23784" y="24899"/>
                      <a:pt x="23802" y="24890"/>
                      <a:pt x="23811" y="24881"/>
                    </a:cubicBezTo>
                    <a:cubicBezTo>
                      <a:pt x="23873" y="24818"/>
                      <a:pt x="23945" y="24765"/>
                      <a:pt x="24007" y="24703"/>
                    </a:cubicBezTo>
                    <a:cubicBezTo>
                      <a:pt x="24034" y="24676"/>
                      <a:pt x="24034" y="24640"/>
                      <a:pt x="24007" y="24613"/>
                    </a:cubicBezTo>
                    <a:cubicBezTo>
                      <a:pt x="23994" y="24600"/>
                      <a:pt x="23978" y="24593"/>
                      <a:pt x="23962" y="24593"/>
                    </a:cubicBezTo>
                    <a:close/>
                    <a:moveTo>
                      <a:pt x="4578" y="24592"/>
                    </a:moveTo>
                    <a:cubicBezTo>
                      <a:pt x="4558" y="24592"/>
                      <a:pt x="4538" y="24599"/>
                      <a:pt x="4523" y="24613"/>
                    </a:cubicBezTo>
                    <a:cubicBezTo>
                      <a:pt x="4506" y="24631"/>
                      <a:pt x="4506" y="24676"/>
                      <a:pt x="4532" y="24703"/>
                    </a:cubicBezTo>
                    <a:cubicBezTo>
                      <a:pt x="4746" y="24908"/>
                      <a:pt x="4978" y="25104"/>
                      <a:pt x="5210" y="25300"/>
                    </a:cubicBezTo>
                    <a:cubicBezTo>
                      <a:pt x="5228" y="25309"/>
                      <a:pt x="5237" y="25318"/>
                      <a:pt x="5255" y="25318"/>
                    </a:cubicBezTo>
                    <a:cubicBezTo>
                      <a:pt x="5273" y="25318"/>
                      <a:pt x="5291" y="25309"/>
                      <a:pt x="5300" y="25291"/>
                    </a:cubicBezTo>
                    <a:cubicBezTo>
                      <a:pt x="5326" y="25265"/>
                      <a:pt x="5326" y="25220"/>
                      <a:pt x="5291" y="25202"/>
                    </a:cubicBezTo>
                    <a:cubicBezTo>
                      <a:pt x="5068" y="25015"/>
                      <a:pt x="4836" y="24810"/>
                      <a:pt x="4622" y="24604"/>
                    </a:cubicBezTo>
                    <a:cubicBezTo>
                      <a:pt x="4610" y="24596"/>
                      <a:pt x="4594" y="24592"/>
                      <a:pt x="4578" y="24592"/>
                    </a:cubicBezTo>
                    <a:close/>
                    <a:moveTo>
                      <a:pt x="5863" y="25662"/>
                    </a:moveTo>
                    <a:cubicBezTo>
                      <a:pt x="5845" y="25662"/>
                      <a:pt x="5827" y="25669"/>
                      <a:pt x="5817" y="25684"/>
                    </a:cubicBezTo>
                    <a:cubicBezTo>
                      <a:pt x="5790" y="25720"/>
                      <a:pt x="5799" y="25755"/>
                      <a:pt x="5826" y="25782"/>
                    </a:cubicBezTo>
                    <a:cubicBezTo>
                      <a:pt x="5897" y="25827"/>
                      <a:pt x="5969" y="25880"/>
                      <a:pt x="6040" y="25934"/>
                    </a:cubicBezTo>
                    <a:cubicBezTo>
                      <a:pt x="6049" y="25934"/>
                      <a:pt x="6067" y="25943"/>
                      <a:pt x="6076" y="25943"/>
                    </a:cubicBezTo>
                    <a:cubicBezTo>
                      <a:pt x="6094" y="25943"/>
                      <a:pt x="6111" y="25934"/>
                      <a:pt x="6129" y="25916"/>
                    </a:cubicBezTo>
                    <a:cubicBezTo>
                      <a:pt x="6147" y="25889"/>
                      <a:pt x="6138" y="25844"/>
                      <a:pt x="6111" y="25827"/>
                    </a:cubicBezTo>
                    <a:cubicBezTo>
                      <a:pt x="6040" y="25773"/>
                      <a:pt x="5978" y="25728"/>
                      <a:pt x="5906" y="25675"/>
                    </a:cubicBezTo>
                    <a:cubicBezTo>
                      <a:pt x="5894" y="25667"/>
                      <a:pt x="5879" y="25662"/>
                      <a:pt x="5863" y="25662"/>
                    </a:cubicBezTo>
                    <a:close/>
                    <a:moveTo>
                      <a:pt x="23182" y="25270"/>
                    </a:moveTo>
                    <a:cubicBezTo>
                      <a:pt x="23168" y="25270"/>
                      <a:pt x="23154" y="25274"/>
                      <a:pt x="23142" y="25282"/>
                    </a:cubicBezTo>
                    <a:cubicBezTo>
                      <a:pt x="22910" y="25470"/>
                      <a:pt x="22660" y="25657"/>
                      <a:pt x="22419" y="25827"/>
                    </a:cubicBezTo>
                    <a:cubicBezTo>
                      <a:pt x="22392" y="25844"/>
                      <a:pt x="22383" y="25889"/>
                      <a:pt x="22401" y="25916"/>
                    </a:cubicBezTo>
                    <a:cubicBezTo>
                      <a:pt x="22419" y="25934"/>
                      <a:pt x="22437" y="25943"/>
                      <a:pt x="22455" y="25943"/>
                    </a:cubicBezTo>
                    <a:cubicBezTo>
                      <a:pt x="22473" y="25943"/>
                      <a:pt x="22482" y="25943"/>
                      <a:pt x="22490" y="25934"/>
                    </a:cubicBezTo>
                    <a:cubicBezTo>
                      <a:pt x="22740" y="25755"/>
                      <a:pt x="22981" y="25577"/>
                      <a:pt x="23222" y="25381"/>
                    </a:cubicBezTo>
                    <a:cubicBezTo>
                      <a:pt x="23249" y="25363"/>
                      <a:pt x="23249" y="25318"/>
                      <a:pt x="23231" y="25291"/>
                    </a:cubicBezTo>
                    <a:cubicBezTo>
                      <a:pt x="23216" y="25277"/>
                      <a:pt x="23199" y="25270"/>
                      <a:pt x="23182" y="25270"/>
                    </a:cubicBezTo>
                    <a:close/>
                    <a:moveTo>
                      <a:pt x="22246" y="25963"/>
                    </a:moveTo>
                    <a:cubicBezTo>
                      <a:pt x="22233" y="25963"/>
                      <a:pt x="22219" y="25968"/>
                      <a:pt x="22205" y="25978"/>
                    </a:cubicBezTo>
                    <a:cubicBezTo>
                      <a:pt x="21991" y="26121"/>
                      <a:pt x="21777" y="26264"/>
                      <a:pt x="21554" y="26389"/>
                    </a:cubicBezTo>
                    <a:cubicBezTo>
                      <a:pt x="21527" y="26406"/>
                      <a:pt x="21518" y="26451"/>
                      <a:pt x="21536" y="26478"/>
                    </a:cubicBezTo>
                    <a:cubicBezTo>
                      <a:pt x="21545" y="26496"/>
                      <a:pt x="21572" y="26513"/>
                      <a:pt x="21589" y="26513"/>
                    </a:cubicBezTo>
                    <a:cubicBezTo>
                      <a:pt x="21598" y="26513"/>
                      <a:pt x="21616" y="26505"/>
                      <a:pt x="21625" y="26505"/>
                    </a:cubicBezTo>
                    <a:cubicBezTo>
                      <a:pt x="21848" y="26371"/>
                      <a:pt x="22062" y="26228"/>
                      <a:pt x="22276" y="26085"/>
                    </a:cubicBezTo>
                    <a:cubicBezTo>
                      <a:pt x="22312" y="26059"/>
                      <a:pt x="22321" y="26023"/>
                      <a:pt x="22294" y="25996"/>
                    </a:cubicBezTo>
                    <a:cubicBezTo>
                      <a:pt x="22283" y="25974"/>
                      <a:pt x="22266" y="25963"/>
                      <a:pt x="22246" y="25963"/>
                    </a:cubicBezTo>
                    <a:close/>
                    <a:moveTo>
                      <a:pt x="6832" y="26308"/>
                    </a:moveTo>
                    <a:cubicBezTo>
                      <a:pt x="6811" y="26308"/>
                      <a:pt x="6789" y="26320"/>
                      <a:pt x="6772" y="26344"/>
                    </a:cubicBezTo>
                    <a:cubicBezTo>
                      <a:pt x="6754" y="26371"/>
                      <a:pt x="6763" y="26415"/>
                      <a:pt x="6798" y="26433"/>
                    </a:cubicBezTo>
                    <a:cubicBezTo>
                      <a:pt x="7012" y="26567"/>
                      <a:pt x="7244" y="26701"/>
                      <a:pt x="7467" y="26817"/>
                    </a:cubicBezTo>
                    <a:cubicBezTo>
                      <a:pt x="7476" y="26826"/>
                      <a:pt x="7494" y="26826"/>
                      <a:pt x="7503" y="26826"/>
                    </a:cubicBezTo>
                    <a:cubicBezTo>
                      <a:pt x="7521" y="26826"/>
                      <a:pt x="7548" y="26817"/>
                      <a:pt x="7557" y="26790"/>
                    </a:cubicBezTo>
                    <a:cubicBezTo>
                      <a:pt x="7574" y="26763"/>
                      <a:pt x="7566" y="26728"/>
                      <a:pt x="7530" y="26710"/>
                    </a:cubicBezTo>
                    <a:cubicBezTo>
                      <a:pt x="7307" y="26585"/>
                      <a:pt x="7084" y="26451"/>
                      <a:pt x="6861" y="26317"/>
                    </a:cubicBezTo>
                    <a:cubicBezTo>
                      <a:pt x="6852" y="26311"/>
                      <a:pt x="6842" y="26308"/>
                      <a:pt x="6832" y="26308"/>
                    </a:cubicBezTo>
                    <a:close/>
                    <a:moveTo>
                      <a:pt x="20804" y="26826"/>
                    </a:moveTo>
                    <a:cubicBezTo>
                      <a:pt x="20792" y="26826"/>
                      <a:pt x="20781" y="26829"/>
                      <a:pt x="20769" y="26835"/>
                    </a:cubicBezTo>
                    <a:cubicBezTo>
                      <a:pt x="20697" y="26870"/>
                      <a:pt x="20617" y="26915"/>
                      <a:pt x="20537" y="26951"/>
                    </a:cubicBezTo>
                    <a:cubicBezTo>
                      <a:pt x="20510" y="26968"/>
                      <a:pt x="20492" y="27004"/>
                      <a:pt x="20510" y="27031"/>
                    </a:cubicBezTo>
                    <a:cubicBezTo>
                      <a:pt x="20519" y="27058"/>
                      <a:pt x="20546" y="27067"/>
                      <a:pt x="20572" y="27067"/>
                    </a:cubicBezTo>
                    <a:lnTo>
                      <a:pt x="20599" y="27067"/>
                    </a:lnTo>
                    <a:cubicBezTo>
                      <a:pt x="20671" y="27022"/>
                      <a:pt x="20751" y="26986"/>
                      <a:pt x="20831" y="26951"/>
                    </a:cubicBezTo>
                    <a:cubicBezTo>
                      <a:pt x="20858" y="26933"/>
                      <a:pt x="20876" y="26888"/>
                      <a:pt x="20858" y="26861"/>
                    </a:cubicBezTo>
                    <a:cubicBezTo>
                      <a:pt x="20846" y="26838"/>
                      <a:pt x="20826" y="26826"/>
                      <a:pt x="20804" y="26826"/>
                    </a:cubicBezTo>
                    <a:close/>
                    <a:moveTo>
                      <a:pt x="7732" y="26819"/>
                    </a:moveTo>
                    <a:cubicBezTo>
                      <a:pt x="7708" y="26819"/>
                      <a:pt x="7685" y="26833"/>
                      <a:pt x="7673" y="26852"/>
                    </a:cubicBezTo>
                    <a:cubicBezTo>
                      <a:pt x="7655" y="26888"/>
                      <a:pt x="7664" y="26924"/>
                      <a:pt x="7699" y="26942"/>
                    </a:cubicBezTo>
                    <a:cubicBezTo>
                      <a:pt x="7967" y="27084"/>
                      <a:pt x="8244" y="27209"/>
                      <a:pt x="8520" y="27334"/>
                    </a:cubicBezTo>
                    <a:cubicBezTo>
                      <a:pt x="8529" y="27334"/>
                      <a:pt x="8538" y="27343"/>
                      <a:pt x="8547" y="27343"/>
                    </a:cubicBezTo>
                    <a:cubicBezTo>
                      <a:pt x="8565" y="27343"/>
                      <a:pt x="8591" y="27325"/>
                      <a:pt x="8600" y="27299"/>
                    </a:cubicBezTo>
                    <a:cubicBezTo>
                      <a:pt x="8618" y="27272"/>
                      <a:pt x="8600" y="27227"/>
                      <a:pt x="8574" y="27218"/>
                    </a:cubicBezTo>
                    <a:cubicBezTo>
                      <a:pt x="8297" y="27093"/>
                      <a:pt x="8020" y="26968"/>
                      <a:pt x="7762" y="26826"/>
                    </a:cubicBezTo>
                    <a:cubicBezTo>
                      <a:pt x="7752" y="26821"/>
                      <a:pt x="7742" y="26819"/>
                      <a:pt x="7732" y="26819"/>
                    </a:cubicBezTo>
                    <a:close/>
                    <a:moveTo>
                      <a:pt x="9259" y="27506"/>
                    </a:moveTo>
                    <a:cubicBezTo>
                      <a:pt x="9234" y="27506"/>
                      <a:pt x="9211" y="27522"/>
                      <a:pt x="9198" y="27548"/>
                    </a:cubicBezTo>
                    <a:cubicBezTo>
                      <a:pt x="9189" y="27575"/>
                      <a:pt x="9207" y="27620"/>
                      <a:pt x="9243" y="27629"/>
                    </a:cubicBezTo>
                    <a:cubicBezTo>
                      <a:pt x="9323" y="27655"/>
                      <a:pt x="9403" y="27691"/>
                      <a:pt x="9484" y="27718"/>
                    </a:cubicBezTo>
                    <a:lnTo>
                      <a:pt x="9501" y="27718"/>
                    </a:lnTo>
                    <a:cubicBezTo>
                      <a:pt x="9528" y="27718"/>
                      <a:pt x="9555" y="27709"/>
                      <a:pt x="9564" y="27682"/>
                    </a:cubicBezTo>
                    <a:cubicBezTo>
                      <a:pt x="9573" y="27646"/>
                      <a:pt x="9555" y="27611"/>
                      <a:pt x="9528" y="27593"/>
                    </a:cubicBezTo>
                    <a:cubicBezTo>
                      <a:pt x="9448" y="27566"/>
                      <a:pt x="9368" y="27539"/>
                      <a:pt x="9287" y="27513"/>
                    </a:cubicBezTo>
                    <a:cubicBezTo>
                      <a:pt x="9278" y="27508"/>
                      <a:pt x="9268" y="27506"/>
                      <a:pt x="9259" y="27506"/>
                    </a:cubicBezTo>
                    <a:close/>
                    <a:moveTo>
                      <a:pt x="19861" y="27269"/>
                    </a:moveTo>
                    <a:cubicBezTo>
                      <a:pt x="19854" y="27269"/>
                      <a:pt x="19847" y="27270"/>
                      <a:pt x="19841" y="27272"/>
                    </a:cubicBezTo>
                    <a:cubicBezTo>
                      <a:pt x="19564" y="27388"/>
                      <a:pt x="19279" y="27504"/>
                      <a:pt x="18993" y="27602"/>
                    </a:cubicBezTo>
                    <a:cubicBezTo>
                      <a:pt x="18967" y="27611"/>
                      <a:pt x="18949" y="27646"/>
                      <a:pt x="18958" y="27682"/>
                    </a:cubicBezTo>
                    <a:cubicBezTo>
                      <a:pt x="18967" y="27709"/>
                      <a:pt x="18993" y="27727"/>
                      <a:pt x="19020" y="27727"/>
                    </a:cubicBezTo>
                    <a:lnTo>
                      <a:pt x="19038" y="27727"/>
                    </a:lnTo>
                    <a:cubicBezTo>
                      <a:pt x="19323" y="27620"/>
                      <a:pt x="19609" y="27513"/>
                      <a:pt x="19885" y="27388"/>
                    </a:cubicBezTo>
                    <a:cubicBezTo>
                      <a:pt x="19921" y="27379"/>
                      <a:pt x="19939" y="27343"/>
                      <a:pt x="19921" y="27307"/>
                    </a:cubicBezTo>
                    <a:cubicBezTo>
                      <a:pt x="19908" y="27280"/>
                      <a:pt x="19883" y="27269"/>
                      <a:pt x="19861" y="27269"/>
                    </a:cubicBezTo>
                    <a:close/>
                    <a:moveTo>
                      <a:pt x="18771" y="27680"/>
                    </a:moveTo>
                    <a:cubicBezTo>
                      <a:pt x="18765" y="27680"/>
                      <a:pt x="18759" y="27681"/>
                      <a:pt x="18753" y="27682"/>
                    </a:cubicBezTo>
                    <a:cubicBezTo>
                      <a:pt x="18512" y="27771"/>
                      <a:pt x="18262" y="27843"/>
                      <a:pt x="18012" y="27914"/>
                    </a:cubicBezTo>
                    <a:cubicBezTo>
                      <a:pt x="17976" y="27923"/>
                      <a:pt x="17959" y="27959"/>
                      <a:pt x="17967" y="27985"/>
                    </a:cubicBezTo>
                    <a:cubicBezTo>
                      <a:pt x="17976" y="28021"/>
                      <a:pt x="18003" y="28039"/>
                      <a:pt x="18030" y="28039"/>
                    </a:cubicBezTo>
                    <a:lnTo>
                      <a:pt x="18048" y="28039"/>
                    </a:lnTo>
                    <a:cubicBezTo>
                      <a:pt x="18298" y="27968"/>
                      <a:pt x="18547" y="27887"/>
                      <a:pt x="18797" y="27807"/>
                    </a:cubicBezTo>
                    <a:cubicBezTo>
                      <a:pt x="18824" y="27798"/>
                      <a:pt x="18842" y="27762"/>
                      <a:pt x="18833" y="27727"/>
                    </a:cubicBezTo>
                    <a:cubicBezTo>
                      <a:pt x="18825" y="27697"/>
                      <a:pt x="18800" y="27680"/>
                      <a:pt x="18771" y="27680"/>
                    </a:cubicBezTo>
                    <a:close/>
                    <a:moveTo>
                      <a:pt x="10366" y="27867"/>
                    </a:moveTo>
                    <a:cubicBezTo>
                      <a:pt x="10337" y="27867"/>
                      <a:pt x="10312" y="27885"/>
                      <a:pt x="10304" y="27914"/>
                    </a:cubicBezTo>
                    <a:cubicBezTo>
                      <a:pt x="10295" y="27950"/>
                      <a:pt x="10313" y="27985"/>
                      <a:pt x="10349" y="27994"/>
                    </a:cubicBezTo>
                    <a:cubicBezTo>
                      <a:pt x="10599" y="28066"/>
                      <a:pt x="10848" y="28128"/>
                      <a:pt x="11107" y="28191"/>
                    </a:cubicBezTo>
                    <a:lnTo>
                      <a:pt x="11116" y="28191"/>
                    </a:lnTo>
                    <a:cubicBezTo>
                      <a:pt x="11143" y="28191"/>
                      <a:pt x="11170" y="28173"/>
                      <a:pt x="11179" y="28137"/>
                    </a:cubicBezTo>
                    <a:cubicBezTo>
                      <a:pt x="11187" y="28101"/>
                      <a:pt x="11170" y="28075"/>
                      <a:pt x="11134" y="28066"/>
                    </a:cubicBezTo>
                    <a:cubicBezTo>
                      <a:pt x="10884" y="28003"/>
                      <a:pt x="10625" y="27941"/>
                      <a:pt x="10385" y="27869"/>
                    </a:cubicBezTo>
                    <a:cubicBezTo>
                      <a:pt x="10378" y="27868"/>
                      <a:pt x="10372" y="27867"/>
                      <a:pt x="10366" y="27867"/>
                    </a:cubicBezTo>
                    <a:close/>
                    <a:moveTo>
                      <a:pt x="17152" y="28118"/>
                    </a:moveTo>
                    <a:cubicBezTo>
                      <a:pt x="17147" y="28118"/>
                      <a:pt x="17142" y="28118"/>
                      <a:pt x="17138" y="28119"/>
                    </a:cubicBezTo>
                    <a:cubicBezTo>
                      <a:pt x="17058" y="28137"/>
                      <a:pt x="16968" y="28155"/>
                      <a:pt x="16888" y="28173"/>
                    </a:cubicBezTo>
                    <a:cubicBezTo>
                      <a:pt x="16852" y="28173"/>
                      <a:pt x="16826" y="28208"/>
                      <a:pt x="16834" y="28244"/>
                    </a:cubicBezTo>
                    <a:cubicBezTo>
                      <a:pt x="16834" y="28280"/>
                      <a:pt x="16870" y="28298"/>
                      <a:pt x="16897" y="28298"/>
                    </a:cubicBezTo>
                    <a:lnTo>
                      <a:pt x="16906" y="28298"/>
                    </a:lnTo>
                    <a:cubicBezTo>
                      <a:pt x="16995" y="28280"/>
                      <a:pt x="17075" y="28262"/>
                      <a:pt x="17165" y="28244"/>
                    </a:cubicBezTo>
                    <a:cubicBezTo>
                      <a:pt x="17200" y="28235"/>
                      <a:pt x="17218" y="28208"/>
                      <a:pt x="17209" y="28173"/>
                    </a:cubicBezTo>
                    <a:cubicBezTo>
                      <a:pt x="17209" y="28142"/>
                      <a:pt x="17182" y="28118"/>
                      <a:pt x="17152" y="28118"/>
                    </a:cubicBezTo>
                    <a:close/>
                    <a:moveTo>
                      <a:pt x="11365" y="28117"/>
                    </a:moveTo>
                    <a:cubicBezTo>
                      <a:pt x="11337" y="28117"/>
                      <a:pt x="11311" y="28134"/>
                      <a:pt x="11303" y="28164"/>
                    </a:cubicBezTo>
                    <a:cubicBezTo>
                      <a:pt x="11303" y="28200"/>
                      <a:pt x="11321" y="28235"/>
                      <a:pt x="11357" y="28244"/>
                    </a:cubicBezTo>
                    <a:cubicBezTo>
                      <a:pt x="11651" y="28307"/>
                      <a:pt x="11955" y="28360"/>
                      <a:pt x="12249" y="28396"/>
                    </a:cubicBezTo>
                    <a:lnTo>
                      <a:pt x="12258" y="28396"/>
                    </a:lnTo>
                    <a:cubicBezTo>
                      <a:pt x="12294" y="28396"/>
                      <a:pt x="12320" y="28378"/>
                      <a:pt x="12329" y="28342"/>
                    </a:cubicBezTo>
                    <a:cubicBezTo>
                      <a:pt x="12329" y="28307"/>
                      <a:pt x="12303" y="28280"/>
                      <a:pt x="12267" y="28271"/>
                    </a:cubicBezTo>
                    <a:cubicBezTo>
                      <a:pt x="11973" y="28226"/>
                      <a:pt x="11678" y="28182"/>
                      <a:pt x="11384" y="28119"/>
                    </a:cubicBezTo>
                    <a:cubicBezTo>
                      <a:pt x="11378" y="28118"/>
                      <a:pt x="11371" y="28117"/>
                      <a:pt x="11365" y="28117"/>
                    </a:cubicBezTo>
                    <a:close/>
                    <a:moveTo>
                      <a:pt x="13029" y="28358"/>
                    </a:moveTo>
                    <a:cubicBezTo>
                      <a:pt x="12999" y="28358"/>
                      <a:pt x="12972" y="28383"/>
                      <a:pt x="12972" y="28414"/>
                    </a:cubicBezTo>
                    <a:cubicBezTo>
                      <a:pt x="12963" y="28449"/>
                      <a:pt x="12990" y="28485"/>
                      <a:pt x="13025" y="28485"/>
                    </a:cubicBezTo>
                    <a:cubicBezTo>
                      <a:pt x="13114" y="28494"/>
                      <a:pt x="13204" y="28503"/>
                      <a:pt x="13284" y="28503"/>
                    </a:cubicBezTo>
                    <a:lnTo>
                      <a:pt x="13293" y="28503"/>
                    </a:lnTo>
                    <a:cubicBezTo>
                      <a:pt x="13329" y="28503"/>
                      <a:pt x="13355" y="28485"/>
                      <a:pt x="13355" y="28449"/>
                    </a:cubicBezTo>
                    <a:cubicBezTo>
                      <a:pt x="13355" y="28414"/>
                      <a:pt x="13329" y="28378"/>
                      <a:pt x="13293" y="28378"/>
                    </a:cubicBezTo>
                    <a:cubicBezTo>
                      <a:pt x="13213" y="28369"/>
                      <a:pt x="13123" y="28369"/>
                      <a:pt x="13043" y="28360"/>
                    </a:cubicBezTo>
                    <a:cubicBezTo>
                      <a:pt x="13038" y="28359"/>
                      <a:pt x="13034" y="28358"/>
                      <a:pt x="13029" y="28358"/>
                    </a:cubicBezTo>
                    <a:close/>
                    <a:moveTo>
                      <a:pt x="16121" y="28289"/>
                    </a:moveTo>
                    <a:cubicBezTo>
                      <a:pt x="15826" y="28333"/>
                      <a:pt x="15523" y="28360"/>
                      <a:pt x="15229" y="28378"/>
                    </a:cubicBezTo>
                    <a:cubicBezTo>
                      <a:pt x="15193" y="28378"/>
                      <a:pt x="15166" y="28414"/>
                      <a:pt x="15166" y="28449"/>
                    </a:cubicBezTo>
                    <a:cubicBezTo>
                      <a:pt x="15166" y="28485"/>
                      <a:pt x="15193" y="28512"/>
                      <a:pt x="15229" y="28512"/>
                    </a:cubicBezTo>
                    <a:lnTo>
                      <a:pt x="15238" y="28512"/>
                    </a:lnTo>
                    <a:cubicBezTo>
                      <a:pt x="15532" y="28485"/>
                      <a:pt x="15844" y="28458"/>
                      <a:pt x="16139" y="28423"/>
                    </a:cubicBezTo>
                    <a:cubicBezTo>
                      <a:pt x="16174" y="28414"/>
                      <a:pt x="16201" y="28378"/>
                      <a:pt x="16192" y="28351"/>
                    </a:cubicBezTo>
                    <a:cubicBezTo>
                      <a:pt x="16192" y="28316"/>
                      <a:pt x="16156" y="28289"/>
                      <a:pt x="16121" y="28289"/>
                    </a:cubicBezTo>
                    <a:close/>
                    <a:moveTo>
                      <a:pt x="14970" y="28396"/>
                    </a:moveTo>
                    <a:cubicBezTo>
                      <a:pt x="14738" y="28405"/>
                      <a:pt x="14506" y="28414"/>
                      <a:pt x="14265" y="28414"/>
                    </a:cubicBezTo>
                    <a:lnTo>
                      <a:pt x="14194" y="28414"/>
                    </a:lnTo>
                    <a:cubicBezTo>
                      <a:pt x="14158" y="28414"/>
                      <a:pt x="14131" y="28440"/>
                      <a:pt x="14131" y="28476"/>
                    </a:cubicBezTo>
                    <a:cubicBezTo>
                      <a:pt x="14131" y="28512"/>
                      <a:pt x="14158" y="28539"/>
                      <a:pt x="14194" y="28539"/>
                    </a:cubicBezTo>
                    <a:lnTo>
                      <a:pt x="14265" y="28539"/>
                    </a:lnTo>
                    <a:cubicBezTo>
                      <a:pt x="14506" y="28539"/>
                      <a:pt x="14738" y="28539"/>
                      <a:pt x="14970" y="28521"/>
                    </a:cubicBezTo>
                    <a:cubicBezTo>
                      <a:pt x="15006" y="28521"/>
                      <a:pt x="15041" y="28494"/>
                      <a:pt x="15032" y="28458"/>
                    </a:cubicBezTo>
                    <a:cubicBezTo>
                      <a:pt x="15032" y="28423"/>
                      <a:pt x="15006" y="28396"/>
                      <a:pt x="14970" y="28396"/>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grpSp>
      <p:sp>
        <p:nvSpPr>
          <p:cNvPr id="6" name="Google Shape;397;p35">
            <a:extLst>
              <a:ext uri="{FF2B5EF4-FFF2-40B4-BE49-F238E27FC236}">
                <a16:creationId xmlns:a16="http://schemas.microsoft.com/office/drawing/2014/main" id="{0B3464D5-D738-B66B-60FB-B8BF27F0653F}"/>
              </a:ext>
            </a:extLst>
          </p:cNvPr>
          <p:cNvSpPr txBox="1">
            <a:spLocks noGrp="1"/>
          </p:cNvSpPr>
          <p:nvPr>
            <p:ph type="ctrTitle"/>
          </p:nvPr>
        </p:nvSpPr>
        <p:spPr>
          <a:xfrm>
            <a:off x="2097606" y="363493"/>
            <a:ext cx="4388896" cy="2865900"/>
          </a:xfrm>
          <a:prstGeom prst="rect">
            <a:avLst/>
          </a:prstGeom>
          <a:ln>
            <a:noFill/>
          </a:ln>
        </p:spPr>
        <p:txBody>
          <a:bodyPr spcFirstLastPara="1" wrap="square" lIns="91425" tIns="91425" rIns="91425" bIns="91425" anchor="b" anchorCtr="0">
            <a:noAutofit/>
          </a:bodyPr>
          <a:lstStyle/>
          <a:p>
            <a:r>
              <a:rPr lang="en-US" sz="4400" dirty="0">
                <a:latin typeface="Aptos" panose="020B0004020202020204" pitchFamily="34" charset="0"/>
                <a:sym typeface="Red Hat Display"/>
              </a:rPr>
              <a:t>DESIGN PORTFOLIO</a:t>
            </a:r>
            <a:br>
              <a:rPr lang="en-US" sz="4600" dirty="0">
                <a:latin typeface="Aptos" panose="020B0004020202020204" pitchFamily="34" charset="0"/>
                <a:sym typeface="Red Hat Display"/>
              </a:rPr>
            </a:br>
            <a:r>
              <a:rPr lang="en-US" sz="2300" dirty="0">
                <a:solidFill>
                  <a:schemeClr val="accent3"/>
                </a:solidFill>
                <a:latin typeface="Aptos" panose="020B0004020202020204" pitchFamily="34" charset="0"/>
                <a:sym typeface="Red Hat Display SemiBold"/>
              </a:rPr>
              <a:t>Michael Murray</a:t>
            </a:r>
            <a:br>
              <a:rPr lang="en-US" sz="2300" dirty="0">
                <a:solidFill>
                  <a:schemeClr val="accent3"/>
                </a:solidFill>
                <a:latin typeface="Aptos" panose="020B0004020202020204" pitchFamily="34" charset="0"/>
                <a:sym typeface="Red Hat Display SemiBold"/>
              </a:rPr>
            </a:br>
            <a:r>
              <a:rPr lang="en-US" sz="2300" dirty="0">
                <a:solidFill>
                  <a:schemeClr val="accent3"/>
                </a:solidFill>
                <a:latin typeface="Aptos" panose="020B0004020202020204" pitchFamily="34" charset="0"/>
                <a:sym typeface="Red Hat Display SemiBold"/>
              </a:rPr>
              <a:t>Sr. Mechanical Design Engineer</a:t>
            </a:r>
            <a:br>
              <a:rPr lang="en-US" sz="2300" dirty="0">
                <a:solidFill>
                  <a:schemeClr val="accent3"/>
                </a:solidFill>
                <a:latin typeface="Aptos" panose="020B0004020202020204" pitchFamily="34" charset="0"/>
                <a:sym typeface="Red Hat Display SemiBold"/>
              </a:rPr>
            </a:br>
            <a:r>
              <a:rPr lang="en-US" sz="1600" dirty="0">
                <a:solidFill>
                  <a:schemeClr val="accent2"/>
                </a:solidFill>
                <a:latin typeface="Aptos" panose="020B0004020202020204" pitchFamily="34" charset="0"/>
                <a:sym typeface="Red Hat Display SemiBold"/>
              </a:rPr>
              <a:t>2009-2025</a:t>
            </a:r>
            <a:endParaRPr lang="en-US" sz="1600" dirty="0">
              <a:solidFill>
                <a:schemeClr val="accent2"/>
              </a:solidFill>
              <a:latin typeface="Aptos" panose="020B0004020202020204" pitchFamily="34" charset="0"/>
              <a:ea typeface="Red Hat Display SemiBold"/>
              <a:cs typeface="Red Hat Display SemiBold"/>
              <a:sym typeface="Red Hat Display SemiBold"/>
            </a:endParaRPr>
          </a:p>
        </p:txBody>
      </p:sp>
      <p:grpSp>
        <p:nvGrpSpPr>
          <p:cNvPr id="25" name="Group 24">
            <a:extLst>
              <a:ext uri="{FF2B5EF4-FFF2-40B4-BE49-F238E27FC236}">
                <a16:creationId xmlns:a16="http://schemas.microsoft.com/office/drawing/2014/main" id="{4832B87E-4FF5-CFF7-8A44-D3BA0C9F234D}"/>
              </a:ext>
            </a:extLst>
          </p:cNvPr>
          <p:cNvGrpSpPr/>
          <p:nvPr/>
        </p:nvGrpSpPr>
        <p:grpSpPr>
          <a:xfrm>
            <a:off x="3076979" y="3229393"/>
            <a:ext cx="3370807" cy="850004"/>
            <a:chOff x="3724039" y="3246456"/>
            <a:chExt cx="3370807" cy="850004"/>
          </a:xfrm>
        </p:grpSpPr>
        <p:sp>
          <p:nvSpPr>
            <p:cNvPr id="12" name="Google Shape;415;p37">
              <a:extLst>
                <a:ext uri="{FF2B5EF4-FFF2-40B4-BE49-F238E27FC236}">
                  <a16:creationId xmlns:a16="http://schemas.microsoft.com/office/drawing/2014/main" id="{F38AF5DF-C923-5355-0694-8C1830F40172}"/>
                </a:ext>
              </a:extLst>
            </p:cNvPr>
            <p:cNvSpPr txBox="1">
              <a:spLocks/>
            </p:cNvSpPr>
            <p:nvPr/>
          </p:nvSpPr>
          <p:spPr>
            <a:xfrm>
              <a:off x="3724039" y="3246456"/>
              <a:ext cx="3172084" cy="82551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Aft>
                  <a:spcPts val="300"/>
                </a:spcAft>
              </a:pPr>
              <a:r>
                <a:rPr lang="en-US" dirty="0">
                  <a:solidFill>
                    <a:schemeClr val="accent2"/>
                  </a:solidFill>
                  <a:latin typeface="Aptos" panose="020B0004020202020204" pitchFamily="34" charset="0"/>
                  <a:cs typeface="Helvetica" panose="020B0604020202020204" pitchFamily="34" charset="0"/>
                </a:rPr>
                <a:t>+1 919 824 1597 (m)</a:t>
              </a:r>
            </a:p>
            <a:p>
              <a:pPr algn="r">
                <a:spcAft>
                  <a:spcPts val="300"/>
                </a:spcAft>
              </a:pPr>
              <a:r>
                <a:rPr lang="en-US" dirty="0">
                  <a:solidFill>
                    <a:schemeClr val="accent2"/>
                  </a:solidFill>
                  <a:latin typeface="Aptos" panose="020B0004020202020204" pitchFamily="34" charset="0"/>
                  <a:cs typeface="Helvetica" panose="020B0604020202020204" pitchFamily="34" charset="0"/>
                  <a:hlinkClick r:id="rId3">
                    <a:extLst>
                      <a:ext uri="{A12FA001-AC4F-418D-AE19-62706E023703}">
                        <ahyp:hlinkClr xmlns:ahyp="http://schemas.microsoft.com/office/drawing/2018/hyperlinkcolor" val="tx"/>
                      </a:ext>
                    </a:extLst>
                  </a:hlinkClick>
                </a:rPr>
                <a:t>mjm.</a:t>
              </a:r>
              <a:r>
                <a:rPr lang="en-US" dirty="0">
                  <a:solidFill>
                    <a:schemeClr val="accent2"/>
                  </a:solidFill>
                  <a:latin typeface="Aptos" panose="020B000402020202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murray</a:t>
              </a:r>
              <a:r>
                <a:rPr lang="en-US" dirty="0">
                  <a:solidFill>
                    <a:schemeClr val="accent2"/>
                  </a:solidFill>
                  <a:latin typeface="Aptos" panose="020B0004020202020204" pitchFamily="34" charset="0"/>
                  <a:cs typeface="Helvetica" panose="020B0604020202020204" pitchFamily="34" charset="0"/>
                  <a:hlinkClick r:id="rId3">
                    <a:extLst>
                      <a:ext uri="{A12FA001-AC4F-418D-AE19-62706E023703}">
                        <ahyp:hlinkClr xmlns:ahyp="http://schemas.microsoft.com/office/drawing/2018/hyperlinkcolor" val="tx"/>
                      </a:ext>
                    </a:extLst>
                  </a:hlinkClick>
                </a:rPr>
                <a:t>@gmail.com</a:t>
              </a:r>
              <a:endParaRPr lang="en-US" dirty="0">
                <a:solidFill>
                  <a:schemeClr val="accent2"/>
                </a:solidFill>
                <a:latin typeface="Aptos" panose="020B0004020202020204" pitchFamily="34" charset="0"/>
                <a:cs typeface="Helvetica" panose="020B0604020202020204" pitchFamily="34" charset="0"/>
              </a:endParaRPr>
            </a:p>
            <a:p>
              <a:pPr algn="r">
                <a:spcAft>
                  <a:spcPts val="300"/>
                </a:spcAft>
              </a:pPr>
              <a:r>
                <a:rPr lang="en-US" dirty="0">
                  <a:solidFill>
                    <a:schemeClr val="accent2"/>
                  </a:solidFill>
                  <a:latin typeface="Aptos" panose="020B0004020202020204" pitchFamily="34" charset="0"/>
                  <a:cs typeface="Helvetica" panose="020B0604020202020204" pitchFamily="34" charset="0"/>
                  <a:hlinkClick r:id="rId4">
                    <a:extLst>
                      <a:ext uri="{A12FA001-AC4F-418D-AE19-62706E023703}">
                        <ahyp:hlinkClr xmlns:ahyp="http://schemas.microsoft.com/office/drawing/2018/hyperlinkcolor" val="tx"/>
                      </a:ext>
                    </a:extLst>
                  </a:hlinkClick>
                </a:rPr>
                <a:t>https://linktr.ee/michaeljohnmurray</a:t>
              </a:r>
              <a:endParaRPr lang="en-US" dirty="0">
                <a:solidFill>
                  <a:schemeClr val="accent2"/>
                </a:solidFill>
                <a:latin typeface="Aptos" panose="020B0004020202020204" pitchFamily="34" charset="0"/>
                <a:cs typeface="Helvetica" panose="020B0604020202020204" pitchFamily="34" charset="0"/>
              </a:endParaRPr>
            </a:p>
          </p:txBody>
        </p:sp>
        <p:pic>
          <p:nvPicPr>
            <p:cNvPr id="15" name="Graphic 14" descr="Receiver with solid fill">
              <a:extLst>
                <a:ext uri="{FF2B5EF4-FFF2-40B4-BE49-F238E27FC236}">
                  <a16:creationId xmlns:a16="http://schemas.microsoft.com/office/drawing/2014/main" id="{7F7B2030-904B-402A-3554-2A5CF7EA75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2750" y="3351340"/>
              <a:ext cx="200761" cy="200761"/>
            </a:xfrm>
            <a:prstGeom prst="rect">
              <a:avLst/>
            </a:prstGeom>
          </p:spPr>
        </p:pic>
        <p:pic>
          <p:nvPicPr>
            <p:cNvPr id="17" name="Graphic 16" descr="Envelope with solid fill">
              <a:extLst>
                <a:ext uri="{FF2B5EF4-FFF2-40B4-BE49-F238E27FC236}">
                  <a16:creationId xmlns:a16="http://schemas.microsoft.com/office/drawing/2014/main" id="{DC34790D-4723-8C6F-6A10-8A51F2BF7E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2750" y="3601072"/>
              <a:ext cx="233629" cy="233629"/>
            </a:xfrm>
            <a:prstGeom prst="rect">
              <a:avLst/>
            </a:prstGeom>
          </p:spPr>
        </p:pic>
        <p:pic>
          <p:nvPicPr>
            <p:cNvPr id="23" name="Graphic 22" descr="Link with solid fill">
              <a:extLst>
                <a:ext uri="{FF2B5EF4-FFF2-40B4-BE49-F238E27FC236}">
                  <a16:creationId xmlns:a16="http://schemas.microsoft.com/office/drawing/2014/main" id="{5A518111-8686-7971-324A-557FBE1488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2750" y="3854364"/>
              <a:ext cx="242096" cy="242096"/>
            </a:xfrm>
            <a:prstGeom prst="rect">
              <a:avLst/>
            </a:prstGeom>
          </p:spPr>
        </p:pic>
      </p:grpSp>
      <p:pic>
        <p:nvPicPr>
          <p:cNvPr id="2" name="Picture 1">
            <a:extLst>
              <a:ext uri="{FF2B5EF4-FFF2-40B4-BE49-F238E27FC236}">
                <a16:creationId xmlns:a16="http://schemas.microsoft.com/office/drawing/2014/main" id="{4482FE8C-5B2B-7817-B7AA-136625B2A53A}"/>
              </a:ext>
            </a:extLst>
          </p:cNvPr>
          <p:cNvPicPr>
            <a:picLocks noChangeAspect="1"/>
          </p:cNvPicPr>
          <p:nvPr/>
        </p:nvPicPr>
        <p:blipFill>
          <a:blip r:embed="rId8"/>
          <a:stretch>
            <a:fillRect/>
          </a:stretch>
        </p:blipFill>
        <p:spPr>
          <a:xfrm>
            <a:off x="6594850" y="970767"/>
            <a:ext cx="2342573" cy="30845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61" name="Google Shape;414;p37">
            <a:extLst>
              <a:ext uri="{FF2B5EF4-FFF2-40B4-BE49-F238E27FC236}">
                <a16:creationId xmlns:a16="http://schemas.microsoft.com/office/drawing/2014/main" id="{D9F72F11-9C0A-54FA-3519-A9822DFCBED6}"/>
              </a:ext>
            </a:extLst>
          </p:cNvPr>
          <p:cNvSpPr txBox="1">
            <a:spLocks noGrp="1"/>
          </p:cNvSpPr>
          <p:nvPr>
            <p:ph type="title" idx="4294967295"/>
          </p:nvPr>
        </p:nvSpPr>
        <p:spPr>
          <a:xfrm>
            <a:off x="715169" y="169037"/>
            <a:ext cx="7702550" cy="573087"/>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1pPr>
            <a:lvl2pPr marR="0" lvl="1"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2pPr>
            <a:lvl3pPr marR="0" lvl="2"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3pPr>
            <a:lvl4pPr marR="0" lvl="3"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4pPr>
            <a:lvl5pPr marR="0" lvl="4"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5pPr>
            <a:lvl6pPr marR="0" lvl="5"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6pPr>
            <a:lvl7pPr marR="0" lvl="6"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7pPr>
            <a:lvl8pPr marR="0" lvl="7"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8pPr>
            <a:lvl9pPr marR="0" lvl="8"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9pPr>
          </a:lstStyle>
          <a:p>
            <a:pPr marL="0" marR="0" lvl="0" indent="0" algn="ctr" defTabSz="914400" rtl="0" eaLnBrk="1" fontAlgn="auto" latinLnBrk="0" hangingPunct="1">
              <a:lnSpc>
                <a:spcPct val="100000"/>
              </a:lnSpc>
              <a:spcBef>
                <a:spcPts val="0"/>
              </a:spcBef>
              <a:spcAft>
                <a:spcPts val="0"/>
              </a:spcAft>
              <a:buClr>
                <a:schemeClr val="dk1"/>
              </a:buClr>
              <a:buSzPts val="3000"/>
              <a:buFont typeface="Space Mono"/>
              <a:buNone/>
              <a:tabLst/>
              <a:defRPr/>
            </a:pPr>
            <a:r>
              <a:rPr kumimoji="0" lang="en-US" sz="2500" b="1" i="0" u="none" strike="noStrike" kern="0" cap="none" spc="0" normalizeH="0" baseline="0" noProof="0" dirty="0">
                <a:ln>
                  <a:noFill/>
                </a:ln>
                <a:solidFill>
                  <a:schemeClr val="accent1">
                    <a:lumMod val="75000"/>
                  </a:schemeClr>
                </a:solidFill>
                <a:effectLst/>
                <a:uLnTx/>
                <a:uFillTx/>
                <a:latin typeface="Space Mono" panose="020B0604020202020204" charset="0"/>
                <a:ea typeface="Space Mono"/>
                <a:cs typeface="Space Mono"/>
                <a:sym typeface="Space Mono"/>
              </a:rPr>
              <a:t>TABLE OF CONTENTS</a:t>
            </a:r>
          </a:p>
        </p:txBody>
      </p:sp>
      <p:grpSp>
        <p:nvGrpSpPr>
          <p:cNvPr id="662" name="Group 661">
            <a:extLst>
              <a:ext uri="{FF2B5EF4-FFF2-40B4-BE49-F238E27FC236}">
                <a16:creationId xmlns:a16="http://schemas.microsoft.com/office/drawing/2014/main" id="{D3E4CE82-67C4-8B30-A9E1-6868538BCD7E}"/>
              </a:ext>
            </a:extLst>
          </p:cNvPr>
          <p:cNvGrpSpPr/>
          <p:nvPr/>
        </p:nvGrpSpPr>
        <p:grpSpPr>
          <a:xfrm>
            <a:off x="1588779" y="755135"/>
            <a:ext cx="1542986" cy="945744"/>
            <a:chOff x="504088" y="1101721"/>
            <a:chExt cx="1778619" cy="720032"/>
          </a:xfrm>
        </p:grpSpPr>
        <p:sp>
          <p:nvSpPr>
            <p:cNvPr id="663" name="TextBox 662">
              <a:extLst>
                <a:ext uri="{FF2B5EF4-FFF2-40B4-BE49-F238E27FC236}">
                  <a16:creationId xmlns:a16="http://schemas.microsoft.com/office/drawing/2014/main" id="{A91DD24C-7015-9771-B525-EB26C2CEA444}"/>
                </a:ext>
              </a:extLst>
            </p:cNvPr>
            <p:cNvSpPr txBox="1"/>
            <p:nvPr/>
          </p:nvSpPr>
          <p:spPr>
            <a:xfrm>
              <a:off x="504088" y="1634162"/>
              <a:ext cx="1778619" cy="187591"/>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3" action="ppaction://hlinksldjump">
                    <a:extLst>
                      <a:ext uri="{A12FA001-AC4F-418D-AE19-62706E023703}">
                        <ahyp:hlinkClr xmlns:ahyp="http://schemas.microsoft.com/office/drawing/2018/hyperlinkcolor" val="tx"/>
                      </a:ext>
                    </a:extLst>
                  </a:hlinkClick>
                </a:rPr>
                <a:t>3D X-RAY DEVICE</a:t>
              </a:r>
              <a:endParaRPr lang="en-US" sz="1300" b="1" dirty="0">
                <a:solidFill>
                  <a:schemeClr val="accent3"/>
                </a:solidFill>
                <a:latin typeface="Aptos" panose="020B0004020202020204" pitchFamily="34" charset="0"/>
              </a:endParaRPr>
            </a:p>
          </p:txBody>
        </p:sp>
        <p:pic>
          <p:nvPicPr>
            <p:cNvPr id="664" name="Picture 663">
              <a:extLst>
                <a:ext uri="{FF2B5EF4-FFF2-40B4-BE49-F238E27FC236}">
                  <a16:creationId xmlns:a16="http://schemas.microsoft.com/office/drawing/2014/main" id="{D3C8CCF3-6929-6543-0C42-132273498649}"/>
                </a:ext>
              </a:extLst>
            </p:cNvPr>
            <p:cNvPicPr>
              <a:picLocks noChangeAspect="1"/>
            </p:cNvPicPr>
            <p:nvPr/>
          </p:nvPicPr>
          <p:blipFill>
            <a:blip r:embed="rId4"/>
            <a:stretch>
              <a:fillRect/>
            </a:stretch>
          </p:blipFill>
          <p:spPr>
            <a:xfrm>
              <a:off x="879057" y="1101721"/>
              <a:ext cx="1001782" cy="564819"/>
            </a:xfrm>
            <a:prstGeom prst="rect">
              <a:avLst/>
            </a:prstGeom>
          </p:spPr>
        </p:pic>
      </p:grpSp>
      <p:grpSp>
        <p:nvGrpSpPr>
          <p:cNvPr id="665" name="Group 664">
            <a:extLst>
              <a:ext uri="{FF2B5EF4-FFF2-40B4-BE49-F238E27FC236}">
                <a16:creationId xmlns:a16="http://schemas.microsoft.com/office/drawing/2014/main" id="{F79632A5-0EAC-7F02-194A-4E2E00394BF3}"/>
              </a:ext>
            </a:extLst>
          </p:cNvPr>
          <p:cNvGrpSpPr/>
          <p:nvPr/>
        </p:nvGrpSpPr>
        <p:grpSpPr>
          <a:xfrm>
            <a:off x="7457295" y="680602"/>
            <a:ext cx="1663264" cy="1195693"/>
            <a:chOff x="6705613" y="791134"/>
            <a:chExt cx="2128023" cy="1327572"/>
          </a:xfrm>
        </p:grpSpPr>
        <p:sp>
          <p:nvSpPr>
            <p:cNvPr id="666" name="TextBox 665">
              <a:extLst>
                <a:ext uri="{FF2B5EF4-FFF2-40B4-BE49-F238E27FC236}">
                  <a16:creationId xmlns:a16="http://schemas.microsoft.com/office/drawing/2014/main" id="{AEF783E1-E36C-33B8-738C-3FBD62E25ABF}"/>
                </a:ext>
              </a:extLst>
            </p:cNvPr>
            <p:cNvSpPr txBox="1"/>
            <p:nvPr/>
          </p:nvSpPr>
          <p:spPr>
            <a:xfrm>
              <a:off x="6705613" y="1626263"/>
              <a:ext cx="2128023"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5" action="ppaction://hlinksldjump">
                    <a:extLst>
                      <a:ext uri="{A12FA001-AC4F-418D-AE19-62706E023703}">
                        <ahyp:hlinkClr xmlns:ahyp="http://schemas.microsoft.com/office/drawing/2018/hyperlinkcolor" val="tx"/>
                      </a:ext>
                    </a:extLst>
                  </a:hlinkClick>
                </a:rPr>
                <a:t>AUTOMATED FOOD PROCESSING DEVICE</a:t>
              </a:r>
              <a:endParaRPr lang="en-US" sz="1300" b="1" dirty="0">
                <a:solidFill>
                  <a:schemeClr val="accent3"/>
                </a:solidFill>
                <a:latin typeface="Aptos" panose="020B0004020202020204" pitchFamily="34" charset="0"/>
              </a:endParaRPr>
            </a:p>
          </p:txBody>
        </p:sp>
        <p:pic>
          <p:nvPicPr>
            <p:cNvPr id="667" name="Picture 666">
              <a:extLst>
                <a:ext uri="{FF2B5EF4-FFF2-40B4-BE49-F238E27FC236}">
                  <a16:creationId xmlns:a16="http://schemas.microsoft.com/office/drawing/2014/main" id="{8F69A34C-313B-31BB-BE75-FE3515079DF9}"/>
                </a:ext>
              </a:extLst>
            </p:cNvPr>
            <p:cNvPicPr>
              <a:picLocks noChangeAspect="1"/>
            </p:cNvPicPr>
            <p:nvPr/>
          </p:nvPicPr>
          <p:blipFill>
            <a:blip r:embed="rId6"/>
            <a:stretch>
              <a:fillRect/>
            </a:stretch>
          </p:blipFill>
          <p:spPr>
            <a:xfrm>
              <a:off x="7409985" y="791134"/>
              <a:ext cx="719284" cy="835129"/>
            </a:xfrm>
            <a:prstGeom prst="rect">
              <a:avLst/>
            </a:prstGeom>
          </p:spPr>
        </p:pic>
      </p:grpSp>
      <p:grpSp>
        <p:nvGrpSpPr>
          <p:cNvPr id="671" name="Group 670">
            <a:extLst>
              <a:ext uri="{FF2B5EF4-FFF2-40B4-BE49-F238E27FC236}">
                <a16:creationId xmlns:a16="http://schemas.microsoft.com/office/drawing/2014/main" id="{9A3FF5D6-FC7F-46C1-774E-2A8820874966}"/>
              </a:ext>
            </a:extLst>
          </p:cNvPr>
          <p:cNvGrpSpPr/>
          <p:nvPr/>
        </p:nvGrpSpPr>
        <p:grpSpPr>
          <a:xfrm>
            <a:off x="4698242" y="817896"/>
            <a:ext cx="1542076" cy="1050176"/>
            <a:chOff x="4588532" y="931956"/>
            <a:chExt cx="1989805" cy="1191205"/>
          </a:xfrm>
        </p:grpSpPr>
        <p:sp>
          <p:nvSpPr>
            <p:cNvPr id="672" name="TextBox 671">
              <a:extLst>
                <a:ext uri="{FF2B5EF4-FFF2-40B4-BE49-F238E27FC236}">
                  <a16:creationId xmlns:a16="http://schemas.microsoft.com/office/drawing/2014/main" id="{1DB3D250-B006-0DB0-F12F-5A351601CDF1}"/>
                </a:ext>
              </a:extLst>
            </p:cNvPr>
            <p:cNvSpPr txBox="1"/>
            <p:nvPr/>
          </p:nvSpPr>
          <p:spPr>
            <a:xfrm>
              <a:off x="4588532" y="1630718"/>
              <a:ext cx="1989805" cy="492443"/>
            </a:xfrm>
            <a:prstGeom prst="rect">
              <a:avLst/>
            </a:prstGeom>
            <a:noFill/>
          </p:spPr>
          <p:txBody>
            <a:bodyPr wrap="square" rtlCol="0">
              <a:spAutoFit/>
            </a:bodyPr>
            <a:lstStyle/>
            <a:p>
              <a:pPr algn="ctr">
                <a:spcAft>
                  <a:spcPts val="300"/>
                </a:spcAft>
              </a:pPr>
              <a:r>
                <a:rPr lang="en-US" sz="1300" b="1" dirty="0">
                  <a:solidFill>
                    <a:schemeClr val="accent3"/>
                  </a:solidFill>
                  <a:latin typeface="Aptos" panose="020B0004020202020204" pitchFamily="34" charset="0"/>
                  <a:hlinkClick r:id="rId7" action="ppaction://hlinksldjump">
                    <a:extLst>
                      <a:ext uri="{A12FA001-AC4F-418D-AE19-62706E023703}">
                        <ahyp:hlinkClr xmlns:ahyp="http://schemas.microsoft.com/office/drawing/2018/hyperlinkcolor" val="tx"/>
                      </a:ext>
                    </a:extLst>
                  </a:hlinkClick>
                </a:rPr>
                <a:t>DIAPHRAGM PUMP CATHETER DEVICE</a:t>
              </a:r>
              <a:endParaRPr lang="en-US" sz="1300" b="1" dirty="0">
                <a:solidFill>
                  <a:schemeClr val="accent3"/>
                </a:solidFill>
                <a:latin typeface="Aptos" panose="020B0004020202020204" pitchFamily="34" charset="0"/>
              </a:endParaRPr>
            </a:p>
          </p:txBody>
        </p:sp>
        <p:pic>
          <p:nvPicPr>
            <p:cNvPr id="673" name="Picture 672">
              <a:extLst>
                <a:ext uri="{FF2B5EF4-FFF2-40B4-BE49-F238E27FC236}">
                  <a16:creationId xmlns:a16="http://schemas.microsoft.com/office/drawing/2014/main" id="{4C6CDB97-FC20-8815-7B77-54C5B7F35659}"/>
                </a:ext>
              </a:extLst>
            </p:cNvPr>
            <p:cNvPicPr>
              <a:picLocks noChangeAspect="1"/>
            </p:cNvPicPr>
            <p:nvPr/>
          </p:nvPicPr>
          <p:blipFill>
            <a:blip r:embed="rId8"/>
            <a:stretch>
              <a:fillRect/>
            </a:stretch>
          </p:blipFill>
          <p:spPr>
            <a:xfrm>
              <a:off x="4917599" y="931956"/>
              <a:ext cx="1447316" cy="726394"/>
            </a:xfrm>
            <a:prstGeom prst="rect">
              <a:avLst/>
            </a:prstGeom>
          </p:spPr>
        </p:pic>
      </p:grpSp>
      <p:grpSp>
        <p:nvGrpSpPr>
          <p:cNvPr id="674" name="Group 673">
            <a:extLst>
              <a:ext uri="{FF2B5EF4-FFF2-40B4-BE49-F238E27FC236}">
                <a16:creationId xmlns:a16="http://schemas.microsoft.com/office/drawing/2014/main" id="{0942778B-24D2-A837-ACE1-BB6609668EA9}"/>
              </a:ext>
            </a:extLst>
          </p:cNvPr>
          <p:cNvGrpSpPr/>
          <p:nvPr/>
        </p:nvGrpSpPr>
        <p:grpSpPr>
          <a:xfrm>
            <a:off x="7562954" y="2187763"/>
            <a:ext cx="1548357" cy="1239516"/>
            <a:chOff x="428816" y="1951911"/>
            <a:chExt cx="1929161" cy="1664877"/>
          </a:xfrm>
        </p:grpSpPr>
        <p:sp>
          <p:nvSpPr>
            <p:cNvPr id="675" name="TextBox 674">
              <a:extLst>
                <a:ext uri="{FF2B5EF4-FFF2-40B4-BE49-F238E27FC236}">
                  <a16:creationId xmlns:a16="http://schemas.microsoft.com/office/drawing/2014/main" id="{448BE6A5-E87F-C1F3-C515-BF9067B2B454}"/>
                </a:ext>
              </a:extLst>
            </p:cNvPr>
            <p:cNvSpPr txBox="1"/>
            <p:nvPr/>
          </p:nvSpPr>
          <p:spPr>
            <a:xfrm>
              <a:off x="428816" y="2955355"/>
              <a:ext cx="1929161" cy="66143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9" action="ppaction://hlinksldjump">
                    <a:extLst>
                      <a:ext uri="{A12FA001-AC4F-418D-AE19-62706E023703}">
                        <ahyp:hlinkClr xmlns:ahyp="http://schemas.microsoft.com/office/drawing/2018/hyperlinkcolor" val="tx"/>
                      </a:ext>
                    </a:extLst>
                  </a:hlinkClick>
                </a:rPr>
                <a:t>ENDOSCOPIC VISION SYSTEM</a:t>
              </a:r>
              <a:endParaRPr lang="en-US" sz="1300" b="1" dirty="0">
                <a:solidFill>
                  <a:schemeClr val="accent3"/>
                </a:solidFill>
                <a:latin typeface="Aptos" panose="020B0004020202020204" pitchFamily="34" charset="0"/>
              </a:endParaRPr>
            </a:p>
          </p:txBody>
        </p:sp>
        <p:pic>
          <p:nvPicPr>
            <p:cNvPr id="676" name="Picture 675">
              <a:extLst>
                <a:ext uri="{FF2B5EF4-FFF2-40B4-BE49-F238E27FC236}">
                  <a16:creationId xmlns:a16="http://schemas.microsoft.com/office/drawing/2014/main" id="{5197D128-990E-F7E6-526F-86DF578C462E}"/>
                </a:ext>
              </a:extLst>
            </p:cNvPr>
            <p:cNvPicPr>
              <a:picLocks noChangeAspect="1"/>
            </p:cNvPicPr>
            <p:nvPr/>
          </p:nvPicPr>
          <p:blipFill>
            <a:blip r:embed="rId10"/>
            <a:stretch>
              <a:fillRect/>
            </a:stretch>
          </p:blipFill>
          <p:spPr>
            <a:xfrm>
              <a:off x="896877" y="1951911"/>
              <a:ext cx="993037" cy="994628"/>
            </a:xfrm>
            <a:prstGeom prst="rect">
              <a:avLst/>
            </a:prstGeom>
          </p:spPr>
        </p:pic>
      </p:grpSp>
      <p:grpSp>
        <p:nvGrpSpPr>
          <p:cNvPr id="677" name="Group 676">
            <a:extLst>
              <a:ext uri="{FF2B5EF4-FFF2-40B4-BE49-F238E27FC236}">
                <a16:creationId xmlns:a16="http://schemas.microsoft.com/office/drawing/2014/main" id="{7CC23EFA-B980-7295-B161-D2E9D39D08CE}"/>
              </a:ext>
            </a:extLst>
          </p:cNvPr>
          <p:cNvGrpSpPr/>
          <p:nvPr/>
        </p:nvGrpSpPr>
        <p:grpSpPr>
          <a:xfrm>
            <a:off x="1471010" y="2128925"/>
            <a:ext cx="2100146" cy="1293147"/>
            <a:chOff x="2403090" y="2066647"/>
            <a:chExt cx="2100146" cy="1293146"/>
          </a:xfrm>
        </p:grpSpPr>
        <p:sp>
          <p:nvSpPr>
            <p:cNvPr id="678" name="TextBox 677">
              <a:extLst>
                <a:ext uri="{FF2B5EF4-FFF2-40B4-BE49-F238E27FC236}">
                  <a16:creationId xmlns:a16="http://schemas.microsoft.com/office/drawing/2014/main" id="{F20C08D4-13E2-1858-38DA-32450DCEAD8D}"/>
                </a:ext>
              </a:extLst>
            </p:cNvPr>
            <p:cNvSpPr txBox="1"/>
            <p:nvPr/>
          </p:nvSpPr>
          <p:spPr>
            <a:xfrm>
              <a:off x="2403090" y="2867350"/>
              <a:ext cx="2100146"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11" action="ppaction://hlinksldjump">
                    <a:extLst>
                      <a:ext uri="{A12FA001-AC4F-418D-AE19-62706E023703}">
                        <ahyp:hlinkClr xmlns:ahyp="http://schemas.microsoft.com/office/drawing/2018/hyperlinkcolor" val="tx"/>
                      </a:ext>
                    </a:extLst>
                  </a:hlinkClick>
                </a:rPr>
                <a:t>SWITCHGEAR REMOTE RACKING DEVICE</a:t>
              </a:r>
              <a:endParaRPr lang="en-US" sz="1300" b="1" dirty="0">
                <a:solidFill>
                  <a:schemeClr val="accent3"/>
                </a:solidFill>
                <a:latin typeface="Aptos" panose="020B0004020202020204" pitchFamily="34" charset="0"/>
              </a:endParaRPr>
            </a:p>
          </p:txBody>
        </p:sp>
        <p:pic>
          <p:nvPicPr>
            <p:cNvPr id="679" name="Picture 678">
              <a:extLst>
                <a:ext uri="{FF2B5EF4-FFF2-40B4-BE49-F238E27FC236}">
                  <a16:creationId xmlns:a16="http://schemas.microsoft.com/office/drawing/2014/main" id="{18EF9969-AC60-B7E4-EC73-89BE0E10E928}"/>
                </a:ext>
              </a:extLst>
            </p:cNvPr>
            <p:cNvPicPr>
              <a:picLocks noChangeAspect="1"/>
            </p:cNvPicPr>
            <p:nvPr/>
          </p:nvPicPr>
          <p:blipFill>
            <a:blip r:embed="rId12"/>
            <a:stretch>
              <a:fillRect/>
            </a:stretch>
          </p:blipFill>
          <p:spPr>
            <a:xfrm>
              <a:off x="3176853" y="2066647"/>
              <a:ext cx="597214" cy="760603"/>
            </a:xfrm>
            <a:prstGeom prst="rect">
              <a:avLst/>
            </a:prstGeom>
            <a:ln>
              <a:noFill/>
            </a:ln>
            <a:effectLst/>
          </p:spPr>
        </p:pic>
      </p:grpSp>
      <p:grpSp>
        <p:nvGrpSpPr>
          <p:cNvPr id="680" name="Group 679">
            <a:extLst>
              <a:ext uri="{FF2B5EF4-FFF2-40B4-BE49-F238E27FC236}">
                <a16:creationId xmlns:a16="http://schemas.microsoft.com/office/drawing/2014/main" id="{E9E0319F-F343-0A5E-25C8-DE55AE288FC2}"/>
              </a:ext>
            </a:extLst>
          </p:cNvPr>
          <p:cNvGrpSpPr/>
          <p:nvPr/>
        </p:nvGrpSpPr>
        <p:grpSpPr>
          <a:xfrm>
            <a:off x="3100801" y="1969831"/>
            <a:ext cx="1982377" cy="1461709"/>
            <a:chOff x="4556290" y="1890706"/>
            <a:chExt cx="1982377" cy="1461708"/>
          </a:xfrm>
        </p:grpSpPr>
        <p:sp>
          <p:nvSpPr>
            <p:cNvPr id="681" name="TextBox 680">
              <a:extLst>
                <a:ext uri="{FF2B5EF4-FFF2-40B4-BE49-F238E27FC236}">
                  <a16:creationId xmlns:a16="http://schemas.microsoft.com/office/drawing/2014/main" id="{CC47B683-0C78-E064-2F0F-05F8522D3E67}"/>
                </a:ext>
              </a:extLst>
            </p:cNvPr>
            <p:cNvSpPr txBox="1"/>
            <p:nvPr/>
          </p:nvSpPr>
          <p:spPr>
            <a:xfrm>
              <a:off x="4556290" y="2859971"/>
              <a:ext cx="1982377"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13" action="ppaction://hlinksldjump">
                    <a:extLst>
                      <a:ext uri="{A12FA001-AC4F-418D-AE19-62706E023703}">
                        <ahyp:hlinkClr xmlns:ahyp="http://schemas.microsoft.com/office/drawing/2018/hyperlinkcolor" val="tx"/>
                      </a:ext>
                    </a:extLst>
                  </a:hlinkClick>
                </a:rPr>
                <a:t>PORTABLE MECH OPERATED CELL</a:t>
              </a:r>
              <a:endParaRPr lang="en-US" sz="1300" b="1" dirty="0">
                <a:solidFill>
                  <a:schemeClr val="accent3"/>
                </a:solidFill>
                <a:latin typeface="Aptos" panose="020B0004020202020204" pitchFamily="34" charset="0"/>
              </a:endParaRPr>
            </a:p>
          </p:txBody>
        </p:sp>
        <p:pic>
          <p:nvPicPr>
            <p:cNvPr id="682" name="Picture 681">
              <a:extLst>
                <a:ext uri="{FF2B5EF4-FFF2-40B4-BE49-F238E27FC236}">
                  <a16:creationId xmlns:a16="http://schemas.microsoft.com/office/drawing/2014/main" id="{B7A9C08B-7BC7-F5C0-7679-F94672DF6AAD}"/>
                </a:ext>
              </a:extLst>
            </p:cNvPr>
            <p:cNvPicPr>
              <a:picLocks noChangeAspect="1"/>
            </p:cNvPicPr>
            <p:nvPr/>
          </p:nvPicPr>
          <p:blipFill>
            <a:blip r:embed="rId14"/>
            <a:stretch>
              <a:fillRect/>
            </a:stretch>
          </p:blipFill>
          <p:spPr>
            <a:xfrm>
              <a:off x="5168338" y="1890706"/>
              <a:ext cx="758282" cy="936701"/>
            </a:xfrm>
            <a:prstGeom prst="rect">
              <a:avLst/>
            </a:prstGeom>
          </p:spPr>
        </p:pic>
      </p:grpSp>
      <p:grpSp>
        <p:nvGrpSpPr>
          <p:cNvPr id="683" name="Group 682">
            <a:extLst>
              <a:ext uri="{FF2B5EF4-FFF2-40B4-BE49-F238E27FC236}">
                <a16:creationId xmlns:a16="http://schemas.microsoft.com/office/drawing/2014/main" id="{1E7B06BC-2E87-FC5B-EDD9-E2E5B460AA29}"/>
              </a:ext>
            </a:extLst>
          </p:cNvPr>
          <p:cNvGrpSpPr/>
          <p:nvPr/>
        </p:nvGrpSpPr>
        <p:grpSpPr>
          <a:xfrm>
            <a:off x="777751" y="3851769"/>
            <a:ext cx="1582773" cy="1023489"/>
            <a:chOff x="2862607" y="3635138"/>
            <a:chExt cx="1582773" cy="1023490"/>
          </a:xfrm>
        </p:grpSpPr>
        <p:sp>
          <p:nvSpPr>
            <p:cNvPr id="684" name="TextBox 683">
              <a:extLst>
                <a:ext uri="{FF2B5EF4-FFF2-40B4-BE49-F238E27FC236}">
                  <a16:creationId xmlns:a16="http://schemas.microsoft.com/office/drawing/2014/main" id="{9DF77649-80A5-762F-63CC-E2FC69D1EB97}"/>
                </a:ext>
              </a:extLst>
            </p:cNvPr>
            <p:cNvSpPr txBox="1"/>
            <p:nvPr/>
          </p:nvSpPr>
          <p:spPr>
            <a:xfrm>
              <a:off x="2885831" y="4366240"/>
              <a:ext cx="1559549" cy="292388"/>
            </a:xfrm>
            <a:prstGeom prst="rect">
              <a:avLst/>
            </a:prstGeom>
            <a:noFill/>
          </p:spPr>
          <p:txBody>
            <a:bodyPr wrap="square">
              <a:spAutoFit/>
            </a:bodyPr>
            <a:lstStyle/>
            <a:p>
              <a:pPr>
                <a:spcAft>
                  <a:spcPts val="300"/>
                </a:spcAft>
              </a:pPr>
              <a:r>
                <a:rPr lang="en-US" sz="1300" b="1" dirty="0">
                  <a:solidFill>
                    <a:schemeClr val="accent3"/>
                  </a:solidFill>
                  <a:latin typeface="Aptos" panose="020B0004020202020204" pitchFamily="34" charset="0"/>
                  <a:hlinkClick r:id="rId15" action="ppaction://hlinksldjump">
                    <a:extLst>
                      <a:ext uri="{A12FA001-AC4F-418D-AE19-62706E023703}">
                        <ahyp:hlinkClr xmlns:ahyp="http://schemas.microsoft.com/office/drawing/2018/hyperlinkcolor" val="tx"/>
                      </a:ext>
                    </a:extLst>
                  </a:hlinkClick>
                </a:rPr>
                <a:t>NARROW LOCK</a:t>
              </a:r>
              <a:endParaRPr lang="en-US" sz="1300" b="1" dirty="0">
                <a:solidFill>
                  <a:schemeClr val="accent3"/>
                </a:solidFill>
                <a:latin typeface="Aptos" panose="020B0004020202020204" pitchFamily="34" charset="0"/>
              </a:endParaRPr>
            </a:p>
          </p:txBody>
        </p:sp>
        <p:pic>
          <p:nvPicPr>
            <p:cNvPr id="685" name="Picture 684" descr="A close-up of a device&#10;&#10;Description automatically generated">
              <a:extLst>
                <a:ext uri="{FF2B5EF4-FFF2-40B4-BE49-F238E27FC236}">
                  <a16:creationId xmlns:a16="http://schemas.microsoft.com/office/drawing/2014/main" id="{3DC4FD2F-63D2-E078-841F-8604FECBF631}"/>
                </a:ext>
              </a:extLst>
            </p:cNvPr>
            <p:cNvPicPr>
              <a:picLocks noChangeAspect="1"/>
            </p:cNvPicPr>
            <p:nvPr/>
          </p:nvPicPr>
          <p:blipFill>
            <a:blip r:embed="rId16"/>
            <a:stretch>
              <a:fillRect/>
            </a:stretch>
          </p:blipFill>
          <p:spPr>
            <a:xfrm rot="16200000">
              <a:off x="3123460" y="3374285"/>
              <a:ext cx="704001" cy="1225707"/>
            </a:xfrm>
            <a:prstGeom prst="rect">
              <a:avLst/>
            </a:prstGeom>
          </p:spPr>
        </p:pic>
      </p:grpSp>
      <p:grpSp>
        <p:nvGrpSpPr>
          <p:cNvPr id="686" name="Group 685">
            <a:extLst>
              <a:ext uri="{FF2B5EF4-FFF2-40B4-BE49-F238E27FC236}">
                <a16:creationId xmlns:a16="http://schemas.microsoft.com/office/drawing/2014/main" id="{27BA7385-A3D2-159B-D444-579202D44B20}"/>
              </a:ext>
            </a:extLst>
          </p:cNvPr>
          <p:cNvGrpSpPr/>
          <p:nvPr/>
        </p:nvGrpSpPr>
        <p:grpSpPr>
          <a:xfrm>
            <a:off x="5779239" y="2031278"/>
            <a:ext cx="2276707" cy="1408813"/>
            <a:chOff x="241594" y="3496206"/>
            <a:chExt cx="2276707" cy="1408812"/>
          </a:xfrm>
        </p:grpSpPr>
        <p:sp>
          <p:nvSpPr>
            <p:cNvPr id="687" name="TextBox 686">
              <a:extLst>
                <a:ext uri="{FF2B5EF4-FFF2-40B4-BE49-F238E27FC236}">
                  <a16:creationId xmlns:a16="http://schemas.microsoft.com/office/drawing/2014/main" id="{59DEEBB5-D246-8FBC-2CA9-2C4D08BA2081}"/>
                </a:ext>
              </a:extLst>
            </p:cNvPr>
            <p:cNvSpPr txBox="1"/>
            <p:nvPr/>
          </p:nvSpPr>
          <p:spPr>
            <a:xfrm>
              <a:off x="241594" y="4412575"/>
              <a:ext cx="2276707"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17" action="ppaction://hlinksldjump">
                    <a:extLst>
                      <a:ext uri="{A12FA001-AC4F-418D-AE19-62706E023703}">
                        <ahyp:hlinkClr xmlns:ahyp="http://schemas.microsoft.com/office/drawing/2018/hyperlinkcolor" val="tx"/>
                      </a:ext>
                    </a:extLst>
                  </a:hlinkClick>
                </a:rPr>
                <a:t>CENTRIFUGAL AIR COMPRESSOR</a:t>
              </a:r>
              <a:endParaRPr lang="en-US" sz="1300" b="1" dirty="0">
                <a:solidFill>
                  <a:schemeClr val="accent3"/>
                </a:solidFill>
                <a:latin typeface="Aptos" panose="020B0004020202020204" pitchFamily="34" charset="0"/>
              </a:endParaRPr>
            </a:p>
          </p:txBody>
        </p:sp>
        <p:pic>
          <p:nvPicPr>
            <p:cNvPr id="688" name="Picture 687">
              <a:extLst>
                <a:ext uri="{FF2B5EF4-FFF2-40B4-BE49-F238E27FC236}">
                  <a16:creationId xmlns:a16="http://schemas.microsoft.com/office/drawing/2014/main" id="{3CDA9F6A-736E-726E-E0AA-CE67E3390F84}"/>
                </a:ext>
              </a:extLst>
            </p:cNvPr>
            <p:cNvPicPr>
              <a:picLocks noChangeAspect="1"/>
            </p:cNvPicPr>
            <p:nvPr/>
          </p:nvPicPr>
          <p:blipFill rotWithShape="1">
            <a:blip r:embed="rId18"/>
            <a:srcRect l="1516" r="8765"/>
            <a:stretch/>
          </p:blipFill>
          <p:spPr>
            <a:xfrm>
              <a:off x="846560" y="3496206"/>
              <a:ext cx="1012108" cy="907553"/>
            </a:xfrm>
            <a:prstGeom prst="rect">
              <a:avLst/>
            </a:prstGeom>
          </p:spPr>
        </p:pic>
      </p:grpSp>
      <p:grpSp>
        <p:nvGrpSpPr>
          <p:cNvPr id="689" name="Group 688">
            <a:extLst>
              <a:ext uri="{FF2B5EF4-FFF2-40B4-BE49-F238E27FC236}">
                <a16:creationId xmlns:a16="http://schemas.microsoft.com/office/drawing/2014/main" id="{CCDC7066-F761-DA2C-E4FE-218B654C56D1}"/>
              </a:ext>
            </a:extLst>
          </p:cNvPr>
          <p:cNvGrpSpPr/>
          <p:nvPr/>
        </p:nvGrpSpPr>
        <p:grpSpPr>
          <a:xfrm>
            <a:off x="4663558" y="2092373"/>
            <a:ext cx="1624873" cy="1339167"/>
            <a:chOff x="2536687" y="3511869"/>
            <a:chExt cx="1802096" cy="1339167"/>
          </a:xfrm>
        </p:grpSpPr>
        <p:pic>
          <p:nvPicPr>
            <p:cNvPr id="690" name="Picture 689">
              <a:extLst>
                <a:ext uri="{FF2B5EF4-FFF2-40B4-BE49-F238E27FC236}">
                  <a16:creationId xmlns:a16="http://schemas.microsoft.com/office/drawing/2014/main" id="{104F62B5-1450-433D-A3A8-B29C2A7449A5}"/>
                </a:ext>
              </a:extLst>
            </p:cNvPr>
            <p:cNvPicPr>
              <a:picLocks noChangeAspect="1"/>
            </p:cNvPicPr>
            <p:nvPr/>
          </p:nvPicPr>
          <p:blipFill>
            <a:blip r:embed="rId19"/>
            <a:stretch>
              <a:fillRect/>
            </a:stretch>
          </p:blipFill>
          <p:spPr>
            <a:xfrm>
              <a:off x="2667518" y="3511869"/>
              <a:ext cx="1671265" cy="798454"/>
            </a:xfrm>
            <a:prstGeom prst="rect">
              <a:avLst/>
            </a:prstGeom>
          </p:spPr>
        </p:pic>
        <p:sp>
          <p:nvSpPr>
            <p:cNvPr id="691" name="TextBox 690">
              <a:extLst>
                <a:ext uri="{FF2B5EF4-FFF2-40B4-BE49-F238E27FC236}">
                  <a16:creationId xmlns:a16="http://schemas.microsoft.com/office/drawing/2014/main" id="{6DBDB1BD-8261-79BC-DA12-E6B55EAA594E}"/>
                </a:ext>
              </a:extLst>
            </p:cNvPr>
            <p:cNvSpPr txBox="1"/>
            <p:nvPr/>
          </p:nvSpPr>
          <p:spPr>
            <a:xfrm>
              <a:off x="2536687" y="4358593"/>
              <a:ext cx="1769181"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0" action="ppaction://hlinksldjump">
                    <a:extLst>
                      <a:ext uri="{A12FA001-AC4F-418D-AE19-62706E023703}">
                        <ahyp:hlinkClr xmlns:ahyp="http://schemas.microsoft.com/office/drawing/2018/hyperlinkcolor" val="tx"/>
                      </a:ext>
                    </a:extLst>
                  </a:hlinkClick>
                </a:rPr>
                <a:t>TEAR-INDUCING HEATER</a:t>
              </a:r>
              <a:endParaRPr lang="en-US" sz="1300" b="1" dirty="0">
                <a:solidFill>
                  <a:schemeClr val="accent3"/>
                </a:solidFill>
                <a:latin typeface="Aptos" panose="020B0004020202020204" pitchFamily="34" charset="0"/>
              </a:endParaRPr>
            </a:p>
          </p:txBody>
        </p:sp>
      </p:grpSp>
      <p:grpSp>
        <p:nvGrpSpPr>
          <p:cNvPr id="692" name="Group 691">
            <a:extLst>
              <a:ext uri="{FF2B5EF4-FFF2-40B4-BE49-F238E27FC236}">
                <a16:creationId xmlns:a16="http://schemas.microsoft.com/office/drawing/2014/main" id="{7A00DE64-E8B3-7ED8-2F42-08A201A85B34}"/>
              </a:ext>
            </a:extLst>
          </p:cNvPr>
          <p:cNvGrpSpPr/>
          <p:nvPr/>
        </p:nvGrpSpPr>
        <p:grpSpPr>
          <a:xfrm>
            <a:off x="2316331" y="3648718"/>
            <a:ext cx="1579771" cy="1431226"/>
            <a:chOff x="4760907" y="3492076"/>
            <a:chExt cx="1579771" cy="1431227"/>
          </a:xfrm>
        </p:grpSpPr>
        <p:pic>
          <p:nvPicPr>
            <p:cNvPr id="693" name="Picture 692">
              <a:extLst>
                <a:ext uri="{FF2B5EF4-FFF2-40B4-BE49-F238E27FC236}">
                  <a16:creationId xmlns:a16="http://schemas.microsoft.com/office/drawing/2014/main" id="{9FD6809D-4D45-2FFC-0DC9-E928B8568E12}"/>
                </a:ext>
              </a:extLst>
            </p:cNvPr>
            <p:cNvPicPr>
              <a:picLocks noChangeAspect="1"/>
            </p:cNvPicPr>
            <p:nvPr/>
          </p:nvPicPr>
          <p:blipFill>
            <a:blip r:embed="rId21"/>
            <a:stretch>
              <a:fillRect/>
            </a:stretch>
          </p:blipFill>
          <p:spPr>
            <a:xfrm rot="5400000">
              <a:off x="5133819" y="3335063"/>
              <a:ext cx="911684" cy="1225709"/>
            </a:xfrm>
            <a:prstGeom prst="rect">
              <a:avLst/>
            </a:prstGeom>
          </p:spPr>
        </p:pic>
        <p:sp>
          <p:nvSpPr>
            <p:cNvPr id="694" name="TextBox 693">
              <a:extLst>
                <a:ext uri="{FF2B5EF4-FFF2-40B4-BE49-F238E27FC236}">
                  <a16:creationId xmlns:a16="http://schemas.microsoft.com/office/drawing/2014/main" id="{B3FC89D3-EF7C-5C41-865E-B32DD580C209}"/>
                </a:ext>
              </a:extLst>
            </p:cNvPr>
            <p:cNvSpPr txBox="1"/>
            <p:nvPr/>
          </p:nvSpPr>
          <p:spPr>
            <a:xfrm>
              <a:off x="4760907" y="4430860"/>
              <a:ext cx="1579771"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2" action="ppaction://hlinksldjump">
                    <a:extLst>
                      <a:ext uri="{A12FA001-AC4F-418D-AE19-62706E023703}">
                        <ahyp:hlinkClr xmlns:ahyp="http://schemas.microsoft.com/office/drawing/2018/hyperlinkcolor" val="tx"/>
                      </a:ext>
                    </a:extLst>
                  </a:hlinkClick>
                </a:rPr>
                <a:t>EPOXY COATED “ARM”</a:t>
              </a:r>
              <a:endParaRPr lang="en-US" sz="1300" b="1" dirty="0">
                <a:solidFill>
                  <a:schemeClr val="accent3"/>
                </a:solidFill>
                <a:latin typeface="Aptos" panose="020B0004020202020204" pitchFamily="34" charset="0"/>
              </a:endParaRPr>
            </a:p>
          </p:txBody>
        </p:sp>
      </p:grpSp>
      <p:grpSp>
        <p:nvGrpSpPr>
          <p:cNvPr id="699" name="Group 698">
            <a:extLst>
              <a:ext uri="{FF2B5EF4-FFF2-40B4-BE49-F238E27FC236}">
                <a16:creationId xmlns:a16="http://schemas.microsoft.com/office/drawing/2014/main" id="{4A7DAD32-7CB4-7CE2-9615-C34AAF23D407}"/>
              </a:ext>
            </a:extLst>
          </p:cNvPr>
          <p:cNvGrpSpPr/>
          <p:nvPr/>
        </p:nvGrpSpPr>
        <p:grpSpPr>
          <a:xfrm>
            <a:off x="2990789" y="755136"/>
            <a:ext cx="1811239" cy="1213265"/>
            <a:chOff x="2403869" y="682459"/>
            <a:chExt cx="2205337" cy="1322015"/>
          </a:xfrm>
        </p:grpSpPr>
        <p:sp>
          <p:nvSpPr>
            <p:cNvPr id="669" name="TextBox 668">
              <a:extLst>
                <a:ext uri="{FF2B5EF4-FFF2-40B4-BE49-F238E27FC236}">
                  <a16:creationId xmlns:a16="http://schemas.microsoft.com/office/drawing/2014/main" id="{CB98DE2F-43F8-FD21-CF8A-4CD4C76491E6}"/>
                </a:ext>
              </a:extLst>
            </p:cNvPr>
            <p:cNvSpPr txBox="1"/>
            <p:nvPr/>
          </p:nvSpPr>
          <p:spPr>
            <a:xfrm>
              <a:off x="2403869" y="1467891"/>
              <a:ext cx="2205337" cy="536583"/>
            </a:xfrm>
            <a:prstGeom prst="rect">
              <a:avLst/>
            </a:prstGeom>
            <a:noFill/>
          </p:spPr>
          <p:txBody>
            <a:bodyPr wrap="square" lIns="91440" tIns="45720" rIns="91440" bIns="45720" anchor="t">
              <a:spAutoFit/>
            </a:bodyPr>
            <a:lstStyle/>
            <a:p>
              <a:pPr algn="ctr">
                <a:spcAft>
                  <a:spcPts val="300"/>
                </a:spcAft>
              </a:pPr>
              <a:r>
                <a:rPr lang="en-US" sz="1300" b="1" dirty="0">
                  <a:solidFill>
                    <a:schemeClr val="accent3"/>
                  </a:solidFill>
                  <a:latin typeface="Aptos"/>
                  <a:hlinkClick r:id="rId23" action="ppaction://hlinksldjump">
                    <a:extLst>
                      <a:ext uri="{A12FA001-AC4F-418D-AE19-62706E023703}">
                        <ahyp:hlinkClr xmlns:ahyp="http://schemas.microsoft.com/office/drawing/2018/hyperlinkcolor" val="tx"/>
                      </a:ext>
                    </a:extLst>
                  </a:hlinkClick>
                </a:rPr>
                <a:t>SURGICAL ROBOTIC 3D MICROSCOPE</a:t>
              </a:r>
              <a:endParaRPr lang="en-US" sz="1300" b="1" dirty="0">
                <a:solidFill>
                  <a:schemeClr val="accent3"/>
                </a:solidFill>
                <a:latin typeface="Aptos"/>
              </a:endParaRPr>
            </a:p>
          </p:txBody>
        </p:sp>
        <p:pic>
          <p:nvPicPr>
            <p:cNvPr id="698" name="Picture 4">
              <a:extLst>
                <a:ext uri="{FF2B5EF4-FFF2-40B4-BE49-F238E27FC236}">
                  <a16:creationId xmlns:a16="http://schemas.microsoft.com/office/drawing/2014/main" id="{4C3595C5-0554-2553-7C8E-C6D0A00E2F5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81321" y="682459"/>
              <a:ext cx="669398" cy="76991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02" name="Group 701">
            <a:extLst>
              <a:ext uri="{FF2B5EF4-FFF2-40B4-BE49-F238E27FC236}">
                <a16:creationId xmlns:a16="http://schemas.microsoft.com/office/drawing/2014/main" id="{44FF6FF5-F013-BA3C-875B-E3CE7E377815}"/>
              </a:ext>
            </a:extLst>
          </p:cNvPr>
          <p:cNvGrpSpPr/>
          <p:nvPr/>
        </p:nvGrpSpPr>
        <p:grpSpPr>
          <a:xfrm>
            <a:off x="5977124" y="725398"/>
            <a:ext cx="1748706" cy="1143449"/>
            <a:chOff x="6788083" y="597487"/>
            <a:chExt cx="1989805" cy="1303584"/>
          </a:xfrm>
        </p:grpSpPr>
        <p:sp>
          <p:nvSpPr>
            <p:cNvPr id="700" name="TextBox 699">
              <a:extLst>
                <a:ext uri="{FF2B5EF4-FFF2-40B4-BE49-F238E27FC236}">
                  <a16:creationId xmlns:a16="http://schemas.microsoft.com/office/drawing/2014/main" id="{BC38706E-961D-AA57-CD22-4C1B77EBA5CB}"/>
                </a:ext>
              </a:extLst>
            </p:cNvPr>
            <p:cNvSpPr txBox="1"/>
            <p:nvPr/>
          </p:nvSpPr>
          <p:spPr>
            <a:xfrm>
              <a:off x="6788083" y="1408628"/>
              <a:ext cx="1989805" cy="492443"/>
            </a:xfrm>
            <a:prstGeom prst="rect">
              <a:avLst/>
            </a:prstGeom>
            <a:noFill/>
          </p:spPr>
          <p:txBody>
            <a:bodyPr wrap="square" rtlCol="0">
              <a:spAutoFit/>
            </a:bodyPr>
            <a:lstStyle/>
            <a:p>
              <a:pPr algn="ctr">
                <a:spcAft>
                  <a:spcPts val="300"/>
                </a:spcAft>
              </a:pPr>
              <a:r>
                <a:rPr lang="en-US" sz="1300" b="1" dirty="0">
                  <a:solidFill>
                    <a:schemeClr val="accent3"/>
                  </a:solidFill>
                  <a:latin typeface="Aptos" panose="020B0004020202020204" pitchFamily="34" charset="0"/>
                  <a:hlinkClick r:id="rId25" action="ppaction://hlinksldjump">
                    <a:extLst>
                      <a:ext uri="{A12FA001-AC4F-418D-AE19-62706E023703}">
                        <ahyp:hlinkClr xmlns:ahyp="http://schemas.microsoft.com/office/drawing/2018/hyperlinkcolor" val="tx"/>
                      </a:ext>
                    </a:extLst>
                  </a:hlinkClick>
                </a:rPr>
                <a:t>DFM, INJECTION MOLDED PARTS</a:t>
              </a:r>
              <a:endParaRPr lang="en-US" sz="1300" b="1" dirty="0">
                <a:solidFill>
                  <a:schemeClr val="accent3"/>
                </a:solidFill>
                <a:latin typeface="Aptos" panose="020B0004020202020204" pitchFamily="34" charset="0"/>
              </a:endParaRPr>
            </a:p>
          </p:txBody>
        </p:sp>
        <p:pic>
          <p:nvPicPr>
            <p:cNvPr id="701" name="Picture 700">
              <a:extLst>
                <a:ext uri="{FF2B5EF4-FFF2-40B4-BE49-F238E27FC236}">
                  <a16:creationId xmlns:a16="http://schemas.microsoft.com/office/drawing/2014/main" id="{91FEB7E4-D768-E03B-37D2-9BA152EA49A9}"/>
                </a:ext>
              </a:extLst>
            </p:cNvPr>
            <p:cNvPicPr>
              <a:picLocks noChangeAspect="1"/>
            </p:cNvPicPr>
            <p:nvPr/>
          </p:nvPicPr>
          <p:blipFill>
            <a:blip r:embed="rId26"/>
            <a:stretch>
              <a:fillRect/>
            </a:stretch>
          </p:blipFill>
          <p:spPr>
            <a:xfrm>
              <a:off x="7126849" y="597487"/>
              <a:ext cx="1312271" cy="838470"/>
            </a:xfrm>
            <a:prstGeom prst="rect">
              <a:avLst/>
            </a:prstGeom>
          </p:spPr>
        </p:pic>
      </p:grpSp>
      <p:grpSp>
        <p:nvGrpSpPr>
          <p:cNvPr id="4" name="Group 3">
            <a:extLst>
              <a:ext uri="{FF2B5EF4-FFF2-40B4-BE49-F238E27FC236}">
                <a16:creationId xmlns:a16="http://schemas.microsoft.com/office/drawing/2014/main" id="{C314BB05-B861-94EC-8170-381BBC6E2E38}"/>
              </a:ext>
            </a:extLst>
          </p:cNvPr>
          <p:cNvGrpSpPr/>
          <p:nvPr/>
        </p:nvGrpSpPr>
        <p:grpSpPr>
          <a:xfrm>
            <a:off x="3671733" y="3696650"/>
            <a:ext cx="1789422" cy="1223556"/>
            <a:chOff x="7153466" y="3490401"/>
            <a:chExt cx="1789422" cy="1223556"/>
          </a:xfrm>
        </p:grpSpPr>
        <p:pic>
          <p:nvPicPr>
            <p:cNvPr id="2" name="Picture 1">
              <a:extLst>
                <a:ext uri="{FF2B5EF4-FFF2-40B4-BE49-F238E27FC236}">
                  <a16:creationId xmlns:a16="http://schemas.microsoft.com/office/drawing/2014/main" id="{8A9020B7-22CA-8379-C6D0-126BE7F5AC38}"/>
                </a:ext>
              </a:extLst>
            </p:cNvPr>
            <p:cNvPicPr>
              <a:picLocks noChangeAspect="1"/>
            </p:cNvPicPr>
            <p:nvPr/>
          </p:nvPicPr>
          <p:blipFill>
            <a:blip r:embed="rId27"/>
            <a:stretch>
              <a:fillRect/>
            </a:stretch>
          </p:blipFill>
          <p:spPr>
            <a:xfrm>
              <a:off x="7786439" y="3490401"/>
              <a:ext cx="565130" cy="903119"/>
            </a:xfrm>
            <a:prstGeom prst="rect">
              <a:avLst/>
            </a:prstGeom>
          </p:spPr>
        </p:pic>
        <p:sp>
          <p:nvSpPr>
            <p:cNvPr id="3" name="TextBox 2">
              <a:extLst>
                <a:ext uri="{FF2B5EF4-FFF2-40B4-BE49-F238E27FC236}">
                  <a16:creationId xmlns:a16="http://schemas.microsoft.com/office/drawing/2014/main" id="{DCE0982E-D995-49AC-4A11-F538554433C0}"/>
                </a:ext>
              </a:extLst>
            </p:cNvPr>
            <p:cNvSpPr txBox="1"/>
            <p:nvPr/>
          </p:nvSpPr>
          <p:spPr>
            <a:xfrm>
              <a:off x="7153466" y="4421569"/>
              <a:ext cx="1789422" cy="292388"/>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8" action="ppaction://hlinksldjump">
                    <a:extLst>
                      <a:ext uri="{A12FA001-AC4F-418D-AE19-62706E023703}">
                        <ahyp:hlinkClr xmlns:ahyp="http://schemas.microsoft.com/office/drawing/2018/hyperlinkcolor" val="tx"/>
                      </a:ext>
                    </a:extLst>
                  </a:hlinkClick>
                </a:rPr>
                <a:t>CAN DISPENSER</a:t>
              </a:r>
              <a:endParaRPr lang="en-US" sz="1300" b="1" dirty="0">
                <a:solidFill>
                  <a:schemeClr val="accent3"/>
                </a:solidFill>
                <a:latin typeface="Aptos" panose="020B0004020202020204" pitchFamily="34" charset="0"/>
              </a:endParaRPr>
            </a:p>
          </p:txBody>
        </p:sp>
      </p:grpSp>
      <p:grpSp>
        <p:nvGrpSpPr>
          <p:cNvPr id="8" name="Group 7">
            <a:extLst>
              <a:ext uri="{FF2B5EF4-FFF2-40B4-BE49-F238E27FC236}">
                <a16:creationId xmlns:a16="http://schemas.microsoft.com/office/drawing/2014/main" id="{1CA33EC8-A91C-BA5B-AF42-262BFC8005B7}"/>
              </a:ext>
            </a:extLst>
          </p:cNvPr>
          <p:cNvGrpSpPr/>
          <p:nvPr/>
        </p:nvGrpSpPr>
        <p:grpSpPr>
          <a:xfrm>
            <a:off x="5247899" y="3648718"/>
            <a:ext cx="1642360" cy="1284499"/>
            <a:chOff x="5611605" y="3511075"/>
            <a:chExt cx="1642360" cy="1284499"/>
          </a:xfrm>
        </p:grpSpPr>
        <p:sp>
          <p:nvSpPr>
            <p:cNvPr id="6" name="TextBox 5">
              <a:extLst>
                <a:ext uri="{FF2B5EF4-FFF2-40B4-BE49-F238E27FC236}">
                  <a16:creationId xmlns:a16="http://schemas.microsoft.com/office/drawing/2014/main" id="{516F4B77-60DF-6D14-C4EB-4E1237FDC4C1}"/>
                </a:ext>
              </a:extLst>
            </p:cNvPr>
            <p:cNvSpPr txBox="1"/>
            <p:nvPr/>
          </p:nvSpPr>
          <p:spPr>
            <a:xfrm>
              <a:off x="5611605" y="4503186"/>
              <a:ext cx="1642360" cy="292388"/>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8" action="ppaction://hlinksldjump">
                    <a:extLst>
                      <a:ext uri="{A12FA001-AC4F-418D-AE19-62706E023703}">
                        <ahyp:hlinkClr xmlns:ahyp="http://schemas.microsoft.com/office/drawing/2018/hyperlinkcolor" val="tx"/>
                      </a:ext>
                    </a:extLst>
                  </a:hlinkClick>
                </a:rPr>
                <a:t>COFFEE ROASTER</a:t>
              </a:r>
              <a:endParaRPr lang="en-US" sz="1300" b="1" dirty="0">
                <a:solidFill>
                  <a:schemeClr val="accent3"/>
                </a:solidFill>
                <a:latin typeface="Aptos" panose="020B0004020202020204" pitchFamily="34" charset="0"/>
              </a:endParaRPr>
            </a:p>
          </p:txBody>
        </p:sp>
        <p:pic>
          <p:nvPicPr>
            <p:cNvPr id="7" name="Picture 6" descr="A machine with a funnel&#10;&#10;Description automatically generated">
              <a:extLst>
                <a:ext uri="{FF2B5EF4-FFF2-40B4-BE49-F238E27FC236}">
                  <a16:creationId xmlns:a16="http://schemas.microsoft.com/office/drawing/2014/main" id="{9DC6EF86-2990-6FCA-41D2-AF2ED50381E4}"/>
                </a:ext>
              </a:extLst>
            </p:cNvPr>
            <p:cNvPicPr>
              <a:picLocks noChangeAspect="1"/>
            </p:cNvPicPr>
            <p:nvPr/>
          </p:nvPicPr>
          <p:blipFill>
            <a:blip r:embed="rId29"/>
            <a:stretch>
              <a:fillRect/>
            </a:stretch>
          </p:blipFill>
          <p:spPr>
            <a:xfrm>
              <a:off x="5889610" y="3511075"/>
              <a:ext cx="1034322" cy="1028129"/>
            </a:xfrm>
            <a:prstGeom prst="rect">
              <a:avLst/>
            </a:prstGeom>
          </p:spPr>
        </p:pic>
      </p:grpSp>
      <p:grpSp>
        <p:nvGrpSpPr>
          <p:cNvPr id="10" name="Group 9">
            <a:extLst>
              <a:ext uri="{FF2B5EF4-FFF2-40B4-BE49-F238E27FC236}">
                <a16:creationId xmlns:a16="http://schemas.microsoft.com/office/drawing/2014/main" id="{A5EB7DB3-9951-BCD8-C01A-7BA9FE7E6E50}"/>
              </a:ext>
            </a:extLst>
          </p:cNvPr>
          <p:cNvGrpSpPr/>
          <p:nvPr/>
        </p:nvGrpSpPr>
        <p:grpSpPr>
          <a:xfrm>
            <a:off x="178414" y="2173698"/>
            <a:ext cx="1410365" cy="1177474"/>
            <a:chOff x="128579" y="2146945"/>
            <a:chExt cx="1642360" cy="1376657"/>
          </a:xfrm>
        </p:grpSpPr>
        <p:sp>
          <p:nvSpPr>
            <p:cNvPr id="5" name="TextBox 4">
              <a:extLst>
                <a:ext uri="{FF2B5EF4-FFF2-40B4-BE49-F238E27FC236}">
                  <a16:creationId xmlns:a16="http://schemas.microsoft.com/office/drawing/2014/main" id="{D226C114-609A-F2CC-9879-8FB28C1F0D3C}"/>
                </a:ext>
              </a:extLst>
            </p:cNvPr>
            <p:cNvSpPr txBox="1"/>
            <p:nvPr/>
          </p:nvSpPr>
          <p:spPr>
            <a:xfrm>
              <a:off x="128579" y="3031159"/>
              <a:ext cx="1642360"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30" action="ppaction://hlinksldjump">
                    <a:extLst>
                      <a:ext uri="{A12FA001-AC4F-418D-AE19-62706E023703}">
                        <ahyp:hlinkClr xmlns:ahyp="http://schemas.microsoft.com/office/drawing/2018/hyperlinkcolor" val="tx"/>
                      </a:ext>
                    </a:extLst>
                  </a:hlinkClick>
                </a:rPr>
                <a:t>SPRING-LOADED LOCKING MECH</a:t>
              </a:r>
              <a:endParaRPr lang="en-US" sz="1300" b="1" dirty="0">
                <a:solidFill>
                  <a:schemeClr val="accent3"/>
                </a:solidFill>
                <a:latin typeface="Aptos" panose="020B0004020202020204" pitchFamily="34" charset="0"/>
              </a:endParaRPr>
            </a:p>
          </p:txBody>
        </p:sp>
        <p:pic>
          <p:nvPicPr>
            <p:cNvPr id="9" name="Picture 8" descr="A cartoon of a toy object&#10;&#10;Description automatically generated with medium confidence">
              <a:extLst>
                <a:ext uri="{FF2B5EF4-FFF2-40B4-BE49-F238E27FC236}">
                  <a16:creationId xmlns:a16="http://schemas.microsoft.com/office/drawing/2014/main" id="{340F59B3-7209-3AA3-7EA3-E87248F7CA5F}"/>
                </a:ext>
              </a:extLst>
            </p:cNvPr>
            <p:cNvPicPr>
              <a:picLocks noChangeAspect="1"/>
            </p:cNvPicPr>
            <p:nvPr/>
          </p:nvPicPr>
          <p:blipFill>
            <a:blip r:embed="rId31"/>
            <a:stretch>
              <a:fillRect/>
            </a:stretch>
          </p:blipFill>
          <p:spPr>
            <a:xfrm>
              <a:off x="301274" y="2146945"/>
              <a:ext cx="1350885" cy="798454"/>
            </a:xfrm>
            <a:prstGeom prst="rect">
              <a:avLst/>
            </a:prstGeom>
          </p:spPr>
        </p:pic>
      </p:grpSp>
      <p:grpSp>
        <p:nvGrpSpPr>
          <p:cNvPr id="13" name="Group 12">
            <a:extLst>
              <a:ext uri="{FF2B5EF4-FFF2-40B4-BE49-F238E27FC236}">
                <a16:creationId xmlns:a16="http://schemas.microsoft.com/office/drawing/2014/main" id="{0C9F9572-C355-3CAC-36A7-41B91A7DDECE}"/>
              </a:ext>
            </a:extLst>
          </p:cNvPr>
          <p:cNvGrpSpPr/>
          <p:nvPr/>
        </p:nvGrpSpPr>
        <p:grpSpPr>
          <a:xfrm>
            <a:off x="6800098" y="3560440"/>
            <a:ext cx="1862870" cy="1371763"/>
            <a:chOff x="5971473" y="3612923"/>
            <a:chExt cx="1862870" cy="1371763"/>
          </a:xfrm>
        </p:grpSpPr>
        <p:pic>
          <p:nvPicPr>
            <p:cNvPr id="11" name="Picture 10">
              <a:extLst>
                <a:ext uri="{FF2B5EF4-FFF2-40B4-BE49-F238E27FC236}">
                  <a16:creationId xmlns:a16="http://schemas.microsoft.com/office/drawing/2014/main" id="{C7844A24-37D6-0AC8-F4D6-F927D1B18A8F}"/>
                </a:ext>
              </a:extLst>
            </p:cNvPr>
            <p:cNvPicPr>
              <a:picLocks noChangeAspect="1"/>
            </p:cNvPicPr>
            <p:nvPr/>
          </p:nvPicPr>
          <p:blipFill>
            <a:blip r:embed="rId32"/>
            <a:stretch>
              <a:fillRect/>
            </a:stretch>
          </p:blipFill>
          <p:spPr>
            <a:xfrm>
              <a:off x="6478794" y="3612923"/>
              <a:ext cx="934426" cy="1061039"/>
            </a:xfrm>
            <a:prstGeom prst="rect">
              <a:avLst/>
            </a:prstGeom>
          </p:spPr>
        </p:pic>
        <p:sp>
          <p:nvSpPr>
            <p:cNvPr id="12" name="TextBox 11">
              <a:extLst>
                <a:ext uri="{FF2B5EF4-FFF2-40B4-BE49-F238E27FC236}">
                  <a16:creationId xmlns:a16="http://schemas.microsoft.com/office/drawing/2014/main" id="{97828A8D-734F-9F08-1463-1E7D0F4DA5B7}"/>
                </a:ext>
              </a:extLst>
            </p:cNvPr>
            <p:cNvSpPr txBox="1"/>
            <p:nvPr/>
          </p:nvSpPr>
          <p:spPr>
            <a:xfrm>
              <a:off x="5971473" y="4692298"/>
              <a:ext cx="1862870" cy="292388"/>
            </a:xfrm>
            <a:prstGeom prst="rect">
              <a:avLst/>
            </a:prstGeom>
            <a:noFill/>
          </p:spPr>
          <p:txBody>
            <a:bodyPr wrap="square" lIns="91440" tIns="45720" rIns="91440" bIns="45720" anchor="t">
              <a:spAutoFit/>
            </a:bodyPr>
            <a:lstStyle/>
            <a:p>
              <a:pPr algn="ctr">
                <a:spcAft>
                  <a:spcPts val="300"/>
                </a:spcAft>
              </a:pPr>
              <a:r>
                <a:rPr lang="en-US" sz="1300" b="1" dirty="0">
                  <a:solidFill>
                    <a:schemeClr val="accent3"/>
                  </a:solidFill>
                  <a:latin typeface="Aptos"/>
                  <a:hlinkClick r:id="rId33" action="ppaction://hlinksldjump">
                    <a:extLst>
                      <a:ext uri="{A12FA001-AC4F-418D-AE19-62706E023703}">
                        <ahyp:hlinkClr xmlns:ahyp="http://schemas.microsoft.com/office/drawing/2018/hyperlinkcolor" val="tx"/>
                      </a:ext>
                    </a:extLst>
                  </a:hlinkClick>
                </a:rPr>
                <a:t>PERSONAL PROJECTS</a:t>
              </a:r>
            </a:p>
          </p:txBody>
        </p:sp>
      </p:grpSp>
      <p:pic>
        <p:nvPicPr>
          <p:cNvPr id="15" name="Picture 14">
            <a:extLst>
              <a:ext uri="{FF2B5EF4-FFF2-40B4-BE49-F238E27FC236}">
                <a16:creationId xmlns:a16="http://schemas.microsoft.com/office/drawing/2014/main" id="{AC0B29E9-DA81-F95B-1AA8-7DCE48766FB6}"/>
              </a:ext>
            </a:extLst>
          </p:cNvPr>
          <p:cNvPicPr>
            <a:picLocks noChangeAspect="1"/>
          </p:cNvPicPr>
          <p:nvPr/>
        </p:nvPicPr>
        <p:blipFill>
          <a:blip r:embed="rId34"/>
          <a:stretch>
            <a:fillRect/>
          </a:stretch>
        </p:blipFill>
        <p:spPr>
          <a:xfrm>
            <a:off x="582325" y="647939"/>
            <a:ext cx="676841" cy="827980"/>
          </a:xfrm>
          <a:prstGeom prst="rect">
            <a:avLst/>
          </a:prstGeom>
        </p:spPr>
      </p:pic>
      <p:sp>
        <p:nvSpPr>
          <p:cNvPr id="17" name="TextBox 16">
            <a:extLst>
              <a:ext uri="{FF2B5EF4-FFF2-40B4-BE49-F238E27FC236}">
                <a16:creationId xmlns:a16="http://schemas.microsoft.com/office/drawing/2014/main" id="{F3A38871-6AB9-A8DB-B63E-4D39B1943F34}"/>
              </a:ext>
            </a:extLst>
          </p:cNvPr>
          <p:cNvSpPr txBox="1"/>
          <p:nvPr/>
        </p:nvSpPr>
        <p:spPr>
          <a:xfrm>
            <a:off x="-17060" y="1454483"/>
            <a:ext cx="1789422" cy="292388"/>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35" action="ppaction://hlinksldjump">
                  <a:extLst>
                    <a:ext uri="{A12FA001-AC4F-418D-AE19-62706E023703}">
                      <ahyp:hlinkClr xmlns:ahyp="http://schemas.microsoft.com/office/drawing/2018/hyperlinkcolor" val="tx"/>
                    </a:ext>
                  </a:extLst>
                </a:hlinkClick>
              </a:rPr>
              <a:t>ABOUT ME</a:t>
            </a:r>
            <a:endParaRPr lang="en-US" sz="1300" b="1" dirty="0">
              <a:solidFill>
                <a:schemeClr val="accent3"/>
              </a:solidFill>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F9AEAF17-0870-51DC-B2CC-B6584A707BB5}"/>
              </a:ext>
            </a:extLst>
          </p:cNvPr>
          <p:cNvSpPr txBox="1">
            <a:spLocks noGrp="1"/>
          </p:cNvSpPr>
          <p:nvPr>
            <p:ph type="title"/>
          </p:nvPr>
        </p:nvSpPr>
        <p:spPr>
          <a:xfrm>
            <a:off x="864984" y="198966"/>
            <a:ext cx="7704000" cy="572700"/>
          </a:xfrm>
          <a:prstGeom prst="rect">
            <a:avLst/>
          </a:prstGeom>
        </p:spPr>
        <p:txBody>
          <a:bodyPr spcFirstLastPara="1" wrap="square" lIns="91425" tIns="91425" rIns="91425" bIns="91425" anchor="t" anchorCtr="0">
            <a:noAutofit/>
          </a:bodyPr>
          <a:lstStyle/>
          <a:p>
            <a:r>
              <a:rPr lang="en-US" sz="2500" b="1" dirty="0">
                <a:solidFill>
                  <a:schemeClr val="tx2">
                    <a:lumMod val="50000"/>
                  </a:schemeClr>
                </a:solidFill>
                <a:latin typeface="Space Mono" panose="020B0604020202020204" charset="0"/>
              </a:rPr>
              <a:t>ABOUT ME</a:t>
            </a:r>
          </a:p>
        </p:txBody>
      </p:sp>
      <p:pic>
        <p:nvPicPr>
          <p:cNvPr id="11" name="Picture 10">
            <a:extLst>
              <a:ext uri="{FF2B5EF4-FFF2-40B4-BE49-F238E27FC236}">
                <a16:creationId xmlns:a16="http://schemas.microsoft.com/office/drawing/2014/main" id="{D13AFB39-8016-CFEF-E4B8-86CF53C72998}"/>
              </a:ext>
            </a:extLst>
          </p:cNvPr>
          <p:cNvPicPr>
            <a:picLocks noChangeAspect="1"/>
          </p:cNvPicPr>
          <p:nvPr/>
        </p:nvPicPr>
        <p:blipFill>
          <a:blip r:embed="rId3"/>
          <a:stretch>
            <a:fillRect/>
          </a:stretch>
        </p:blipFill>
        <p:spPr>
          <a:xfrm>
            <a:off x="1093697" y="2261441"/>
            <a:ext cx="3340319" cy="2768404"/>
          </a:xfrm>
          <a:prstGeom prst="rect">
            <a:avLst/>
          </a:prstGeom>
        </p:spPr>
      </p:pic>
      <p:sp>
        <p:nvSpPr>
          <p:cNvPr id="12" name="TextBox 11">
            <a:extLst>
              <a:ext uri="{FF2B5EF4-FFF2-40B4-BE49-F238E27FC236}">
                <a16:creationId xmlns:a16="http://schemas.microsoft.com/office/drawing/2014/main" id="{01A78AED-7CD8-1DF7-C28C-6CA758187952}"/>
              </a:ext>
            </a:extLst>
          </p:cNvPr>
          <p:cNvSpPr txBox="1"/>
          <p:nvPr/>
        </p:nvSpPr>
        <p:spPr>
          <a:xfrm>
            <a:off x="1033049" y="686942"/>
            <a:ext cx="3496733" cy="135639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BASICS &amp; BACKGROUND</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Hometown: Durham, NC</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Current City: San Francisco, CA, Mission District</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BSME, North Carolina State University, 2009</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14 years experience as Mechanical Engineer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Owned a handyman business at age 15</a:t>
            </a:r>
          </a:p>
        </p:txBody>
      </p:sp>
      <p:sp>
        <p:nvSpPr>
          <p:cNvPr id="16" name="TextBox 15">
            <a:extLst>
              <a:ext uri="{FF2B5EF4-FFF2-40B4-BE49-F238E27FC236}">
                <a16:creationId xmlns:a16="http://schemas.microsoft.com/office/drawing/2014/main" id="{3474F3C7-80EB-FE9E-200C-6682CC7D085C}"/>
              </a:ext>
            </a:extLst>
          </p:cNvPr>
          <p:cNvSpPr txBox="1"/>
          <p:nvPr/>
        </p:nvSpPr>
        <p:spPr>
          <a:xfrm>
            <a:off x="5206267" y="686942"/>
            <a:ext cx="2450336" cy="135639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INDUSTRY EXPERIENCE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Power products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Medical devices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Air compressors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Metal-cutting tools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Consumer products</a:t>
            </a:r>
          </a:p>
        </p:txBody>
      </p:sp>
      <p:sp>
        <p:nvSpPr>
          <p:cNvPr id="17" name="TextBox 16">
            <a:extLst>
              <a:ext uri="{FF2B5EF4-FFF2-40B4-BE49-F238E27FC236}">
                <a16:creationId xmlns:a16="http://schemas.microsoft.com/office/drawing/2014/main" id="{C361CE12-CB3E-AEFF-C218-85BB5723259A}"/>
              </a:ext>
            </a:extLst>
          </p:cNvPr>
          <p:cNvSpPr txBox="1"/>
          <p:nvPr/>
        </p:nvSpPr>
        <p:spPr>
          <a:xfrm>
            <a:off x="5206267" y="2129614"/>
            <a:ext cx="2844036"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HOBBIES &amp; PASSIONS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Maker &amp; 3D Printer, tinkerer to a fault</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Musician (vocals and production)</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Hiking, soccer, basketball</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Stand-up comedy enthusiast</a:t>
            </a:r>
          </a:p>
        </p:txBody>
      </p:sp>
      <p:sp>
        <p:nvSpPr>
          <p:cNvPr id="18" name="TextBox 17">
            <a:extLst>
              <a:ext uri="{FF2B5EF4-FFF2-40B4-BE49-F238E27FC236}">
                <a16:creationId xmlns:a16="http://schemas.microsoft.com/office/drawing/2014/main" id="{B959EE9D-B0A0-61CE-376A-652FD2C52000}"/>
              </a:ext>
            </a:extLst>
          </p:cNvPr>
          <p:cNvSpPr txBox="1"/>
          <p:nvPr/>
        </p:nvSpPr>
        <p:spPr>
          <a:xfrm>
            <a:off x="5206266" y="3374668"/>
            <a:ext cx="3569433"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GOALS FOR NEXT 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Get back into technical leadership and mentoring</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Drive innovation</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Work on an exciting technology</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Make use of my creativity</a:t>
            </a:r>
          </a:p>
        </p:txBody>
      </p:sp>
    </p:spTree>
    <p:extLst>
      <p:ext uri="{BB962C8B-B14F-4D97-AF65-F5344CB8AC3E}">
        <p14:creationId xmlns:p14="http://schemas.microsoft.com/office/powerpoint/2010/main" val="2581563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9" name="Google Shape;918;p66">
            <a:extLst>
              <a:ext uri="{FF2B5EF4-FFF2-40B4-BE49-F238E27FC236}">
                <a16:creationId xmlns:a16="http://schemas.microsoft.com/office/drawing/2014/main" id="{D600DFB8-9948-9DC0-4821-572294C63C4B}"/>
              </a:ext>
            </a:extLst>
          </p:cNvPr>
          <p:cNvSpPr txBox="1">
            <a:spLocks noGrp="1"/>
          </p:cNvSpPr>
          <p:nvPr>
            <p:ph type="title"/>
          </p:nvPr>
        </p:nvSpPr>
        <p:spPr>
          <a:xfrm>
            <a:off x="752710" y="142806"/>
            <a:ext cx="7704000" cy="572700"/>
          </a:xfrm>
          <a:prstGeom prst="rect">
            <a:avLst/>
          </a:prstGeom>
        </p:spPr>
        <p:txBody>
          <a:bodyPr spcFirstLastPara="1" wrap="square" lIns="91425" tIns="91425" rIns="91425" bIns="91425" anchor="t" anchorCtr="0">
            <a:noAutofit/>
          </a:bodyPr>
          <a:lstStyle/>
          <a:p>
            <a:r>
              <a:rPr lang="en-US" sz="2500" b="1" cap="small" dirty="0">
                <a:solidFill>
                  <a:schemeClr val="tx2">
                    <a:lumMod val="50000"/>
                  </a:schemeClr>
                </a:solidFill>
                <a:latin typeface="Space Mono" panose="020B0604020202020204" charset="0"/>
              </a:rPr>
              <a:t>3D X-RAY DEVICE</a:t>
            </a:r>
          </a:p>
        </p:txBody>
      </p:sp>
      <p:sp>
        <p:nvSpPr>
          <p:cNvPr id="13" name="TextBox 12">
            <a:extLst>
              <a:ext uri="{FF2B5EF4-FFF2-40B4-BE49-F238E27FC236}">
                <a16:creationId xmlns:a16="http://schemas.microsoft.com/office/drawing/2014/main" id="{49E21367-D173-E1A2-099B-B7DB69B2D5EC}"/>
              </a:ext>
            </a:extLst>
          </p:cNvPr>
          <p:cNvSpPr txBox="1"/>
          <p:nvPr/>
        </p:nvSpPr>
        <p:spPr>
          <a:xfrm>
            <a:off x="519380" y="715506"/>
            <a:ext cx="2767328" cy="1854354"/>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3D x-ray machine is designed to provide both a clearer and more comprehensive image to healthcare providers, the first of which being dentists. The technology uses multiple beams to create an image similar to that of a Computed Tomography scan (CT). It was then adapted for Tomosynthesis.</a:t>
            </a:r>
          </a:p>
        </p:txBody>
      </p:sp>
      <p:sp>
        <p:nvSpPr>
          <p:cNvPr id="14" name="TextBox 13">
            <a:extLst>
              <a:ext uri="{FF2B5EF4-FFF2-40B4-BE49-F238E27FC236}">
                <a16:creationId xmlns:a16="http://schemas.microsoft.com/office/drawing/2014/main" id="{74977970-5606-DD7B-F179-B97A7CACDACF}"/>
              </a:ext>
            </a:extLst>
          </p:cNvPr>
          <p:cNvSpPr txBox="1"/>
          <p:nvPr/>
        </p:nvSpPr>
        <p:spPr>
          <a:xfrm>
            <a:off x="3162940" y="720285"/>
            <a:ext cx="2883540" cy="135639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REQUIREMENTS</a:t>
            </a:r>
            <a:endParaRPr lang="en-US" b="1" dirty="0">
              <a:solidFill>
                <a:schemeClr val="accent3"/>
              </a:solidFill>
              <a:latin typeface="Aptos" panose="020B0004020202020204" pitchFamily="34" charset="0"/>
            </a:endParaRP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ea typeface="Calibri" panose="020F0502020204030204" pitchFamily="34" charset="0"/>
                <a:cs typeface="Times New Roman" panose="02020603050405020304" pitchFamily="18" charset="0"/>
              </a:rPr>
              <a:t>Product specs</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solidFill>
                  <a:schemeClr val="bg1">
                    <a:lumMod val="10000"/>
                  </a:schemeClr>
                </a:solidFill>
                <a:latin typeface="Aptos" panose="020B0004020202020204" pitchFamily="34" charset="0"/>
                <a:ea typeface="Calibri" panose="020F0502020204030204" pitchFamily="34" charset="0"/>
                <a:cs typeface="Times New Roman" panose="02020603050405020304" pitchFamily="18" charset="0"/>
              </a:rPr>
              <a:t>Reach and position</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solidFill>
                  <a:schemeClr val="bg1">
                    <a:lumMod val="10000"/>
                  </a:schemeClr>
                </a:solidFill>
                <a:latin typeface="Aptos" panose="020B0004020202020204" pitchFamily="34" charset="0"/>
                <a:ea typeface="Calibri" panose="020F0502020204030204" pitchFamily="34" charset="0"/>
                <a:cs typeface="Times New Roman" panose="02020603050405020304" pitchFamily="18" charset="0"/>
              </a:rPr>
              <a:t>Force/torque required to position</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solidFill>
                  <a:schemeClr val="bg1">
                    <a:lumMod val="10000"/>
                  </a:schemeClr>
                </a:solidFill>
                <a:latin typeface="Aptos" panose="020B0004020202020204" pitchFamily="34" charset="0"/>
                <a:ea typeface="Calibri" panose="020F0502020204030204" pitchFamily="34" charset="0"/>
                <a:cs typeface="Times New Roman" panose="02020603050405020304" pitchFamily="18" charset="0"/>
              </a:rPr>
              <a:t>CT image quality</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FDA/IEC requirements</a:t>
            </a:r>
          </a:p>
        </p:txBody>
      </p:sp>
      <p:sp>
        <p:nvSpPr>
          <p:cNvPr id="15" name="TextBox 14">
            <a:extLst>
              <a:ext uri="{FF2B5EF4-FFF2-40B4-BE49-F238E27FC236}">
                <a16:creationId xmlns:a16="http://schemas.microsoft.com/office/drawing/2014/main" id="{177ADD62-CEB4-5F1B-3D40-F934A5CCE133}"/>
              </a:ext>
            </a:extLst>
          </p:cNvPr>
          <p:cNvSpPr txBox="1"/>
          <p:nvPr/>
        </p:nvSpPr>
        <p:spPr>
          <a:xfrm>
            <a:off x="5847636" y="715513"/>
            <a:ext cx="2842402" cy="1949252"/>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Mechanical lead and sole Design Engineer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Prototyping and testing, including test protocols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Chemical compatibility studies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Working with software and electrical engineering</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Working with international suppliers</a:t>
            </a:r>
          </a:p>
        </p:txBody>
      </p:sp>
      <p:pic>
        <p:nvPicPr>
          <p:cNvPr id="5" name="Picture 4">
            <a:extLst>
              <a:ext uri="{FF2B5EF4-FFF2-40B4-BE49-F238E27FC236}">
                <a16:creationId xmlns:a16="http://schemas.microsoft.com/office/drawing/2014/main" id="{1E5F4A06-1818-921D-69F2-CAC4FD715909}"/>
              </a:ext>
            </a:extLst>
          </p:cNvPr>
          <p:cNvPicPr>
            <a:picLocks noChangeAspect="1"/>
          </p:cNvPicPr>
          <p:nvPr/>
        </p:nvPicPr>
        <p:blipFill rotWithShape="1">
          <a:blip r:embed="rId3"/>
          <a:srcRect b="8351"/>
          <a:stretch/>
        </p:blipFill>
        <p:spPr>
          <a:xfrm>
            <a:off x="2136585" y="2117935"/>
            <a:ext cx="4936251" cy="2965343"/>
          </a:xfrm>
          <a:prstGeom prst="rect">
            <a:avLst/>
          </a:prstGeom>
        </p:spPr>
      </p:pic>
    </p:spTree>
    <p:extLst>
      <p:ext uri="{BB962C8B-B14F-4D97-AF65-F5344CB8AC3E}">
        <p14:creationId xmlns:p14="http://schemas.microsoft.com/office/powerpoint/2010/main" val="3626362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4" name="Google Shape;918;p66">
            <a:extLst>
              <a:ext uri="{FF2B5EF4-FFF2-40B4-BE49-F238E27FC236}">
                <a16:creationId xmlns:a16="http://schemas.microsoft.com/office/drawing/2014/main" id="{DD93CC27-98BC-1A8D-E6A4-957FFFD56128}"/>
              </a:ext>
            </a:extLst>
          </p:cNvPr>
          <p:cNvSpPr txBox="1">
            <a:spLocks noGrp="1"/>
          </p:cNvSpPr>
          <p:nvPr>
            <p:ph type="title"/>
          </p:nvPr>
        </p:nvSpPr>
        <p:spPr>
          <a:xfrm>
            <a:off x="720000" y="156329"/>
            <a:ext cx="7704000" cy="572700"/>
          </a:xfrm>
          <a:prstGeom prst="rect">
            <a:avLst/>
          </a:prstGeom>
        </p:spPr>
        <p:txBody>
          <a:bodyPr spcFirstLastPara="1" wrap="square" lIns="91425" tIns="91425" rIns="91425" bIns="91425" anchor="t" anchorCtr="0">
            <a:noAutofit/>
          </a:bodyPr>
          <a:lstStyle/>
          <a:p>
            <a:r>
              <a:rPr lang="en-US" sz="2500" b="1" cap="small" dirty="0">
                <a:solidFill>
                  <a:schemeClr val="tx2">
                    <a:lumMod val="50000"/>
                  </a:schemeClr>
                </a:solidFill>
                <a:latin typeface="Space Mono" panose="020B0604020202020204" charset="0"/>
              </a:rPr>
              <a:t>3D X-RAY DEVICE (CONT’D)</a:t>
            </a:r>
          </a:p>
        </p:txBody>
      </p:sp>
      <p:sp>
        <p:nvSpPr>
          <p:cNvPr id="5" name="TextBox 4">
            <a:extLst>
              <a:ext uri="{FF2B5EF4-FFF2-40B4-BE49-F238E27FC236}">
                <a16:creationId xmlns:a16="http://schemas.microsoft.com/office/drawing/2014/main" id="{E0CF66A8-1C7C-34D6-9804-49B5335BD6B5}"/>
              </a:ext>
            </a:extLst>
          </p:cNvPr>
          <p:cNvSpPr txBox="1"/>
          <p:nvPr/>
        </p:nvSpPr>
        <p:spPr>
          <a:xfrm>
            <a:off x="802231" y="729029"/>
            <a:ext cx="5539099" cy="1325619"/>
          </a:xfrm>
          <a:prstGeom prst="rect">
            <a:avLst/>
          </a:prstGeom>
          <a:noFill/>
        </p:spPr>
        <p:txBody>
          <a:bodyPr wrap="square" rtlCol="0">
            <a:spAutoFit/>
          </a:bodyPr>
          <a:lstStyle/>
          <a:p>
            <a:pPr>
              <a:spcAft>
                <a:spcPts val="300"/>
              </a:spcAft>
            </a:pPr>
            <a:r>
              <a:rPr lang="en-US" b="1" dirty="0">
                <a:solidFill>
                  <a:schemeClr val="accent3"/>
                </a:solidFill>
                <a:latin typeface="Aptos" panose="020B0004020202020204" pitchFamily="34" charset="0"/>
              </a:rPr>
              <a:t>POSITIONING</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Without a brake, and many degrees of freedom, great accuracy is needed</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latin typeface="Aptos" panose="020B0004020202020204" pitchFamily="34" charset="0"/>
                <a:cs typeface="Times New Roman" panose="02020603050405020304" pitchFamily="18" charset="0"/>
              </a:rPr>
              <a:t>Arm must move under low load, and fully static under no load, at all angles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Die springs act as a suspension system of sorts (tuned per assembly)</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Built a calculator to predict the force required to move the arm at any angle, and compared that to the forces acting upon the system</a:t>
            </a:r>
          </a:p>
        </p:txBody>
      </p:sp>
      <p:pic>
        <p:nvPicPr>
          <p:cNvPr id="9" name="Picture 8">
            <a:extLst>
              <a:ext uri="{FF2B5EF4-FFF2-40B4-BE49-F238E27FC236}">
                <a16:creationId xmlns:a16="http://schemas.microsoft.com/office/drawing/2014/main" id="{6B0D00EB-04CE-43B9-5D03-524B7AAF0EA4}"/>
              </a:ext>
            </a:extLst>
          </p:cNvPr>
          <p:cNvPicPr>
            <a:picLocks noChangeAspect="1"/>
          </p:cNvPicPr>
          <p:nvPr/>
        </p:nvPicPr>
        <p:blipFill>
          <a:blip r:embed="rId3"/>
          <a:stretch>
            <a:fillRect/>
          </a:stretch>
        </p:blipFill>
        <p:spPr>
          <a:xfrm>
            <a:off x="1639504" y="2029620"/>
            <a:ext cx="5614737" cy="3113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86" name="Google Shape;918;p66">
            <a:extLst>
              <a:ext uri="{FF2B5EF4-FFF2-40B4-BE49-F238E27FC236}">
                <a16:creationId xmlns:a16="http://schemas.microsoft.com/office/drawing/2014/main" id="{463A7288-C8CE-2774-0139-48801C2081A8}"/>
              </a:ext>
            </a:extLst>
          </p:cNvPr>
          <p:cNvSpPr txBox="1">
            <a:spLocks noGrp="1"/>
          </p:cNvSpPr>
          <p:nvPr>
            <p:ph type="title"/>
          </p:nvPr>
        </p:nvSpPr>
        <p:spPr>
          <a:xfrm>
            <a:off x="864984" y="181054"/>
            <a:ext cx="7704000" cy="572700"/>
          </a:xfrm>
          <a:prstGeom prst="rect">
            <a:avLst/>
          </a:prstGeom>
        </p:spPr>
        <p:txBody>
          <a:bodyPr spcFirstLastPara="1" wrap="square" lIns="91425" tIns="91425" rIns="91425" bIns="91425" anchor="t" anchorCtr="0">
            <a:noAutofit/>
          </a:bodyPr>
          <a:lstStyle/>
          <a:p>
            <a:pPr algn="ctr"/>
            <a:r>
              <a:rPr lang="en-US" sz="2500" b="1" dirty="0">
                <a:solidFill>
                  <a:schemeClr val="accent1">
                    <a:lumMod val="75000"/>
                  </a:schemeClr>
                </a:solidFill>
                <a:latin typeface="Space Mono" panose="020B0604020202020204" charset="0"/>
              </a:rPr>
              <a:t>SURGICAL 3D ROBOTIC MICROSCOPE</a:t>
            </a:r>
          </a:p>
        </p:txBody>
      </p:sp>
      <p:sp>
        <p:nvSpPr>
          <p:cNvPr id="687" name="TextBox 686">
            <a:extLst>
              <a:ext uri="{FF2B5EF4-FFF2-40B4-BE49-F238E27FC236}">
                <a16:creationId xmlns:a16="http://schemas.microsoft.com/office/drawing/2014/main" id="{391FBB56-1C7C-0920-E657-7945B822FF53}"/>
              </a:ext>
            </a:extLst>
          </p:cNvPr>
          <p:cNvSpPr txBox="1"/>
          <p:nvPr/>
        </p:nvSpPr>
        <p:spPr>
          <a:xfrm>
            <a:off x="632852" y="965732"/>
            <a:ext cx="4140477" cy="3424014"/>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The 3D microscope allows neurosurgeons performing microsurgery to get a clear, three-dimensional, “zoomed in”, visual representation of the patient as they perform surgery. The robot allows for ease of motion.</a:t>
            </a:r>
          </a:p>
          <a:p>
            <a:pPr defTabSz="230193">
              <a:spcAft>
                <a:spcPts val="6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FDA and IEC regulations (510K submission), myriad product specs</a:t>
            </a:r>
          </a:p>
          <a:p>
            <a:pPr defTabSz="230193">
              <a:spcAft>
                <a:spcPts val="6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Design and analysis (finite element and modal in SOLIDWORKS Simulation) of functional and aesthetic parts.</a:t>
            </a:r>
            <a:endParaRPr lang="en-US" sz="1800" b="1" dirty="0">
              <a:solidFill>
                <a:schemeClr val="accent3"/>
              </a:solidFill>
              <a:latin typeface="Aptos" panose="020B0004020202020204" pitchFamily="34" charset="0"/>
            </a:endParaRPr>
          </a:p>
        </p:txBody>
      </p:sp>
      <p:pic>
        <p:nvPicPr>
          <p:cNvPr id="688" name="Picture 4">
            <a:extLst>
              <a:ext uri="{FF2B5EF4-FFF2-40B4-BE49-F238E27FC236}">
                <a16:creationId xmlns:a16="http://schemas.microsoft.com/office/drawing/2014/main" id="{40CF94D7-66A3-9359-C457-961665853A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971" y="805650"/>
            <a:ext cx="3598529" cy="41388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F9AEAF17-0870-51DC-B2CC-B6584A707BB5}"/>
              </a:ext>
            </a:extLst>
          </p:cNvPr>
          <p:cNvSpPr txBox="1">
            <a:spLocks noGrp="1"/>
          </p:cNvSpPr>
          <p:nvPr>
            <p:ph type="title"/>
          </p:nvPr>
        </p:nvSpPr>
        <p:spPr>
          <a:xfrm>
            <a:off x="864984" y="161879"/>
            <a:ext cx="7704000" cy="572700"/>
          </a:xfrm>
          <a:prstGeom prst="rect">
            <a:avLst/>
          </a:prstGeom>
        </p:spPr>
        <p:txBody>
          <a:bodyPr spcFirstLastPara="1" wrap="square" lIns="91425" tIns="91425" rIns="91425" bIns="91425" anchor="t" anchorCtr="0">
            <a:noAutofit/>
          </a:bodyPr>
          <a:lstStyle/>
          <a:p>
            <a:r>
              <a:rPr lang="en-US" sz="2500" b="1" dirty="0">
                <a:solidFill>
                  <a:schemeClr val="accent1">
                    <a:lumMod val="75000"/>
                  </a:schemeClr>
                </a:solidFill>
                <a:latin typeface="Space Mono" panose="020B0604020202020204" charset="0"/>
              </a:rPr>
              <a:t>SIMULATION (3D MICROSCOPE)</a:t>
            </a:r>
          </a:p>
        </p:txBody>
      </p:sp>
      <p:pic>
        <p:nvPicPr>
          <p:cNvPr id="3" name="Picture 2">
            <a:extLst>
              <a:ext uri="{FF2B5EF4-FFF2-40B4-BE49-F238E27FC236}">
                <a16:creationId xmlns:a16="http://schemas.microsoft.com/office/drawing/2014/main" id="{47DDDDC8-CCE8-94AF-D96B-8530A771E417}"/>
              </a:ext>
            </a:extLst>
          </p:cNvPr>
          <p:cNvPicPr>
            <a:picLocks noChangeAspect="1"/>
          </p:cNvPicPr>
          <p:nvPr/>
        </p:nvPicPr>
        <p:blipFill>
          <a:blip r:embed="rId3"/>
          <a:stretch>
            <a:fillRect/>
          </a:stretch>
        </p:blipFill>
        <p:spPr>
          <a:xfrm>
            <a:off x="3136218" y="2468039"/>
            <a:ext cx="2570492" cy="2413225"/>
          </a:xfrm>
          <a:prstGeom prst="rect">
            <a:avLst/>
          </a:prstGeom>
        </p:spPr>
      </p:pic>
      <p:pic>
        <p:nvPicPr>
          <p:cNvPr id="4" name="Picture 3">
            <a:extLst>
              <a:ext uri="{FF2B5EF4-FFF2-40B4-BE49-F238E27FC236}">
                <a16:creationId xmlns:a16="http://schemas.microsoft.com/office/drawing/2014/main" id="{33C73699-AD26-F06A-D13E-7C769ABC1125}"/>
              </a:ext>
            </a:extLst>
          </p:cNvPr>
          <p:cNvPicPr>
            <a:picLocks noChangeAspect="1"/>
          </p:cNvPicPr>
          <p:nvPr/>
        </p:nvPicPr>
        <p:blipFill>
          <a:blip r:embed="rId4"/>
          <a:stretch>
            <a:fillRect/>
          </a:stretch>
        </p:blipFill>
        <p:spPr>
          <a:xfrm>
            <a:off x="6007789" y="2937511"/>
            <a:ext cx="3136217" cy="1785030"/>
          </a:xfrm>
          <a:prstGeom prst="rect">
            <a:avLst/>
          </a:prstGeom>
        </p:spPr>
      </p:pic>
      <p:pic>
        <p:nvPicPr>
          <p:cNvPr id="5" name="Picture 4">
            <a:extLst>
              <a:ext uri="{FF2B5EF4-FFF2-40B4-BE49-F238E27FC236}">
                <a16:creationId xmlns:a16="http://schemas.microsoft.com/office/drawing/2014/main" id="{0DBED8B0-C82C-FBD7-898F-AF162AF67C8A}"/>
              </a:ext>
            </a:extLst>
          </p:cNvPr>
          <p:cNvPicPr>
            <a:picLocks noChangeAspect="1"/>
          </p:cNvPicPr>
          <p:nvPr/>
        </p:nvPicPr>
        <p:blipFill>
          <a:blip r:embed="rId5"/>
          <a:stretch>
            <a:fillRect/>
          </a:stretch>
        </p:blipFill>
        <p:spPr>
          <a:xfrm>
            <a:off x="6499495" y="837184"/>
            <a:ext cx="2605329" cy="2034819"/>
          </a:xfrm>
          <a:prstGeom prst="rect">
            <a:avLst/>
          </a:prstGeom>
        </p:spPr>
      </p:pic>
      <p:sp>
        <p:nvSpPr>
          <p:cNvPr id="6" name="TextBox 5">
            <a:extLst>
              <a:ext uri="{FF2B5EF4-FFF2-40B4-BE49-F238E27FC236}">
                <a16:creationId xmlns:a16="http://schemas.microsoft.com/office/drawing/2014/main" id="{BFEBD6B7-6795-57D2-B48F-830AE64FFFF2}"/>
              </a:ext>
            </a:extLst>
          </p:cNvPr>
          <p:cNvSpPr txBox="1"/>
          <p:nvPr/>
        </p:nvSpPr>
        <p:spPr>
          <a:xfrm>
            <a:off x="763388" y="879485"/>
            <a:ext cx="4823927" cy="1550168"/>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Static analysis of fully assembled frame, including fasteners to determine highest points of stress and verify safety factors in accordance with IEC 60601.</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Fastener pull-out force verified</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Modal analysis performed on cantilevered screen arm</a:t>
            </a:r>
          </a:p>
        </p:txBody>
      </p:sp>
      <p:pic>
        <p:nvPicPr>
          <p:cNvPr id="7" name="Picture 6">
            <a:extLst>
              <a:ext uri="{FF2B5EF4-FFF2-40B4-BE49-F238E27FC236}">
                <a16:creationId xmlns:a16="http://schemas.microsoft.com/office/drawing/2014/main" id="{C76C37CD-82BF-D510-41F4-F930D4E731B1}"/>
              </a:ext>
            </a:extLst>
          </p:cNvPr>
          <p:cNvPicPr>
            <a:picLocks noChangeAspect="1"/>
          </p:cNvPicPr>
          <p:nvPr/>
        </p:nvPicPr>
        <p:blipFill>
          <a:blip r:embed="rId6"/>
          <a:stretch>
            <a:fillRect/>
          </a:stretch>
        </p:blipFill>
        <p:spPr>
          <a:xfrm>
            <a:off x="597056" y="2531312"/>
            <a:ext cx="2476179" cy="2413225"/>
          </a:xfrm>
          <a:prstGeom prst="rect">
            <a:avLst/>
          </a:prstGeom>
        </p:spPr>
      </p:pic>
    </p:spTree>
    <p:extLst>
      <p:ext uri="{BB962C8B-B14F-4D97-AF65-F5344CB8AC3E}">
        <p14:creationId xmlns:p14="http://schemas.microsoft.com/office/powerpoint/2010/main" val="4209936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17" name="Google Shape;918;p66">
            <a:extLst>
              <a:ext uri="{FF2B5EF4-FFF2-40B4-BE49-F238E27FC236}">
                <a16:creationId xmlns:a16="http://schemas.microsoft.com/office/drawing/2014/main" id="{48EBCA0B-391C-AE9E-6F61-57260568416E}"/>
              </a:ext>
            </a:extLst>
          </p:cNvPr>
          <p:cNvSpPr txBox="1">
            <a:spLocks noGrp="1"/>
          </p:cNvSpPr>
          <p:nvPr>
            <p:ph type="title"/>
          </p:nvPr>
        </p:nvSpPr>
        <p:spPr>
          <a:xfrm>
            <a:off x="841835" y="161677"/>
            <a:ext cx="7704000" cy="522361"/>
          </a:xfrm>
          <a:prstGeom prst="rect">
            <a:avLst/>
          </a:prstGeom>
        </p:spPr>
        <p:txBody>
          <a:bodyPr spcFirstLastPara="1" wrap="square" lIns="91425" tIns="91425" rIns="91425" bIns="91425" anchor="t" anchorCtr="0">
            <a:noAutofit/>
          </a:bodyPr>
          <a:lstStyle/>
          <a:p>
            <a:pPr algn="ctr"/>
            <a:r>
              <a:rPr lang="en" sz="2500" b="1" dirty="0">
                <a:solidFill>
                  <a:schemeClr val="accent1">
                    <a:lumMod val="75000"/>
                  </a:schemeClr>
                </a:solidFill>
                <a:latin typeface="Space Mono" panose="020B0604020202020204" charset="0"/>
              </a:rPr>
              <a:t>DIAPHRAGM</a:t>
            </a:r>
            <a:r>
              <a:rPr lang="en" sz="2500" b="1" cap="small" dirty="0">
                <a:solidFill>
                  <a:schemeClr val="accent1">
                    <a:lumMod val="75000"/>
                  </a:schemeClr>
                </a:solidFill>
                <a:latin typeface="Space Mono" panose="020B0604020202020204" charset="0"/>
              </a:rPr>
              <a:t> PUMP CATHETER DEVICE</a:t>
            </a:r>
            <a:endParaRPr sz="2500" b="1" cap="small" dirty="0">
              <a:solidFill>
                <a:schemeClr val="accent1">
                  <a:lumMod val="75000"/>
                </a:schemeClr>
              </a:solidFill>
              <a:latin typeface="Space Mono" panose="020B0604020202020204" charset="0"/>
            </a:endParaRPr>
          </a:p>
        </p:txBody>
      </p:sp>
      <p:sp>
        <p:nvSpPr>
          <p:cNvPr id="18" name="TextBox 17">
            <a:extLst>
              <a:ext uri="{FF2B5EF4-FFF2-40B4-BE49-F238E27FC236}">
                <a16:creationId xmlns:a16="http://schemas.microsoft.com/office/drawing/2014/main" id="{D7B3F861-D5BD-BE15-4918-F8F9D13FD376}"/>
              </a:ext>
            </a:extLst>
          </p:cNvPr>
          <p:cNvSpPr txBox="1"/>
          <p:nvPr/>
        </p:nvSpPr>
        <p:spPr>
          <a:xfrm>
            <a:off x="483153" y="713679"/>
            <a:ext cx="2724733" cy="1192634"/>
          </a:xfrm>
          <a:prstGeom prst="rect">
            <a:avLst/>
          </a:prstGeom>
          <a:noFill/>
        </p:spPr>
        <p:txBody>
          <a:bodyPr wrap="square" rtlCol="0">
            <a:spAutoFit/>
          </a:bodyPr>
          <a:lstStyle/>
          <a:p>
            <a:pPr>
              <a:spcAft>
                <a:spcPts val="300"/>
              </a:spcAft>
            </a:pPr>
            <a:r>
              <a:rPr lang="en-US" b="1" dirty="0">
                <a:solidFill>
                  <a:schemeClr val="accent3"/>
                </a:solidFill>
                <a:latin typeface="Helvetica" pitchFamily="2" charset="0"/>
              </a:rPr>
              <a:t>SUMMARY</a:t>
            </a:r>
          </a:p>
          <a:p>
            <a:pPr marL="57151" defTabSz="230193">
              <a:spcAft>
                <a:spcPts val="600"/>
              </a:spcAft>
            </a:pPr>
            <a:r>
              <a:rPr lang="en-US" sz="1100" dirty="0">
                <a:latin typeface="Helvetica" pitchFamily="2" charset="0"/>
              </a:rPr>
              <a:t>A balloon catheter is used to remove intravascular calcified lesions. The balloon pulsates with force driven by a diaphragm pump, controlled by a servo motor / Arduino controller.</a:t>
            </a:r>
          </a:p>
        </p:txBody>
      </p:sp>
      <p:sp>
        <p:nvSpPr>
          <p:cNvPr id="19" name="TextBox 18">
            <a:extLst>
              <a:ext uri="{FF2B5EF4-FFF2-40B4-BE49-F238E27FC236}">
                <a16:creationId xmlns:a16="http://schemas.microsoft.com/office/drawing/2014/main" id="{E9660F4C-6EFF-1B53-DE9E-899A9F18AA4E}"/>
              </a:ext>
            </a:extLst>
          </p:cNvPr>
          <p:cNvSpPr txBox="1"/>
          <p:nvPr/>
        </p:nvSpPr>
        <p:spPr>
          <a:xfrm>
            <a:off x="3125873" y="713679"/>
            <a:ext cx="2646446" cy="1782539"/>
          </a:xfrm>
          <a:prstGeom prst="rect">
            <a:avLst/>
          </a:prstGeom>
          <a:noFill/>
        </p:spPr>
        <p:txBody>
          <a:bodyPr wrap="square" rtlCol="0">
            <a:spAutoFit/>
          </a:bodyPr>
          <a:lstStyle/>
          <a:p>
            <a:pPr>
              <a:spcAft>
                <a:spcPts val="300"/>
              </a:spcAft>
            </a:pPr>
            <a:r>
              <a:rPr lang="en-US" b="1" dirty="0">
                <a:solidFill>
                  <a:schemeClr val="accent3"/>
                </a:solidFill>
                <a:latin typeface="Helvetica" pitchFamily="2" charset="0"/>
              </a:rPr>
              <a:t>REQUIREMENTS</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ea typeface="Calibri" panose="020F0502020204030204" pitchFamily="34" charset="0"/>
                <a:cs typeface="Times New Roman" panose="02020603050405020304" pitchFamily="18" charset="0"/>
              </a:rPr>
              <a:t>Product specs</a:t>
            </a:r>
            <a:endParaRPr lang="en-US" sz="1100" kern="100" dirty="0">
              <a:latin typeface="Calibri" panose="020F0502020204030204" pitchFamily="34" charset="0"/>
              <a:ea typeface="Calibri" panose="020F0502020204030204" pitchFamily="34" charset="0"/>
              <a:cs typeface="Times New Roman" panose="02020603050405020304" pitchFamily="18" charset="0"/>
            </a:endParaRPr>
          </a:p>
          <a:p>
            <a:pPr marL="457210" lvl="1" indent="-169867">
              <a:lnSpc>
                <a:spcPct val="107000"/>
              </a:lnSpc>
              <a:buClr>
                <a:srgbClr val="C00000"/>
              </a:buClr>
              <a:buSzPts val="1000"/>
              <a:buFont typeface="Courier New" panose="02070309020205020404" pitchFamily="49" charset="0"/>
              <a:buChar char="o"/>
              <a:tabLst>
                <a:tab pos="457210" algn="l"/>
              </a:tabLst>
            </a:pPr>
            <a:r>
              <a:rPr lang="en-US" sz="1100" kern="100" dirty="0">
                <a:solidFill>
                  <a:schemeClr val="bg1">
                    <a:lumMod val="10000"/>
                  </a:schemeClr>
                </a:solidFill>
                <a:latin typeface="Helvetica" pitchFamily="2" charset="0"/>
                <a:ea typeface="Calibri" panose="020F0502020204030204" pitchFamily="34" charset="0"/>
                <a:cs typeface="Times New Roman" panose="02020603050405020304" pitchFamily="18" charset="0"/>
              </a:rPr>
              <a:t>Frequency, balloon pressure</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100" kern="100" dirty="0">
                <a:solidFill>
                  <a:schemeClr val="bg1">
                    <a:lumMod val="10000"/>
                  </a:schemeClr>
                </a:solidFill>
                <a:latin typeface="Helvetica" pitchFamily="2" charset="0"/>
                <a:ea typeface="Calibri" panose="020F0502020204030204" pitchFamily="34" charset="0"/>
                <a:cs typeface="Times New Roman" panose="02020603050405020304" pitchFamily="18" charset="0"/>
              </a:rPr>
              <a:t>Catheter/balloon size</a:t>
            </a:r>
          </a:p>
          <a:p>
            <a:pPr marL="287344" indent="-173042">
              <a:lnSpc>
                <a:spcPct val="107000"/>
              </a:lnSpc>
              <a:buClr>
                <a:srgbClr val="9A0000"/>
              </a:buClr>
              <a:buSzPts val="1000"/>
              <a:buFont typeface="Symbol" panose="05050102010706020507" pitchFamily="18" charset="2"/>
              <a:buChar char=""/>
              <a:tabLst>
                <a:tab pos="457210" algn="l"/>
              </a:tabLst>
            </a:pPr>
            <a:r>
              <a:rPr lang="en-US" sz="1100" kern="100" dirty="0">
                <a:latin typeface="Helvetica" pitchFamily="2" charset="0"/>
                <a:cs typeface="Times New Roman" panose="02020603050405020304" pitchFamily="18" charset="0"/>
              </a:rPr>
              <a:t>FDA/IEC requirements</a:t>
            </a:r>
          </a:p>
          <a:p>
            <a:pPr marL="287344" indent="-173042">
              <a:lnSpc>
                <a:spcPct val="107000"/>
              </a:lnSpc>
              <a:buClr>
                <a:srgbClr val="9A0000"/>
              </a:buClr>
              <a:buSzPts val="1000"/>
              <a:buFont typeface="Symbol" panose="05050102010706020507" pitchFamily="18" charset="2"/>
              <a:buChar char=""/>
              <a:tabLst>
                <a:tab pos="457210" algn="l"/>
              </a:tabLst>
            </a:pPr>
            <a:r>
              <a:rPr lang="en-US" sz="1100" kern="100" dirty="0">
                <a:latin typeface="Helvetica" pitchFamily="2" charset="0"/>
                <a:cs typeface="Times New Roman" panose="02020603050405020304" pitchFamily="18" charset="0"/>
              </a:rPr>
              <a:t>Low budget relative to complexity</a:t>
            </a:r>
          </a:p>
          <a:p>
            <a:pPr marL="287344" indent="-173042">
              <a:lnSpc>
                <a:spcPct val="107000"/>
              </a:lnSpc>
              <a:buClr>
                <a:srgbClr val="9A0000"/>
              </a:buClr>
              <a:buSzPts val="1000"/>
              <a:buFont typeface="Symbol" panose="05050102010706020507" pitchFamily="18" charset="2"/>
              <a:buChar char=""/>
              <a:tabLst>
                <a:tab pos="457210" algn="l"/>
              </a:tabLst>
            </a:pPr>
            <a:r>
              <a:rPr lang="en-US" sz="1100" kern="100" dirty="0">
                <a:latin typeface="Lato" panose="020F0502020204030203" pitchFamily="34" charset="0"/>
                <a:cs typeface="Times New Roman" panose="02020603050405020304" pitchFamily="18" charset="0"/>
              </a:rPr>
              <a:t>~1Nm of torque required for 5.5kN force from chamber pressure</a:t>
            </a:r>
          </a:p>
          <a:p>
            <a:pPr marL="287344" indent="-173042">
              <a:lnSpc>
                <a:spcPct val="107000"/>
              </a:lnSpc>
              <a:buClr>
                <a:srgbClr val="9A0000"/>
              </a:buClr>
              <a:buSzPts val="1000"/>
              <a:buFont typeface="Symbol" panose="05050102010706020507" pitchFamily="18" charset="2"/>
              <a:buChar char=""/>
              <a:tabLst>
                <a:tab pos="457210" algn="l"/>
              </a:tabLst>
            </a:pPr>
            <a:endParaRPr lang="en-US" sz="1100" kern="100" dirty="0">
              <a:latin typeface="Helvetica" pitchFamily="2" charset="0"/>
              <a:cs typeface="Times New Roman" panose="02020603050405020304" pitchFamily="18" charset="0"/>
            </a:endParaRPr>
          </a:p>
        </p:txBody>
      </p:sp>
      <p:sp>
        <p:nvSpPr>
          <p:cNvPr id="20" name="TextBox 19">
            <a:extLst>
              <a:ext uri="{FF2B5EF4-FFF2-40B4-BE49-F238E27FC236}">
                <a16:creationId xmlns:a16="http://schemas.microsoft.com/office/drawing/2014/main" id="{003CFF6B-108B-7CEB-D321-1EAD8E6BBFCF}"/>
              </a:ext>
            </a:extLst>
          </p:cNvPr>
          <p:cNvSpPr txBox="1"/>
          <p:nvPr/>
        </p:nvSpPr>
        <p:spPr>
          <a:xfrm>
            <a:off x="5818445" y="713679"/>
            <a:ext cx="2842402" cy="1601079"/>
          </a:xfrm>
          <a:prstGeom prst="rect">
            <a:avLst/>
          </a:prstGeom>
          <a:noFill/>
        </p:spPr>
        <p:txBody>
          <a:bodyPr wrap="square" rtlCol="0">
            <a:spAutoFit/>
          </a:bodyPr>
          <a:lstStyle/>
          <a:p>
            <a:pPr>
              <a:spcAft>
                <a:spcPts val="300"/>
              </a:spcAft>
            </a:pPr>
            <a:r>
              <a:rPr lang="en-US" b="1" dirty="0">
                <a:solidFill>
                  <a:schemeClr val="accent3"/>
                </a:solidFill>
                <a:latin typeface="Helvetica" pitchFamily="2" charset="0"/>
              </a:rPr>
              <a:t>ROLE</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Initial proof of concept</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Research, design, and simulation</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Testing and design iterations</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Prototyping using manual machining, silicone molding, 3D printing</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Project management</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CAM and CNC machining parts</a:t>
            </a:r>
          </a:p>
        </p:txBody>
      </p:sp>
      <p:pic>
        <p:nvPicPr>
          <p:cNvPr id="30" name="Picture 29">
            <a:extLst>
              <a:ext uri="{FF2B5EF4-FFF2-40B4-BE49-F238E27FC236}">
                <a16:creationId xmlns:a16="http://schemas.microsoft.com/office/drawing/2014/main" id="{5B520F0A-A200-F9DD-3FCC-62B68A59E5A0}"/>
              </a:ext>
            </a:extLst>
          </p:cNvPr>
          <p:cNvPicPr>
            <a:picLocks noChangeAspect="1"/>
          </p:cNvPicPr>
          <p:nvPr/>
        </p:nvPicPr>
        <p:blipFill>
          <a:blip r:embed="rId3"/>
          <a:stretch>
            <a:fillRect/>
          </a:stretch>
        </p:blipFill>
        <p:spPr>
          <a:xfrm>
            <a:off x="1845520" y="2235158"/>
            <a:ext cx="5617312" cy="2869057"/>
          </a:xfrm>
          <a:prstGeom prst="rect">
            <a:avLst/>
          </a:prstGeom>
        </p:spPr>
      </p:pic>
    </p:spTree>
    <p:extLst>
      <p:ext uri="{BB962C8B-B14F-4D97-AF65-F5344CB8AC3E}">
        <p14:creationId xmlns:p14="http://schemas.microsoft.com/office/powerpoint/2010/main" val="20262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10" name="Google Shape;918;p66">
            <a:extLst>
              <a:ext uri="{FF2B5EF4-FFF2-40B4-BE49-F238E27FC236}">
                <a16:creationId xmlns:a16="http://schemas.microsoft.com/office/drawing/2014/main" id="{C8BB20AB-18A1-DD10-0AE8-243B89EF9F52}"/>
              </a:ext>
            </a:extLst>
          </p:cNvPr>
          <p:cNvSpPr txBox="1">
            <a:spLocks noGrp="1"/>
          </p:cNvSpPr>
          <p:nvPr>
            <p:ph type="title"/>
          </p:nvPr>
        </p:nvSpPr>
        <p:spPr>
          <a:xfrm>
            <a:off x="718019" y="288631"/>
            <a:ext cx="7704000" cy="548817"/>
          </a:xfrm>
          <a:prstGeom prst="rect">
            <a:avLst/>
          </a:prstGeom>
        </p:spPr>
        <p:txBody>
          <a:bodyPr spcFirstLastPara="1" wrap="square" lIns="91425" tIns="91425" rIns="91425" bIns="91425" anchor="t" anchorCtr="0">
            <a:noAutofit/>
          </a:bodyPr>
          <a:lstStyle/>
          <a:p>
            <a:r>
              <a:rPr lang="en" sz="2500" b="1" dirty="0">
                <a:solidFill>
                  <a:schemeClr val="accent1">
                    <a:lumMod val="75000"/>
                  </a:schemeClr>
                </a:solidFill>
                <a:latin typeface="Space Mono" panose="020B0604020202020204" charset="0"/>
              </a:rPr>
              <a:t>DIAPHRAGM</a:t>
            </a:r>
            <a:r>
              <a:rPr lang="en" sz="2500" b="1" cap="small" dirty="0">
                <a:solidFill>
                  <a:schemeClr val="accent1">
                    <a:lumMod val="75000"/>
                  </a:schemeClr>
                </a:solidFill>
                <a:latin typeface="Space Mono" panose="020B0604020202020204" charset="0"/>
              </a:rPr>
              <a:t> PUMP EXPLODED</a:t>
            </a:r>
            <a:endParaRPr sz="2500" b="1" cap="small" dirty="0">
              <a:solidFill>
                <a:schemeClr val="accent1">
                  <a:lumMod val="75000"/>
                </a:schemeClr>
              </a:solidFill>
              <a:latin typeface="Space Mono" panose="020B0604020202020204" charset="0"/>
            </a:endParaRPr>
          </a:p>
        </p:txBody>
      </p:sp>
      <p:pic>
        <p:nvPicPr>
          <p:cNvPr id="11" name="Picture 10">
            <a:extLst>
              <a:ext uri="{FF2B5EF4-FFF2-40B4-BE49-F238E27FC236}">
                <a16:creationId xmlns:a16="http://schemas.microsoft.com/office/drawing/2014/main" id="{7B8A7AEC-23F6-27E5-7F52-0D4834CB41D7}"/>
              </a:ext>
            </a:extLst>
          </p:cNvPr>
          <p:cNvPicPr>
            <a:picLocks noChangeAspect="1"/>
          </p:cNvPicPr>
          <p:nvPr/>
        </p:nvPicPr>
        <p:blipFill>
          <a:blip r:embed="rId3"/>
          <a:stretch>
            <a:fillRect/>
          </a:stretch>
        </p:blipFill>
        <p:spPr>
          <a:xfrm>
            <a:off x="278645" y="795801"/>
            <a:ext cx="8582748" cy="4347699"/>
          </a:xfrm>
          <a:prstGeom prst="rect">
            <a:avLst/>
          </a:prstGeom>
        </p:spPr>
      </p:pic>
    </p:spTree>
    <p:extLst>
      <p:ext uri="{BB962C8B-B14F-4D97-AF65-F5344CB8AC3E}">
        <p14:creationId xmlns:p14="http://schemas.microsoft.com/office/powerpoint/2010/main" val="2547065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4" name="Google Shape;918;p66">
            <a:extLst>
              <a:ext uri="{FF2B5EF4-FFF2-40B4-BE49-F238E27FC236}">
                <a16:creationId xmlns:a16="http://schemas.microsoft.com/office/drawing/2014/main" id="{29E37115-C160-3331-5C18-106CD5CB2B72}"/>
              </a:ext>
            </a:extLst>
          </p:cNvPr>
          <p:cNvSpPr txBox="1">
            <a:spLocks noGrp="1"/>
          </p:cNvSpPr>
          <p:nvPr>
            <p:ph type="title"/>
          </p:nvPr>
        </p:nvSpPr>
        <p:spPr>
          <a:xfrm>
            <a:off x="650715" y="267980"/>
            <a:ext cx="7959554" cy="572700"/>
          </a:xfrm>
          <a:prstGeom prst="rect">
            <a:avLst/>
          </a:prstGeom>
        </p:spPr>
        <p:txBody>
          <a:bodyPr spcFirstLastPara="1" wrap="square" lIns="91425" tIns="91425" rIns="91425" bIns="91425" anchor="t" anchorCtr="0">
            <a:noAutofit/>
          </a:bodyPr>
          <a:lstStyle/>
          <a:p>
            <a:r>
              <a:rPr lang="en-US" sz="2200" b="1" dirty="0">
                <a:solidFill>
                  <a:schemeClr val="tx2">
                    <a:lumMod val="50000"/>
                  </a:schemeClr>
                </a:solidFill>
                <a:latin typeface="Space Mono" panose="020B0604020202020204" charset="0"/>
              </a:rPr>
              <a:t>ROBOTIC ENDOSCOPE, INJECTION MOLDED PARTS</a:t>
            </a:r>
          </a:p>
        </p:txBody>
      </p:sp>
      <p:sp>
        <p:nvSpPr>
          <p:cNvPr id="5" name="TextBox 4">
            <a:extLst>
              <a:ext uri="{FF2B5EF4-FFF2-40B4-BE49-F238E27FC236}">
                <a16:creationId xmlns:a16="http://schemas.microsoft.com/office/drawing/2014/main" id="{7FE0B1E0-FC5F-C665-8772-4DCE946EB91A}"/>
              </a:ext>
            </a:extLst>
          </p:cNvPr>
          <p:cNvSpPr txBox="1"/>
          <p:nvPr/>
        </p:nvSpPr>
        <p:spPr>
          <a:xfrm>
            <a:off x="484039" y="1007560"/>
            <a:ext cx="4457423" cy="2616101"/>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A surgical device used sterilized plastic parts as part of a pulley driven push-pull cable system. The parts in the system were designed for 3D printing in a prototype. They needed to be redesigned for injection molding and redesigned in accordance with direction from industrial design.</a:t>
            </a:r>
          </a:p>
          <a:p>
            <a:pPr defTabSz="230193">
              <a:spcAft>
                <a:spcPts val="6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Industrial design directions, molding best practices.</a:t>
            </a:r>
          </a:p>
          <a:p>
            <a:pPr>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Mechanical Design Engineer, functional and aesthetic parts. Worked with overseas CM to ensure moldability and quality.</a:t>
            </a:r>
          </a:p>
        </p:txBody>
      </p:sp>
      <p:pic>
        <p:nvPicPr>
          <p:cNvPr id="3" name="Picture 2">
            <a:extLst>
              <a:ext uri="{FF2B5EF4-FFF2-40B4-BE49-F238E27FC236}">
                <a16:creationId xmlns:a16="http://schemas.microsoft.com/office/drawing/2014/main" id="{8EA4149C-628D-BA6F-0082-42B3DCBBBF1C}"/>
              </a:ext>
            </a:extLst>
          </p:cNvPr>
          <p:cNvPicPr>
            <a:picLocks noChangeAspect="1"/>
          </p:cNvPicPr>
          <p:nvPr/>
        </p:nvPicPr>
        <p:blipFill>
          <a:blip r:embed="rId3"/>
          <a:stretch>
            <a:fillRect/>
          </a:stretch>
        </p:blipFill>
        <p:spPr>
          <a:xfrm rot="21427089">
            <a:off x="4387290" y="2954474"/>
            <a:ext cx="3427300" cy="2189860"/>
          </a:xfrm>
          <a:prstGeom prst="rect">
            <a:avLst/>
          </a:prstGeom>
        </p:spPr>
      </p:pic>
      <p:pic>
        <p:nvPicPr>
          <p:cNvPr id="18" name="Picture 17">
            <a:extLst>
              <a:ext uri="{FF2B5EF4-FFF2-40B4-BE49-F238E27FC236}">
                <a16:creationId xmlns:a16="http://schemas.microsoft.com/office/drawing/2014/main" id="{E318F45F-6513-097D-BDFA-03C4CEFF9282}"/>
              </a:ext>
            </a:extLst>
          </p:cNvPr>
          <p:cNvPicPr>
            <a:picLocks noChangeAspect="1"/>
          </p:cNvPicPr>
          <p:nvPr/>
        </p:nvPicPr>
        <p:blipFill>
          <a:blip r:embed="rId4"/>
          <a:stretch>
            <a:fillRect/>
          </a:stretch>
        </p:blipFill>
        <p:spPr>
          <a:xfrm>
            <a:off x="5470771" y="951420"/>
            <a:ext cx="3615055" cy="2905758"/>
          </a:xfrm>
          <a:prstGeom prst="rect">
            <a:avLst/>
          </a:prstGeom>
        </p:spPr>
      </p:pic>
    </p:spTree>
    <p:extLst>
      <p:ext uri="{BB962C8B-B14F-4D97-AF65-F5344CB8AC3E}">
        <p14:creationId xmlns:p14="http://schemas.microsoft.com/office/powerpoint/2010/main" val="3917014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 name="Google Shape;918;p66">
            <a:extLst>
              <a:ext uri="{FF2B5EF4-FFF2-40B4-BE49-F238E27FC236}">
                <a16:creationId xmlns:a16="http://schemas.microsoft.com/office/drawing/2014/main" id="{8D0FFDE6-92E6-4150-D682-0F6211AACD73}"/>
              </a:ext>
            </a:extLst>
          </p:cNvPr>
          <p:cNvSpPr txBox="1">
            <a:spLocks noGrp="1"/>
          </p:cNvSpPr>
          <p:nvPr>
            <p:ph type="title"/>
          </p:nvPr>
        </p:nvSpPr>
        <p:spPr>
          <a:xfrm>
            <a:off x="854440" y="190265"/>
            <a:ext cx="7704000" cy="572700"/>
          </a:xfrm>
          <a:prstGeom prst="rect">
            <a:avLst/>
          </a:prstGeom>
        </p:spPr>
        <p:txBody>
          <a:bodyPr spcFirstLastPara="1" wrap="square" lIns="91425" tIns="91425" rIns="91425" bIns="91425" anchor="t" anchorCtr="0">
            <a:noAutofit/>
          </a:bodyPr>
          <a:lstStyle/>
          <a:p>
            <a:pPr algn="ctr"/>
            <a:r>
              <a:rPr lang="en-US" sz="2500" b="1" dirty="0">
                <a:solidFill>
                  <a:schemeClr val="accent1">
                    <a:lumMod val="75000"/>
                  </a:schemeClr>
                </a:solidFill>
                <a:latin typeface="Space Mono" panose="020B0604020202020204" charset="0"/>
              </a:rPr>
              <a:t>AUTOMATED FOOD PROCESSING DEVICE</a:t>
            </a:r>
          </a:p>
        </p:txBody>
      </p:sp>
      <p:pic>
        <p:nvPicPr>
          <p:cNvPr id="7" name="Picture 6">
            <a:extLst>
              <a:ext uri="{FF2B5EF4-FFF2-40B4-BE49-F238E27FC236}">
                <a16:creationId xmlns:a16="http://schemas.microsoft.com/office/drawing/2014/main" id="{CF4D660F-245E-E86E-B1F8-756087673EDD}"/>
              </a:ext>
            </a:extLst>
          </p:cNvPr>
          <p:cNvPicPr>
            <a:picLocks noChangeAspect="1"/>
          </p:cNvPicPr>
          <p:nvPr/>
        </p:nvPicPr>
        <p:blipFill>
          <a:blip r:embed="rId3"/>
          <a:stretch>
            <a:fillRect/>
          </a:stretch>
        </p:blipFill>
        <p:spPr>
          <a:xfrm>
            <a:off x="4907154" y="811097"/>
            <a:ext cx="3651286" cy="4239351"/>
          </a:xfrm>
          <a:prstGeom prst="rect">
            <a:avLst/>
          </a:prstGeom>
        </p:spPr>
      </p:pic>
      <p:sp>
        <p:nvSpPr>
          <p:cNvPr id="8" name="TextBox 7">
            <a:extLst>
              <a:ext uri="{FF2B5EF4-FFF2-40B4-BE49-F238E27FC236}">
                <a16:creationId xmlns:a16="http://schemas.microsoft.com/office/drawing/2014/main" id="{006821A3-EE6C-3B4D-8317-82783E8AEF08}"/>
              </a:ext>
            </a:extLst>
          </p:cNvPr>
          <p:cNvSpPr txBox="1"/>
          <p:nvPr/>
        </p:nvSpPr>
        <p:spPr>
          <a:xfrm>
            <a:off x="627019" y="873506"/>
            <a:ext cx="4140477" cy="3347070"/>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A gelatinous material is poured into the temperature-controlled hopper. A piston uses negative pressure to pull the material into the cylinder, and then pushes it out through a nozzle into the desired form onto trays on a conveyer belt.</a:t>
            </a:r>
          </a:p>
          <a:p>
            <a:pPr>
              <a:spcAft>
                <a:spcPts val="3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FDA and NSF regulations, product specs</a:t>
            </a:r>
          </a:p>
          <a:p>
            <a:pPr>
              <a:spcAft>
                <a:spcPts val="3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Designed framework, linear rail/actuator systems, conveyer motor system, modal analysis. Prototyping using CNC and manual machining, 3D printing, assembly, wiring.</a:t>
            </a:r>
          </a:p>
        </p:txBody>
      </p:sp>
    </p:spTree>
    <p:extLst>
      <p:ext uri="{BB962C8B-B14F-4D97-AF65-F5344CB8AC3E}">
        <p14:creationId xmlns:p14="http://schemas.microsoft.com/office/powerpoint/2010/main" val="3479575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9" name="Google Shape;918;p66">
            <a:extLst>
              <a:ext uri="{FF2B5EF4-FFF2-40B4-BE49-F238E27FC236}">
                <a16:creationId xmlns:a16="http://schemas.microsoft.com/office/drawing/2014/main" id="{D600DFB8-9948-9DC0-4821-572294C63C4B}"/>
              </a:ext>
            </a:extLst>
          </p:cNvPr>
          <p:cNvSpPr txBox="1">
            <a:spLocks noGrp="1"/>
          </p:cNvSpPr>
          <p:nvPr>
            <p:ph type="title"/>
          </p:nvPr>
        </p:nvSpPr>
        <p:spPr>
          <a:xfrm>
            <a:off x="601156" y="236130"/>
            <a:ext cx="8007108" cy="572700"/>
          </a:xfrm>
          <a:prstGeom prst="rect">
            <a:avLst/>
          </a:prstGeom>
        </p:spPr>
        <p:txBody>
          <a:bodyPr spcFirstLastPara="1" wrap="square" lIns="91425" tIns="91425" rIns="91425" bIns="91425" anchor="t" anchorCtr="0">
            <a:noAutofit/>
          </a:bodyPr>
          <a:lstStyle/>
          <a:p>
            <a:r>
              <a:rPr lang="en-US" sz="2501" b="1" cap="small" dirty="0">
                <a:solidFill>
                  <a:schemeClr val="accent1">
                    <a:lumMod val="75000"/>
                  </a:schemeClr>
                </a:solidFill>
                <a:latin typeface="Space Mono" panose="020B0604020202020204" charset="0"/>
              </a:rPr>
              <a:t>SPRING-LOADED LOCKING SYSTEM, MED DEVICE</a:t>
            </a:r>
          </a:p>
        </p:txBody>
      </p:sp>
      <p:sp>
        <p:nvSpPr>
          <p:cNvPr id="13" name="TextBox 12">
            <a:extLst>
              <a:ext uri="{FF2B5EF4-FFF2-40B4-BE49-F238E27FC236}">
                <a16:creationId xmlns:a16="http://schemas.microsoft.com/office/drawing/2014/main" id="{49E21367-D173-E1A2-099B-B7DB69B2D5EC}"/>
              </a:ext>
            </a:extLst>
          </p:cNvPr>
          <p:cNvSpPr txBox="1"/>
          <p:nvPr/>
        </p:nvSpPr>
        <p:spPr>
          <a:xfrm>
            <a:off x="519380" y="715506"/>
            <a:ext cx="2767328" cy="1669688"/>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surgeon places the device against the patient’s skin and had to hold it still for upwards of 30 min. The new device allows the surgeon to use an off-the-shelf armature and the spring-loaded mechanism to secure the device for the length of the procedure.</a:t>
            </a:r>
          </a:p>
        </p:txBody>
      </p:sp>
      <p:sp>
        <p:nvSpPr>
          <p:cNvPr id="14" name="TextBox 13">
            <a:extLst>
              <a:ext uri="{FF2B5EF4-FFF2-40B4-BE49-F238E27FC236}">
                <a16:creationId xmlns:a16="http://schemas.microsoft.com/office/drawing/2014/main" id="{74977970-5606-DD7B-F179-B97A7CACDACF}"/>
              </a:ext>
            </a:extLst>
          </p:cNvPr>
          <p:cNvSpPr txBox="1"/>
          <p:nvPr/>
        </p:nvSpPr>
        <p:spPr>
          <a:xfrm>
            <a:off x="3162940" y="720284"/>
            <a:ext cx="2883540"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REQUIREMENTS</a:t>
            </a:r>
            <a:endParaRPr lang="en-US" b="1" dirty="0">
              <a:solidFill>
                <a:schemeClr val="accent3"/>
              </a:solidFill>
              <a:latin typeface="Aptos" panose="020B0004020202020204" pitchFamily="34" charset="0"/>
            </a:endParaRP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FDA/IEC requirements</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Holding force of 25N</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Stroke of 20mm</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Sealing with a custom elastomeric seal</a:t>
            </a:r>
          </a:p>
        </p:txBody>
      </p:sp>
      <p:sp>
        <p:nvSpPr>
          <p:cNvPr id="15" name="TextBox 14">
            <a:extLst>
              <a:ext uri="{FF2B5EF4-FFF2-40B4-BE49-F238E27FC236}">
                <a16:creationId xmlns:a16="http://schemas.microsoft.com/office/drawing/2014/main" id="{177ADD62-CEB4-5F1B-3D40-F934A5CCE133}"/>
              </a:ext>
            </a:extLst>
          </p:cNvPr>
          <p:cNvSpPr txBox="1"/>
          <p:nvPr/>
        </p:nvSpPr>
        <p:spPr>
          <a:xfrm>
            <a:off x="5847636" y="715512"/>
            <a:ext cx="2842402" cy="1751633"/>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Mechanical lead and sole Design Engineer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Prototyping and testing, including </a:t>
            </a:r>
            <a:r>
              <a:rPr lang="en-US" sz="1200" b="1" kern="100" dirty="0">
                <a:latin typeface="Aptos" panose="020B0004020202020204" pitchFamily="34" charset="0"/>
                <a:cs typeface="Times New Roman" panose="02020603050405020304" pitchFamily="18" charset="0"/>
              </a:rPr>
              <a:t>designing a mold for and molding </a:t>
            </a:r>
            <a:r>
              <a:rPr lang="en-US" sz="1200" kern="100" dirty="0">
                <a:latin typeface="Aptos" panose="020B0004020202020204" pitchFamily="34" charset="0"/>
                <a:cs typeface="Times New Roman" panose="02020603050405020304" pitchFamily="18" charset="0"/>
              </a:rPr>
              <a:t>the elastomeric seal</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Defining materials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Identifying and managing vendors</a:t>
            </a:r>
          </a:p>
        </p:txBody>
      </p:sp>
      <p:pic>
        <p:nvPicPr>
          <p:cNvPr id="4" name="Picture 3" descr="A cartoon of a toy object&#10;&#10;Description automatically generated with medium confidence">
            <a:extLst>
              <a:ext uri="{FF2B5EF4-FFF2-40B4-BE49-F238E27FC236}">
                <a16:creationId xmlns:a16="http://schemas.microsoft.com/office/drawing/2014/main" id="{31BB7BF1-DDF0-1E2B-32BA-D83AD3A840E0}"/>
              </a:ext>
            </a:extLst>
          </p:cNvPr>
          <p:cNvPicPr>
            <a:picLocks noChangeAspect="1"/>
          </p:cNvPicPr>
          <p:nvPr/>
        </p:nvPicPr>
        <p:blipFill>
          <a:blip r:embed="rId3"/>
          <a:stretch>
            <a:fillRect/>
          </a:stretch>
        </p:blipFill>
        <p:spPr>
          <a:xfrm>
            <a:off x="613128" y="2702046"/>
            <a:ext cx="3462762" cy="2046699"/>
          </a:xfrm>
          <a:prstGeom prst="rect">
            <a:avLst/>
          </a:prstGeom>
        </p:spPr>
      </p:pic>
      <p:pic>
        <p:nvPicPr>
          <p:cNvPr id="6" name="Picture 5" descr="A diagram of a machine&#10;&#10;Description automatically generated">
            <a:extLst>
              <a:ext uri="{FF2B5EF4-FFF2-40B4-BE49-F238E27FC236}">
                <a16:creationId xmlns:a16="http://schemas.microsoft.com/office/drawing/2014/main" id="{7DDF835A-D00A-35E0-ACC2-EE579A69DBA0}"/>
              </a:ext>
            </a:extLst>
          </p:cNvPr>
          <p:cNvPicPr>
            <a:picLocks noChangeAspect="1"/>
          </p:cNvPicPr>
          <p:nvPr/>
        </p:nvPicPr>
        <p:blipFill>
          <a:blip r:embed="rId4"/>
          <a:stretch>
            <a:fillRect/>
          </a:stretch>
        </p:blipFill>
        <p:spPr>
          <a:xfrm>
            <a:off x="4124793" y="2363217"/>
            <a:ext cx="4752174" cy="2639932"/>
          </a:xfrm>
          <a:prstGeom prst="rect">
            <a:avLst/>
          </a:prstGeom>
        </p:spPr>
      </p:pic>
    </p:spTree>
    <p:extLst>
      <p:ext uri="{BB962C8B-B14F-4D97-AF65-F5344CB8AC3E}">
        <p14:creationId xmlns:p14="http://schemas.microsoft.com/office/powerpoint/2010/main" val="1008407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12" name="Google Shape;918;p66">
            <a:extLst>
              <a:ext uri="{FF2B5EF4-FFF2-40B4-BE49-F238E27FC236}">
                <a16:creationId xmlns:a16="http://schemas.microsoft.com/office/drawing/2014/main" id="{B8202119-FA62-F529-5CB9-2EB0A792C577}"/>
              </a:ext>
            </a:extLst>
          </p:cNvPr>
          <p:cNvSpPr txBox="1">
            <a:spLocks noGrp="1"/>
          </p:cNvSpPr>
          <p:nvPr>
            <p:ph type="title"/>
          </p:nvPr>
        </p:nvSpPr>
        <p:spPr>
          <a:xfrm>
            <a:off x="114304" y="218711"/>
            <a:ext cx="8915399" cy="572700"/>
          </a:xfrm>
          <a:prstGeom prst="rect">
            <a:avLst/>
          </a:prstGeom>
        </p:spPr>
        <p:txBody>
          <a:bodyPr spcFirstLastPara="1" wrap="square" lIns="91425" tIns="91425" rIns="91425" bIns="91425" anchor="t" anchorCtr="0">
            <a:noAutofit/>
          </a:bodyPr>
          <a:lstStyle/>
          <a:p>
            <a:r>
              <a:rPr lang="en-US" sz="2200" b="1" dirty="0">
                <a:solidFill>
                  <a:schemeClr val="accent1">
                    <a:lumMod val="75000"/>
                  </a:schemeClr>
                </a:solidFill>
                <a:latin typeface="Space Mono" panose="020B0604020202020204" charset="0"/>
              </a:rPr>
              <a:t>SWITCHGEAR REMOTELY OPERATED RACKING DEVICE</a:t>
            </a:r>
          </a:p>
        </p:txBody>
      </p:sp>
      <p:sp>
        <p:nvSpPr>
          <p:cNvPr id="13" name="TextBox 12">
            <a:extLst>
              <a:ext uri="{FF2B5EF4-FFF2-40B4-BE49-F238E27FC236}">
                <a16:creationId xmlns:a16="http://schemas.microsoft.com/office/drawing/2014/main" id="{081BD0C9-0AA8-0450-BFED-20A8EDBADBF3}"/>
              </a:ext>
            </a:extLst>
          </p:cNvPr>
          <p:cNvSpPr txBox="1"/>
          <p:nvPr/>
        </p:nvSpPr>
        <p:spPr>
          <a:xfrm>
            <a:off x="661747" y="756392"/>
            <a:ext cx="4140477" cy="3947234"/>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electric remote racking device is intended to assist technicians with the process of racking medium voltage circuit breakers and associated equipment. The main function of the device is to perform the racking operation with minimal manual interaction. If the operator is nearby and the circuit breaker is charged when it disconnects, there can be a deadly explosion.</a:t>
            </a:r>
          </a:p>
          <a:p>
            <a:pPr marL="57151" indent="-57151" defTabSz="230193">
              <a:spcAft>
                <a:spcPts val="6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Move from connect to disconnect in 2 minutes, operate interlock, control all three positions, operator to lift no more than 45 pounds, cost under $3,000 to manufacture in small quantities.</a:t>
            </a:r>
          </a:p>
          <a:p>
            <a:pPr marL="57151" indent="-57151" defTabSz="230193">
              <a:spcAft>
                <a:spcPts val="6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Design, motor and PLC programming, prototype construction, testing, supplier identification, project management, presentations to all parties including upper management, manufacturing support.</a:t>
            </a:r>
            <a:endParaRPr lang="en-US" sz="1600" b="1" dirty="0">
              <a:solidFill>
                <a:schemeClr val="accent3"/>
              </a:solidFill>
              <a:latin typeface="Aptos" panose="020B0004020202020204" pitchFamily="34" charset="0"/>
            </a:endParaRPr>
          </a:p>
        </p:txBody>
      </p:sp>
      <p:pic>
        <p:nvPicPr>
          <p:cNvPr id="14" name="Picture 13">
            <a:extLst>
              <a:ext uri="{FF2B5EF4-FFF2-40B4-BE49-F238E27FC236}">
                <a16:creationId xmlns:a16="http://schemas.microsoft.com/office/drawing/2014/main" id="{E1306735-8892-967E-7933-D5D2D0B9628E}"/>
              </a:ext>
            </a:extLst>
          </p:cNvPr>
          <p:cNvPicPr>
            <a:picLocks noChangeAspect="1"/>
          </p:cNvPicPr>
          <p:nvPr/>
        </p:nvPicPr>
        <p:blipFill>
          <a:blip r:embed="rId3"/>
          <a:stretch>
            <a:fillRect/>
          </a:stretch>
        </p:blipFill>
        <p:spPr>
          <a:xfrm>
            <a:off x="5515125" y="936086"/>
            <a:ext cx="2909215" cy="3705132"/>
          </a:xfrm>
          <a:prstGeom prst="rect">
            <a:avLst/>
          </a:prstGeom>
          <a:ln>
            <a:noFill/>
          </a:ln>
          <a:effectLst>
            <a:outerShdw blurRad="292100" dist="139700" dir="2700000" algn="tl" rotWithShape="0">
              <a:srgbClr val="333333">
                <a:alpha val="65000"/>
              </a:srgbClr>
            </a:outerShdw>
          </a:effectLst>
        </p:spPr>
      </p:pic>
      <p:sp>
        <p:nvSpPr>
          <p:cNvPr id="15" name="Google Shape;918;p66">
            <a:extLst>
              <a:ext uri="{FF2B5EF4-FFF2-40B4-BE49-F238E27FC236}">
                <a16:creationId xmlns:a16="http://schemas.microsoft.com/office/drawing/2014/main" id="{92A00017-8A14-D27B-FDF6-2D424AD43636}"/>
              </a:ext>
            </a:extLst>
          </p:cNvPr>
          <p:cNvSpPr txBox="1">
            <a:spLocks/>
          </p:cNvSpPr>
          <p:nvPr/>
        </p:nvSpPr>
        <p:spPr>
          <a:xfrm>
            <a:off x="2797891" y="564300"/>
            <a:ext cx="3548229" cy="2906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100"/>
              <a:buFont typeface="Red Hat Display"/>
              <a:buNone/>
              <a:defRPr sz="6500" b="1" i="0" u="none" strike="noStrike" cap="none">
                <a:solidFill>
                  <a:schemeClr val="dk1"/>
                </a:solidFill>
                <a:latin typeface="Red Hat Display"/>
                <a:ea typeface="Red Hat Display"/>
                <a:cs typeface="Red Hat Display"/>
                <a:sym typeface="Red Hat Display"/>
              </a:defRPr>
            </a:lvl1pPr>
            <a:lvl2pPr marR="0" lvl="1"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2pPr>
            <a:lvl3pPr marR="0" lvl="2"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3pPr>
            <a:lvl4pPr marR="0" lvl="3"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4pPr>
            <a:lvl5pPr marR="0" lvl="4"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5pPr>
            <a:lvl6pPr marR="0" lvl="5"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6pPr>
            <a:lvl7pPr marR="0" lvl="6"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7pPr>
            <a:lvl8pPr marR="0" lvl="7"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8pPr>
            <a:lvl9pPr marR="0" lvl="8"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9pPr>
          </a:lstStyle>
          <a:p>
            <a:r>
              <a:rPr lang="en-US" sz="1200" dirty="0">
                <a:solidFill>
                  <a:schemeClr val="accent1">
                    <a:lumMod val="75000"/>
                  </a:schemeClr>
                </a:solidFill>
                <a:latin typeface="Aptos" panose="020B0004020202020204" pitchFamily="34" charset="0"/>
              </a:rPr>
              <a:t>Patents 9,876,335 and US8654513B2</a:t>
            </a:r>
          </a:p>
        </p:txBody>
      </p:sp>
    </p:spTree>
    <p:extLst>
      <p:ext uri="{BB962C8B-B14F-4D97-AF65-F5344CB8AC3E}">
        <p14:creationId xmlns:p14="http://schemas.microsoft.com/office/powerpoint/2010/main" val="3152189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28" name="Google Shape;918;p66">
            <a:extLst>
              <a:ext uri="{FF2B5EF4-FFF2-40B4-BE49-F238E27FC236}">
                <a16:creationId xmlns:a16="http://schemas.microsoft.com/office/drawing/2014/main" id="{5FE2C845-691C-E07B-69D0-ABE69D7EF95B}"/>
              </a:ext>
            </a:extLst>
          </p:cNvPr>
          <p:cNvSpPr txBox="1">
            <a:spLocks noGrp="1"/>
          </p:cNvSpPr>
          <p:nvPr>
            <p:ph type="title"/>
          </p:nvPr>
        </p:nvSpPr>
        <p:spPr>
          <a:xfrm>
            <a:off x="720000" y="206990"/>
            <a:ext cx="7704000" cy="572700"/>
          </a:xfrm>
          <a:prstGeom prst="rect">
            <a:avLst/>
          </a:prstGeom>
        </p:spPr>
        <p:txBody>
          <a:bodyPr spcFirstLastPara="1" wrap="square" lIns="91425" tIns="91425" rIns="91425" bIns="91425" anchor="t" anchorCtr="0">
            <a:noAutofit/>
          </a:bodyPr>
          <a:lstStyle/>
          <a:p>
            <a:r>
              <a:rPr lang="en-US" sz="2501" b="1" cap="small" dirty="0">
                <a:solidFill>
                  <a:schemeClr val="accent1">
                    <a:lumMod val="75000"/>
                  </a:schemeClr>
                </a:solidFill>
                <a:latin typeface="Space Mono" panose="020B0604020202020204" charset="0"/>
              </a:rPr>
              <a:t>RACKING DEVICE CONT’D </a:t>
            </a:r>
          </a:p>
        </p:txBody>
      </p:sp>
      <p:pic>
        <p:nvPicPr>
          <p:cNvPr id="29" name="Picture 28">
            <a:extLst>
              <a:ext uri="{FF2B5EF4-FFF2-40B4-BE49-F238E27FC236}">
                <a16:creationId xmlns:a16="http://schemas.microsoft.com/office/drawing/2014/main" id="{DD380B97-4B06-5518-CDE4-86580421CD4E}"/>
              </a:ext>
            </a:extLst>
          </p:cNvPr>
          <p:cNvPicPr>
            <a:picLocks noChangeAspect="1"/>
          </p:cNvPicPr>
          <p:nvPr/>
        </p:nvPicPr>
        <p:blipFill>
          <a:blip r:embed="rId3"/>
          <a:stretch>
            <a:fillRect/>
          </a:stretch>
        </p:blipFill>
        <p:spPr>
          <a:xfrm>
            <a:off x="832057" y="1028293"/>
            <a:ext cx="3776345" cy="3557926"/>
          </a:xfrm>
          <a:prstGeom prst="rect">
            <a:avLst/>
          </a:prstGeom>
        </p:spPr>
      </p:pic>
      <p:pic>
        <p:nvPicPr>
          <p:cNvPr id="30" name="Picture 29" descr="A person holding a device in a warehouse&#10;&#10;Description automatically generated">
            <a:extLst>
              <a:ext uri="{FF2B5EF4-FFF2-40B4-BE49-F238E27FC236}">
                <a16:creationId xmlns:a16="http://schemas.microsoft.com/office/drawing/2014/main" id="{56C6D8B6-E0A9-F83D-7786-B8399D236A6B}"/>
              </a:ext>
            </a:extLst>
          </p:cNvPr>
          <p:cNvPicPr>
            <a:picLocks noChangeAspect="1"/>
          </p:cNvPicPr>
          <p:nvPr/>
        </p:nvPicPr>
        <p:blipFill>
          <a:blip r:embed="rId4"/>
          <a:stretch>
            <a:fillRect/>
          </a:stretch>
        </p:blipFill>
        <p:spPr>
          <a:xfrm>
            <a:off x="4817184" y="1020346"/>
            <a:ext cx="3642755" cy="3557927"/>
          </a:xfrm>
          <a:prstGeom prst="rect">
            <a:avLst/>
          </a:prstGeom>
        </p:spPr>
      </p:pic>
    </p:spTree>
    <p:extLst>
      <p:ext uri="{BB962C8B-B14F-4D97-AF65-F5344CB8AC3E}">
        <p14:creationId xmlns:p14="http://schemas.microsoft.com/office/powerpoint/2010/main" val="2984628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19" name="Google Shape;918;p66">
            <a:extLst>
              <a:ext uri="{FF2B5EF4-FFF2-40B4-BE49-F238E27FC236}">
                <a16:creationId xmlns:a16="http://schemas.microsoft.com/office/drawing/2014/main" id="{16586105-652D-5128-A8A1-35B217752699}"/>
              </a:ext>
            </a:extLst>
          </p:cNvPr>
          <p:cNvSpPr txBox="1">
            <a:spLocks noGrp="1"/>
          </p:cNvSpPr>
          <p:nvPr>
            <p:ph type="title"/>
          </p:nvPr>
        </p:nvSpPr>
        <p:spPr>
          <a:xfrm>
            <a:off x="720000" y="195553"/>
            <a:ext cx="7704000" cy="572700"/>
          </a:xfrm>
          <a:prstGeom prst="rect">
            <a:avLst/>
          </a:prstGeom>
        </p:spPr>
        <p:txBody>
          <a:bodyPr spcFirstLastPara="1" wrap="square" lIns="91425" tIns="91425" rIns="91425" bIns="91425" anchor="t" anchorCtr="0">
            <a:noAutofit/>
          </a:bodyPr>
          <a:lstStyle/>
          <a:p>
            <a:r>
              <a:rPr lang="en-US" sz="2501" b="1" dirty="0">
                <a:solidFill>
                  <a:schemeClr val="accent1">
                    <a:lumMod val="75000"/>
                  </a:schemeClr>
                </a:solidFill>
                <a:latin typeface="Space Mono" panose="020B0604020202020204" charset="0"/>
              </a:rPr>
              <a:t>PORTABLE MECHANISM OPERATED CELL</a:t>
            </a:r>
          </a:p>
        </p:txBody>
      </p:sp>
      <p:sp>
        <p:nvSpPr>
          <p:cNvPr id="20" name="TextBox 19">
            <a:extLst>
              <a:ext uri="{FF2B5EF4-FFF2-40B4-BE49-F238E27FC236}">
                <a16:creationId xmlns:a16="http://schemas.microsoft.com/office/drawing/2014/main" id="{39E66B76-C9B0-80E0-9A3E-04A5D884FAEC}"/>
              </a:ext>
            </a:extLst>
          </p:cNvPr>
          <p:cNvSpPr txBox="1"/>
          <p:nvPr/>
        </p:nvSpPr>
        <p:spPr>
          <a:xfrm>
            <a:off x="431527" y="1026163"/>
            <a:ext cx="4140477" cy="2954655"/>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Circuit breakers retrofitted to existing breaker compartments or switchgear operated by rolling in or out have mechanical and electromechanical interlocks. The methods of interlocking often vary. A centralized, universal solution was desired.</a:t>
            </a:r>
          </a:p>
          <a:p>
            <a:pPr marL="57151" indent="-57151" defTabSz="230193">
              <a:spcAft>
                <a:spcPts val="6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Internal standards, IEEE, ANSI, ISO, and UL</a:t>
            </a:r>
          </a:p>
          <a:p>
            <a:pPr marL="57151" indent="-57151">
              <a:spcAft>
                <a:spcPts val="3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Adapt proposed solution to a wide range of circuit breakers, changing the proposed solution as needed.</a:t>
            </a:r>
          </a:p>
        </p:txBody>
      </p:sp>
      <p:pic>
        <p:nvPicPr>
          <p:cNvPr id="21" name="Picture 20">
            <a:extLst>
              <a:ext uri="{FF2B5EF4-FFF2-40B4-BE49-F238E27FC236}">
                <a16:creationId xmlns:a16="http://schemas.microsoft.com/office/drawing/2014/main" id="{24FAD57F-6BBD-99A6-D266-23013D8C1389}"/>
              </a:ext>
            </a:extLst>
          </p:cNvPr>
          <p:cNvPicPr>
            <a:picLocks noChangeAspect="1"/>
          </p:cNvPicPr>
          <p:nvPr/>
        </p:nvPicPr>
        <p:blipFill>
          <a:blip r:embed="rId3"/>
          <a:stretch>
            <a:fillRect/>
          </a:stretch>
        </p:blipFill>
        <p:spPr>
          <a:xfrm>
            <a:off x="6589002" y="946545"/>
            <a:ext cx="2466071" cy="3170662"/>
          </a:xfrm>
          <a:prstGeom prst="rect">
            <a:avLst/>
          </a:prstGeom>
        </p:spPr>
      </p:pic>
      <p:pic>
        <p:nvPicPr>
          <p:cNvPr id="22" name="Picture 21">
            <a:extLst>
              <a:ext uri="{FF2B5EF4-FFF2-40B4-BE49-F238E27FC236}">
                <a16:creationId xmlns:a16="http://schemas.microsoft.com/office/drawing/2014/main" id="{C3E4D773-AC0D-6546-BB3C-D7C26C09FCFB}"/>
              </a:ext>
            </a:extLst>
          </p:cNvPr>
          <p:cNvPicPr>
            <a:picLocks noChangeAspect="1"/>
          </p:cNvPicPr>
          <p:nvPr/>
        </p:nvPicPr>
        <p:blipFill>
          <a:blip r:embed="rId4"/>
          <a:stretch>
            <a:fillRect/>
          </a:stretch>
        </p:blipFill>
        <p:spPr>
          <a:xfrm>
            <a:off x="4375497" y="1204585"/>
            <a:ext cx="2213505" cy="2734330"/>
          </a:xfrm>
          <a:prstGeom prst="rect">
            <a:avLst/>
          </a:prstGeom>
        </p:spPr>
      </p:pic>
    </p:spTree>
    <p:extLst>
      <p:ext uri="{BB962C8B-B14F-4D97-AF65-F5344CB8AC3E}">
        <p14:creationId xmlns:p14="http://schemas.microsoft.com/office/powerpoint/2010/main" val="111479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7" name="Google Shape;918;p66">
            <a:extLst>
              <a:ext uri="{FF2B5EF4-FFF2-40B4-BE49-F238E27FC236}">
                <a16:creationId xmlns:a16="http://schemas.microsoft.com/office/drawing/2014/main" id="{17AE5032-2C65-B806-7628-55FD68A1E47B}"/>
              </a:ext>
            </a:extLst>
          </p:cNvPr>
          <p:cNvSpPr txBox="1">
            <a:spLocks noGrp="1"/>
          </p:cNvSpPr>
          <p:nvPr>
            <p:ph type="title"/>
          </p:nvPr>
        </p:nvSpPr>
        <p:spPr>
          <a:xfrm>
            <a:off x="757072" y="201340"/>
            <a:ext cx="7704000" cy="572700"/>
          </a:xfrm>
          <a:prstGeom prst="rect">
            <a:avLst/>
          </a:prstGeom>
        </p:spPr>
        <p:txBody>
          <a:bodyPr spcFirstLastPara="1" wrap="square" lIns="91425" tIns="91425" rIns="91425" bIns="91425" anchor="t" anchorCtr="0">
            <a:noAutofit/>
          </a:bodyPr>
          <a:lstStyle/>
          <a:p>
            <a:r>
              <a:rPr lang="en-US" sz="2501" b="1" dirty="0">
                <a:solidFill>
                  <a:schemeClr val="accent1">
                    <a:lumMod val="75000"/>
                  </a:schemeClr>
                </a:solidFill>
                <a:latin typeface="Space Mono" panose="020B0604020202020204" charset="0"/>
              </a:rPr>
              <a:t>ENDOSCOPIC VISION SYSTEM</a:t>
            </a:r>
          </a:p>
        </p:txBody>
      </p:sp>
      <p:sp>
        <p:nvSpPr>
          <p:cNvPr id="8" name="TextBox 7">
            <a:extLst>
              <a:ext uri="{FF2B5EF4-FFF2-40B4-BE49-F238E27FC236}">
                <a16:creationId xmlns:a16="http://schemas.microsoft.com/office/drawing/2014/main" id="{BCD95D24-92F5-F969-5015-EB419962697A}"/>
              </a:ext>
            </a:extLst>
          </p:cNvPr>
          <p:cNvSpPr txBox="1"/>
          <p:nvPr/>
        </p:nvSpPr>
        <p:spPr>
          <a:xfrm>
            <a:off x="538206" y="886655"/>
            <a:ext cx="4140477" cy="3131627"/>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An endoscopic camera must be held in place to s specific tolerance. A magnetic coupling is held by a “quick-release” system, in a position held to a tolerance with respect to the camera/endoscope.</a:t>
            </a:r>
          </a:p>
          <a:p>
            <a:pPr>
              <a:spcAft>
                <a:spcPts val="3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FDA and IEC regulations, product specs</a:t>
            </a:r>
          </a:p>
          <a:p>
            <a:pPr>
              <a:spcAft>
                <a:spcPts val="3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Mechanical Design Engineer, many functional and aesthetic parts, and analysis and redesign of existing systems. Prototyping using CNC and manual machining, 3D printing, assembly.</a:t>
            </a:r>
          </a:p>
        </p:txBody>
      </p:sp>
      <p:pic>
        <p:nvPicPr>
          <p:cNvPr id="9" name="Picture 8">
            <a:extLst>
              <a:ext uri="{FF2B5EF4-FFF2-40B4-BE49-F238E27FC236}">
                <a16:creationId xmlns:a16="http://schemas.microsoft.com/office/drawing/2014/main" id="{38C3767C-D0E5-3CB3-6D68-1239F08B9223}"/>
              </a:ext>
            </a:extLst>
          </p:cNvPr>
          <p:cNvPicPr>
            <a:picLocks noChangeAspect="1"/>
          </p:cNvPicPr>
          <p:nvPr/>
        </p:nvPicPr>
        <p:blipFill>
          <a:blip r:embed="rId3"/>
          <a:stretch>
            <a:fillRect/>
          </a:stretch>
        </p:blipFill>
        <p:spPr>
          <a:xfrm>
            <a:off x="4786507" y="885287"/>
            <a:ext cx="4050383" cy="4056874"/>
          </a:xfrm>
          <a:prstGeom prst="rect">
            <a:avLst/>
          </a:prstGeom>
        </p:spPr>
      </p:pic>
    </p:spTree>
    <p:extLst>
      <p:ext uri="{BB962C8B-B14F-4D97-AF65-F5344CB8AC3E}">
        <p14:creationId xmlns:p14="http://schemas.microsoft.com/office/powerpoint/2010/main" val="3498914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16AFEFC8-C6BE-C56E-E9E7-261DB4E671A7}"/>
              </a:ext>
            </a:extLst>
          </p:cNvPr>
          <p:cNvSpPr txBox="1">
            <a:spLocks noGrp="1"/>
          </p:cNvSpPr>
          <p:nvPr>
            <p:ph type="title"/>
          </p:nvPr>
        </p:nvSpPr>
        <p:spPr>
          <a:xfrm>
            <a:off x="757074" y="185738"/>
            <a:ext cx="7704000" cy="572700"/>
          </a:xfrm>
          <a:prstGeom prst="rect">
            <a:avLst/>
          </a:prstGeom>
        </p:spPr>
        <p:txBody>
          <a:bodyPr spcFirstLastPara="1" wrap="square" lIns="91425" tIns="91425" rIns="91425" bIns="91425" anchor="t" anchorCtr="0">
            <a:noAutofit/>
          </a:bodyPr>
          <a:lstStyle/>
          <a:p>
            <a:r>
              <a:rPr lang="en-US" sz="2501" b="1" cap="small" dirty="0">
                <a:solidFill>
                  <a:schemeClr val="accent1">
                    <a:lumMod val="75000"/>
                  </a:schemeClr>
                </a:solidFill>
                <a:latin typeface="Space Mono" panose="020B0604020202020204" charset="0"/>
              </a:rPr>
              <a:t>TEAR-INDUCING HEATER</a:t>
            </a:r>
          </a:p>
        </p:txBody>
      </p:sp>
      <p:sp>
        <p:nvSpPr>
          <p:cNvPr id="3" name="TextBox 2">
            <a:extLst>
              <a:ext uri="{FF2B5EF4-FFF2-40B4-BE49-F238E27FC236}">
                <a16:creationId xmlns:a16="http://schemas.microsoft.com/office/drawing/2014/main" id="{95770B72-985F-0410-B489-FF98E44FE9C1}"/>
              </a:ext>
            </a:extLst>
          </p:cNvPr>
          <p:cNvSpPr txBox="1"/>
          <p:nvPr/>
        </p:nvSpPr>
        <p:spPr>
          <a:xfrm>
            <a:off x="314326" y="807555"/>
            <a:ext cx="3141614" cy="1115690"/>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Device used to induce tears in a patient by vibrating against nose or by stroking across eyelid. Designed a silicone cover and a microheater to achieve optimal temperature. </a:t>
            </a:r>
          </a:p>
        </p:txBody>
      </p:sp>
      <p:sp>
        <p:nvSpPr>
          <p:cNvPr id="4" name="TextBox 3">
            <a:extLst>
              <a:ext uri="{FF2B5EF4-FFF2-40B4-BE49-F238E27FC236}">
                <a16:creationId xmlns:a16="http://schemas.microsoft.com/office/drawing/2014/main" id="{321F6908-0EBA-8F97-AB77-A3D8254CFA0A}"/>
              </a:ext>
            </a:extLst>
          </p:cNvPr>
          <p:cNvSpPr txBox="1"/>
          <p:nvPr/>
        </p:nvSpPr>
        <p:spPr>
          <a:xfrm>
            <a:off x="6315116" y="811691"/>
            <a:ext cx="2747115"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Design of cover and heater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Thermal analysis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Benchtop testing and iteration</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Customer-facing project manager</a:t>
            </a:r>
          </a:p>
        </p:txBody>
      </p:sp>
      <p:sp>
        <p:nvSpPr>
          <p:cNvPr id="5" name="TextBox 4">
            <a:extLst>
              <a:ext uri="{FF2B5EF4-FFF2-40B4-BE49-F238E27FC236}">
                <a16:creationId xmlns:a16="http://schemas.microsoft.com/office/drawing/2014/main" id="{BC453197-21B2-005F-550C-28B4FC0DBA1D}"/>
              </a:ext>
            </a:extLst>
          </p:cNvPr>
          <p:cNvSpPr txBox="1"/>
          <p:nvPr/>
        </p:nvSpPr>
        <p:spPr>
          <a:xfrm>
            <a:off x="3663350" y="812223"/>
            <a:ext cx="2651760" cy="961161"/>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REQUIREMENTS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Achieve specified temper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FDA regulations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Prevent overheating (used PTC)</a:t>
            </a:r>
          </a:p>
        </p:txBody>
      </p:sp>
      <p:pic>
        <p:nvPicPr>
          <p:cNvPr id="6" name="Picture 5">
            <a:extLst>
              <a:ext uri="{FF2B5EF4-FFF2-40B4-BE49-F238E27FC236}">
                <a16:creationId xmlns:a16="http://schemas.microsoft.com/office/drawing/2014/main" id="{EB7661FA-7B81-CA23-F317-BA4383E018F2}"/>
              </a:ext>
            </a:extLst>
          </p:cNvPr>
          <p:cNvPicPr>
            <a:picLocks noChangeAspect="1"/>
          </p:cNvPicPr>
          <p:nvPr/>
        </p:nvPicPr>
        <p:blipFill rotWithShape="1">
          <a:blip r:embed="rId3"/>
          <a:srcRect l="12194" r="10490"/>
          <a:stretch/>
        </p:blipFill>
        <p:spPr>
          <a:xfrm>
            <a:off x="757074" y="2012330"/>
            <a:ext cx="2207895" cy="2755382"/>
          </a:xfrm>
          <a:prstGeom prst="rect">
            <a:avLst/>
          </a:prstGeom>
        </p:spPr>
      </p:pic>
      <p:pic>
        <p:nvPicPr>
          <p:cNvPr id="7" name="Picture 6">
            <a:extLst>
              <a:ext uri="{FF2B5EF4-FFF2-40B4-BE49-F238E27FC236}">
                <a16:creationId xmlns:a16="http://schemas.microsoft.com/office/drawing/2014/main" id="{C8D90FFF-4E48-B441-F4EE-CCEB1973A531}"/>
              </a:ext>
            </a:extLst>
          </p:cNvPr>
          <p:cNvPicPr>
            <a:picLocks noChangeAspect="1"/>
          </p:cNvPicPr>
          <p:nvPr/>
        </p:nvPicPr>
        <p:blipFill>
          <a:blip r:embed="rId4"/>
          <a:stretch>
            <a:fillRect/>
          </a:stretch>
        </p:blipFill>
        <p:spPr>
          <a:xfrm>
            <a:off x="3416430" y="2181861"/>
            <a:ext cx="1777375" cy="2235527"/>
          </a:xfrm>
          <a:prstGeom prst="rect">
            <a:avLst/>
          </a:prstGeom>
        </p:spPr>
      </p:pic>
      <p:pic>
        <p:nvPicPr>
          <p:cNvPr id="8" name="Picture 7">
            <a:extLst>
              <a:ext uri="{FF2B5EF4-FFF2-40B4-BE49-F238E27FC236}">
                <a16:creationId xmlns:a16="http://schemas.microsoft.com/office/drawing/2014/main" id="{D993BF3E-CB0A-9818-3425-3D7285314F7A}"/>
              </a:ext>
            </a:extLst>
          </p:cNvPr>
          <p:cNvPicPr>
            <a:picLocks noChangeAspect="1"/>
          </p:cNvPicPr>
          <p:nvPr/>
        </p:nvPicPr>
        <p:blipFill>
          <a:blip r:embed="rId5"/>
          <a:stretch>
            <a:fillRect/>
          </a:stretch>
        </p:blipFill>
        <p:spPr>
          <a:xfrm>
            <a:off x="6007409" y="2012336"/>
            <a:ext cx="2000579" cy="1500435"/>
          </a:xfrm>
          <a:prstGeom prst="rect">
            <a:avLst/>
          </a:prstGeom>
        </p:spPr>
      </p:pic>
      <p:pic>
        <p:nvPicPr>
          <p:cNvPr id="9" name="Picture 8">
            <a:extLst>
              <a:ext uri="{FF2B5EF4-FFF2-40B4-BE49-F238E27FC236}">
                <a16:creationId xmlns:a16="http://schemas.microsoft.com/office/drawing/2014/main" id="{79AE1178-F2CA-8057-3AF8-DEF5AE56BB36}"/>
              </a:ext>
            </a:extLst>
          </p:cNvPr>
          <p:cNvPicPr>
            <a:picLocks noChangeAspect="1"/>
          </p:cNvPicPr>
          <p:nvPr/>
        </p:nvPicPr>
        <p:blipFill>
          <a:blip r:embed="rId6"/>
          <a:stretch>
            <a:fillRect/>
          </a:stretch>
        </p:blipFill>
        <p:spPr>
          <a:xfrm>
            <a:off x="5465007" y="3506004"/>
            <a:ext cx="3238085" cy="1547009"/>
          </a:xfrm>
          <a:prstGeom prst="rect">
            <a:avLst/>
          </a:prstGeom>
        </p:spPr>
      </p:pic>
      <p:cxnSp>
        <p:nvCxnSpPr>
          <p:cNvPr id="10" name="Straight Arrow Connector 9">
            <a:extLst>
              <a:ext uri="{FF2B5EF4-FFF2-40B4-BE49-F238E27FC236}">
                <a16:creationId xmlns:a16="http://schemas.microsoft.com/office/drawing/2014/main" id="{3403FC2E-64B1-295E-9589-6847AAC06293}"/>
              </a:ext>
            </a:extLst>
          </p:cNvPr>
          <p:cNvCxnSpPr>
            <a:cxnSpLocks/>
          </p:cNvCxnSpPr>
          <p:nvPr/>
        </p:nvCxnSpPr>
        <p:spPr>
          <a:xfrm>
            <a:off x="2851993" y="2551751"/>
            <a:ext cx="436753" cy="40005"/>
          </a:xfrm>
          <a:prstGeom prst="straightConnector1">
            <a:avLst/>
          </a:prstGeom>
          <a:ln w="381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300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20CD7931-A603-6A27-1C95-D911019755FF}"/>
              </a:ext>
            </a:extLst>
          </p:cNvPr>
          <p:cNvSpPr txBox="1">
            <a:spLocks noGrp="1"/>
          </p:cNvSpPr>
          <p:nvPr>
            <p:ph type="title"/>
          </p:nvPr>
        </p:nvSpPr>
        <p:spPr>
          <a:xfrm>
            <a:off x="864984" y="198966"/>
            <a:ext cx="7704000" cy="572700"/>
          </a:xfrm>
          <a:prstGeom prst="rect">
            <a:avLst/>
          </a:prstGeom>
        </p:spPr>
        <p:txBody>
          <a:bodyPr spcFirstLastPara="1" wrap="square" lIns="91425" tIns="91425" rIns="91425" bIns="91425" anchor="t" anchorCtr="0">
            <a:noAutofit/>
          </a:bodyPr>
          <a:lstStyle/>
          <a:p>
            <a:r>
              <a:rPr lang="en-US" sz="2501" b="1" dirty="0">
                <a:solidFill>
                  <a:schemeClr val="accent1">
                    <a:lumMod val="75000"/>
                  </a:schemeClr>
                </a:solidFill>
                <a:latin typeface="Space Mono" panose="020B0604020202020204" charset="0"/>
              </a:rPr>
              <a:t>NARROW LOCK</a:t>
            </a:r>
          </a:p>
        </p:txBody>
      </p:sp>
      <p:sp>
        <p:nvSpPr>
          <p:cNvPr id="3" name="TextBox 2">
            <a:extLst>
              <a:ext uri="{FF2B5EF4-FFF2-40B4-BE49-F238E27FC236}">
                <a16:creationId xmlns:a16="http://schemas.microsoft.com/office/drawing/2014/main" id="{35BE02E2-D525-C969-7408-B31C3222B2D7}"/>
              </a:ext>
            </a:extLst>
          </p:cNvPr>
          <p:cNvSpPr txBox="1"/>
          <p:nvPr/>
        </p:nvSpPr>
        <p:spPr>
          <a:xfrm>
            <a:off x="632847" y="806096"/>
            <a:ext cx="5425982" cy="3577903"/>
          </a:xfrm>
          <a:prstGeom prst="rect">
            <a:avLst/>
          </a:prstGeom>
          <a:noFill/>
        </p:spPr>
        <p:txBody>
          <a:bodyPr wrap="square" rtlCol="0">
            <a:spAutoFit/>
          </a:bodyPr>
          <a:lstStyle/>
          <a:p>
            <a:pPr>
              <a:spcAft>
                <a:spcPts val="300"/>
              </a:spcAft>
            </a:pPr>
            <a:r>
              <a:rPr lang="en-US" sz="2000" b="1" dirty="0">
                <a:solidFill>
                  <a:schemeClr val="accent3"/>
                </a:solidFill>
                <a:latin typeface="Aptos" panose="020B0004020202020204" pitchFamily="34" charset="0"/>
              </a:rPr>
              <a:t>SUMMARY</a:t>
            </a:r>
          </a:p>
          <a:p>
            <a:pPr marL="57151" defTabSz="230193">
              <a:spcAft>
                <a:spcPts val="600"/>
              </a:spcAft>
            </a:pPr>
            <a:r>
              <a:rPr lang="en-US" sz="1600" dirty="0">
                <a:latin typeface="Aptos" panose="020B0004020202020204" pitchFamily="34" charset="0"/>
              </a:rPr>
              <a:t>The narrow lock was developed to meet market demand for a door that had less material on the frame and more glass. The lock has the same functionality of the standard lock but is designed to fit in a much smaller space.</a:t>
            </a:r>
          </a:p>
          <a:p>
            <a:pPr marL="57151" indent="-57151" defTabSz="230193">
              <a:spcAft>
                <a:spcPts val="600"/>
              </a:spcAft>
            </a:pPr>
            <a:r>
              <a:rPr lang="en-US" sz="2000" b="1" dirty="0">
                <a:solidFill>
                  <a:schemeClr val="accent3"/>
                </a:solidFill>
                <a:latin typeface="Aptos" panose="020B0004020202020204" pitchFamily="34" charset="0"/>
              </a:rPr>
              <a:t>REQUIREMENTS</a:t>
            </a:r>
          </a:p>
          <a:p>
            <a:pPr marL="57151" defTabSz="230193">
              <a:spcAft>
                <a:spcPts val="600"/>
              </a:spcAft>
            </a:pPr>
            <a:r>
              <a:rPr lang="en-US" sz="1600" dirty="0">
                <a:latin typeface="Aptos" panose="020B0004020202020204" pitchFamily="34" charset="0"/>
              </a:rPr>
              <a:t>Keep all functionality of standard lock, meet functional requirements of torque and force needed to operate mechanisms, maintain manufacturing cost, cycle test 20,000, and deadbolt load drop test.</a:t>
            </a:r>
          </a:p>
          <a:p>
            <a:pPr marL="57151" indent="-57151" defTabSz="230193">
              <a:spcAft>
                <a:spcPts val="600"/>
              </a:spcAft>
            </a:pPr>
            <a:r>
              <a:rPr lang="en-US" sz="2000" b="1" dirty="0">
                <a:solidFill>
                  <a:schemeClr val="accent3"/>
                </a:solidFill>
                <a:latin typeface="Aptos" panose="020B0004020202020204" pitchFamily="34" charset="0"/>
              </a:rPr>
              <a:t>ROLE</a:t>
            </a:r>
          </a:p>
          <a:p>
            <a:pPr marL="57151" defTabSz="230193">
              <a:spcAft>
                <a:spcPts val="600"/>
              </a:spcAft>
            </a:pPr>
            <a:r>
              <a:rPr lang="en-US" sz="1600" dirty="0">
                <a:latin typeface="Aptos" panose="020B0004020202020204" pitchFamily="34" charset="0"/>
              </a:rPr>
              <a:t>Design, testing, and manufacturing support.</a:t>
            </a:r>
            <a:endParaRPr lang="en-US" sz="2000" b="1" dirty="0">
              <a:solidFill>
                <a:schemeClr val="accent3"/>
              </a:solidFill>
              <a:latin typeface="Aptos" panose="020B0004020202020204" pitchFamily="34" charset="0"/>
            </a:endParaRPr>
          </a:p>
        </p:txBody>
      </p:sp>
      <p:pic>
        <p:nvPicPr>
          <p:cNvPr id="4" name="Picture 3" descr="A close-up of a device&#10;&#10;Description automatically generated">
            <a:extLst>
              <a:ext uri="{FF2B5EF4-FFF2-40B4-BE49-F238E27FC236}">
                <a16:creationId xmlns:a16="http://schemas.microsoft.com/office/drawing/2014/main" id="{39B641B4-C413-E4C8-24A8-7DF95DD436C7}"/>
              </a:ext>
            </a:extLst>
          </p:cNvPr>
          <p:cNvPicPr>
            <a:picLocks noChangeAspect="1"/>
          </p:cNvPicPr>
          <p:nvPr/>
        </p:nvPicPr>
        <p:blipFill>
          <a:blip r:embed="rId3"/>
          <a:stretch>
            <a:fillRect/>
          </a:stretch>
        </p:blipFill>
        <p:spPr>
          <a:xfrm>
            <a:off x="6297859" y="330142"/>
            <a:ext cx="2799397" cy="4873914"/>
          </a:xfrm>
          <a:prstGeom prst="rect">
            <a:avLst/>
          </a:prstGeom>
        </p:spPr>
      </p:pic>
    </p:spTree>
    <p:extLst>
      <p:ext uri="{BB962C8B-B14F-4D97-AF65-F5344CB8AC3E}">
        <p14:creationId xmlns:p14="http://schemas.microsoft.com/office/powerpoint/2010/main" val="1061097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3AAA5A21-FDB0-8E14-5C04-3E936B200DE8}"/>
              </a:ext>
            </a:extLst>
          </p:cNvPr>
          <p:cNvSpPr txBox="1">
            <a:spLocks noGrp="1"/>
          </p:cNvSpPr>
          <p:nvPr>
            <p:ph type="title"/>
          </p:nvPr>
        </p:nvSpPr>
        <p:spPr>
          <a:xfrm>
            <a:off x="483792" y="270644"/>
            <a:ext cx="8176416" cy="466918"/>
          </a:xfrm>
          <a:prstGeom prst="rect">
            <a:avLst/>
          </a:prstGeom>
        </p:spPr>
        <p:txBody>
          <a:bodyPr spcFirstLastPara="1" wrap="square" lIns="91425" tIns="91425" rIns="91425" bIns="91425" anchor="t" anchorCtr="0">
            <a:noAutofit/>
          </a:bodyPr>
          <a:lstStyle/>
          <a:p>
            <a:r>
              <a:rPr lang="en-US" sz="2200" b="1" dirty="0">
                <a:solidFill>
                  <a:schemeClr val="accent1">
                    <a:lumMod val="75000"/>
                  </a:schemeClr>
                </a:solidFill>
                <a:latin typeface="Space Mono" panose="020B0604020202020204" charset="0"/>
              </a:rPr>
              <a:t>CENTRIFUGAL AIR COMPRESSOR DUAL OIL COOLER</a:t>
            </a:r>
          </a:p>
        </p:txBody>
      </p:sp>
      <p:sp>
        <p:nvSpPr>
          <p:cNvPr id="3" name="TextBox 2">
            <a:extLst>
              <a:ext uri="{FF2B5EF4-FFF2-40B4-BE49-F238E27FC236}">
                <a16:creationId xmlns:a16="http://schemas.microsoft.com/office/drawing/2014/main" id="{0BF9EFE1-41E5-E7D0-150A-2F1BEFF5812F}"/>
              </a:ext>
            </a:extLst>
          </p:cNvPr>
          <p:cNvSpPr txBox="1"/>
          <p:nvPr/>
        </p:nvSpPr>
        <p:spPr>
          <a:xfrm>
            <a:off x="393771" y="722354"/>
            <a:ext cx="4530658" cy="2215991"/>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oil cooler on an air compressor keeps the air and system components running at the desired temperature, but the cooler occasionally requires service. The dual oil cooler system allows the operator to transfer the switch to a second cooler and keep the machine running during service of the other cooler.</a:t>
            </a:r>
          </a:p>
          <a:p>
            <a:pPr defTabSz="230193">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Role: Identify cooler, valves, and hardware, layout full compressor model, design tubes, brackets, and incorporate oil pumps and water manifold, manufacturing support.</a:t>
            </a:r>
          </a:p>
        </p:txBody>
      </p:sp>
      <p:pic>
        <p:nvPicPr>
          <p:cNvPr id="4" name="Picture 3">
            <a:extLst>
              <a:ext uri="{FF2B5EF4-FFF2-40B4-BE49-F238E27FC236}">
                <a16:creationId xmlns:a16="http://schemas.microsoft.com/office/drawing/2014/main" id="{F9CDB038-2EB0-D5D9-0EB3-4C025AF0ACB0}"/>
              </a:ext>
            </a:extLst>
          </p:cNvPr>
          <p:cNvPicPr>
            <a:picLocks noChangeAspect="1"/>
          </p:cNvPicPr>
          <p:nvPr/>
        </p:nvPicPr>
        <p:blipFill rotWithShape="1">
          <a:blip r:embed="rId3"/>
          <a:srcRect l="1516" r="8765"/>
          <a:stretch/>
        </p:blipFill>
        <p:spPr>
          <a:xfrm>
            <a:off x="4924429" y="754949"/>
            <a:ext cx="4173366" cy="3742240"/>
          </a:xfrm>
          <a:prstGeom prst="rect">
            <a:avLst/>
          </a:prstGeom>
        </p:spPr>
      </p:pic>
      <p:pic>
        <p:nvPicPr>
          <p:cNvPr id="5" name="Picture 4">
            <a:extLst>
              <a:ext uri="{FF2B5EF4-FFF2-40B4-BE49-F238E27FC236}">
                <a16:creationId xmlns:a16="http://schemas.microsoft.com/office/drawing/2014/main" id="{BA60EA8C-043E-ABD9-4C85-5D40617F97FA}"/>
              </a:ext>
            </a:extLst>
          </p:cNvPr>
          <p:cNvPicPr>
            <a:picLocks noChangeAspect="1"/>
          </p:cNvPicPr>
          <p:nvPr/>
        </p:nvPicPr>
        <p:blipFill rotWithShape="1">
          <a:blip r:embed="rId4"/>
          <a:srcRect t="12378"/>
          <a:stretch/>
        </p:blipFill>
        <p:spPr>
          <a:xfrm>
            <a:off x="1413365" y="2955732"/>
            <a:ext cx="3801635" cy="2215991"/>
          </a:xfrm>
          <a:prstGeom prst="rect">
            <a:avLst/>
          </a:prstGeom>
        </p:spPr>
      </p:pic>
    </p:spTree>
    <p:extLst>
      <p:ext uri="{BB962C8B-B14F-4D97-AF65-F5344CB8AC3E}">
        <p14:creationId xmlns:p14="http://schemas.microsoft.com/office/powerpoint/2010/main" val="1653690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24" name="Google Shape;918;p66">
            <a:extLst>
              <a:ext uri="{FF2B5EF4-FFF2-40B4-BE49-F238E27FC236}">
                <a16:creationId xmlns:a16="http://schemas.microsoft.com/office/drawing/2014/main" id="{B26A8F0F-6F8A-3B2B-4E98-0009ED77D50C}"/>
              </a:ext>
            </a:extLst>
          </p:cNvPr>
          <p:cNvSpPr txBox="1">
            <a:spLocks noGrp="1"/>
          </p:cNvSpPr>
          <p:nvPr>
            <p:ph type="title"/>
          </p:nvPr>
        </p:nvSpPr>
        <p:spPr>
          <a:xfrm>
            <a:off x="757070" y="234855"/>
            <a:ext cx="7704000" cy="572700"/>
          </a:xfrm>
          <a:prstGeom prst="rect">
            <a:avLst/>
          </a:prstGeom>
        </p:spPr>
        <p:txBody>
          <a:bodyPr spcFirstLastPara="1" wrap="square" lIns="91425" tIns="91425" rIns="91425" bIns="91425" anchor="t" anchorCtr="0">
            <a:noAutofit/>
          </a:bodyPr>
          <a:lstStyle/>
          <a:p>
            <a:r>
              <a:rPr lang="en-US" sz="2501" b="1" cap="small" dirty="0">
                <a:solidFill>
                  <a:schemeClr val="tx2">
                    <a:lumMod val="50000"/>
                  </a:schemeClr>
                </a:solidFill>
                <a:latin typeface="Space Mono" panose="020B0604020202020204" charset="0"/>
              </a:rPr>
              <a:t>EPOXY COATED “ARM”</a:t>
            </a:r>
          </a:p>
        </p:txBody>
      </p:sp>
      <p:sp>
        <p:nvSpPr>
          <p:cNvPr id="25" name="TextBox 24">
            <a:extLst>
              <a:ext uri="{FF2B5EF4-FFF2-40B4-BE49-F238E27FC236}">
                <a16:creationId xmlns:a16="http://schemas.microsoft.com/office/drawing/2014/main" id="{15F7ADEA-1ABB-A389-E390-675008618C6E}"/>
              </a:ext>
            </a:extLst>
          </p:cNvPr>
          <p:cNvSpPr txBox="1"/>
          <p:nvPr/>
        </p:nvSpPr>
        <p:spPr>
          <a:xfrm>
            <a:off x="632852" y="965735"/>
            <a:ext cx="3685153" cy="3208571"/>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The “arm” connects the circuit breaker and switchgear. Heat can reach a point that causes copper to braze and components to fail. The epoxy-coated, finned arm promotes heat transfer away from the arm, uses air to cool the arm, and is insulated from arc flash through coating.</a:t>
            </a:r>
          </a:p>
          <a:p>
            <a:pPr defTabSz="230193">
              <a:spcAft>
                <a:spcPts val="6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Redesign and optimize arm, fins, and select coating material to reduce heat at contact point. Run thermal simulation in SOLIDWORKS Simulation.</a:t>
            </a:r>
          </a:p>
        </p:txBody>
      </p:sp>
      <p:pic>
        <p:nvPicPr>
          <p:cNvPr id="26" name="Picture 25" descr="A close-up of a cylindrical object&#10;&#10;Description automatically generated">
            <a:extLst>
              <a:ext uri="{FF2B5EF4-FFF2-40B4-BE49-F238E27FC236}">
                <a16:creationId xmlns:a16="http://schemas.microsoft.com/office/drawing/2014/main" id="{A9119BA9-0208-596D-A742-C3D7CAAADC61}"/>
              </a:ext>
            </a:extLst>
          </p:cNvPr>
          <p:cNvPicPr>
            <a:picLocks noChangeAspect="1"/>
          </p:cNvPicPr>
          <p:nvPr/>
        </p:nvPicPr>
        <p:blipFill>
          <a:blip r:embed="rId3"/>
          <a:stretch>
            <a:fillRect/>
          </a:stretch>
        </p:blipFill>
        <p:spPr>
          <a:xfrm>
            <a:off x="4534933" y="965735"/>
            <a:ext cx="4236848" cy="3574841"/>
          </a:xfrm>
          <a:prstGeom prst="rect">
            <a:avLst/>
          </a:prstGeom>
        </p:spPr>
      </p:pic>
    </p:spTree>
    <p:extLst>
      <p:ext uri="{BB962C8B-B14F-4D97-AF65-F5344CB8AC3E}">
        <p14:creationId xmlns:p14="http://schemas.microsoft.com/office/powerpoint/2010/main" val="2768485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4" name="Google Shape;918;p66">
            <a:extLst>
              <a:ext uri="{FF2B5EF4-FFF2-40B4-BE49-F238E27FC236}">
                <a16:creationId xmlns:a16="http://schemas.microsoft.com/office/drawing/2014/main" id="{29E37115-C160-3331-5C18-106CD5CB2B72}"/>
              </a:ext>
            </a:extLst>
          </p:cNvPr>
          <p:cNvSpPr txBox="1">
            <a:spLocks noGrp="1"/>
          </p:cNvSpPr>
          <p:nvPr>
            <p:ph type="title"/>
          </p:nvPr>
        </p:nvSpPr>
        <p:spPr>
          <a:xfrm>
            <a:off x="757072" y="201340"/>
            <a:ext cx="7704000" cy="572700"/>
          </a:xfrm>
          <a:prstGeom prst="rect">
            <a:avLst/>
          </a:prstGeom>
        </p:spPr>
        <p:txBody>
          <a:bodyPr spcFirstLastPara="1" wrap="square" lIns="91425" tIns="91425" rIns="91425" bIns="91425" anchor="t" anchorCtr="0">
            <a:noAutofit/>
          </a:bodyPr>
          <a:lstStyle/>
          <a:p>
            <a:r>
              <a:rPr lang="en-US" sz="2501" b="1" dirty="0">
                <a:solidFill>
                  <a:schemeClr val="tx2">
                    <a:lumMod val="50000"/>
                  </a:schemeClr>
                </a:solidFill>
                <a:latin typeface="Space Mono" panose="020B0604020202020204" charset="0"/>
              </a:rPr>
              <a:t>CAN DISPENSER</a:t>
            </a:r>
          </a:p>
        </p:txBody>
      </p:sp>
      <p:sp>
        <p:nvSpPr>
          <p:cNvPr id="5" name="TextBox 4">
            <a:extLst>
              <a:ext uri="{FF2B5EF4-FFF2-40B4-BE49-F238E27FC236}">
                <a16:creationId xmlns:a16="http://schemas.microsoft.com/office/drawing/2014/main" id="{7FE0B1E0-FC5F-C665-8772-4DCE946EB91A}"/>
              </a:ext>
            </a:extLst>
          </p:cNvPr>
          <p:cNvSpPr txBox="1"/>
          <p:nvPr/>
        </p:nvSpPr>
        <p:spPr>
          <a:xfrm>
            <a:off x="431523" y="689577"/>
            <a:ext cx="4394548" cy="2062103"/>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Cooler and dispenser for multiple cans. User slides out one can at a time from the bottom window. Injection molded, overmolded, and machined parts.</a:t>
            </a:r>
          </a:p>
          <a:p>
            <a:pPr defTabSz="230193">
              <a:spcAft>
                <a:spcPts val="6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Easily operable with one hand, max can temperature</a:t>
            </a:r>
          </a:p>
          <a:p>
            <a:pPr>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Mechanical Design Engineer, functional and aesthetic parts.</a:t>
            </a:r>
          </a:p>
        </p:txBody>
      </p:sp>
      <p:pic>
        <p:nvPicPr>
          <p:cNvPr id="6" name="Picture 5">
            <a:extLst>
              <a:ext uri="{FF2B5EF4-FFF2-40B4-BE49-F238E27FC236}">
                <a16:creationId xmlns:a16="http://schemas.microsoft.com/office/drawing/2014/main" id="{0943A552-4D30-A181-EB7D-041A802ECF0B}"/>
              </a:ext>
            </a:extLst>
          </p:cNvPr>
          <p:cNvPicPr>
            <a:picLocks noChangeAspect="1"/>
          </p:cNvPicPr>
          <p:nvPr/>
        </p:nvPicPr>
        <p:blipFill>
          <a:blip r:embed="rId3"/>
          <a:stretch>
            <a:fillRect/>
          </a:stretch>
        </p:blipFill>
        <p:spPr>
          <a:xfrm>
            <a:off x="4740937" y="963552"/>
            <a:ext cx="2193954" cy="3490381"/>
          </a:xfrm>
          <a:prstGeom prst="rect">
            <a:avLst/>
          </a:prstGeom>
        </p:spPr>
      </p:pic>
      <p:pic>
        <p:nvPicPr>
          <p:cNvPr id="7" name="Picture 6">
            <a:extLst>
              <a:ext uri="{FF2B5EF4-FFF2-40B4-BE49-F238E27FC236}">
                <a16:creationId xmlns:a16="http://schemas.microsoft.com/office/drawing/2014/main" id="{80923A1D-9D3E-6A07-8658-A812EDB11C82}"/>
              </a:ext>
            </a:extLst>
          </p:cNvPr>
          <p:cNvPicPr>
            <a:picLocks noChangeAspect="1"/>
          </p:cNvPicPr>
          <p:nvPr/>
        </p:nvPicPr>
        <p:blipFill>
          <a:blip r:embed="rId4"/>
          <a:stretch>
            <a:fillRect/>
          </a:stretch>
        </p:blipFill>
        <p:spPr>
          <a:xfrm>
            <a:off x="6912432" y="963553"/>
            <a:ext cx="2170306" cy="3468303"/>
          </a:xfrm>
          <a:prstGeom prst="rect">
            <a:avLst/>
          </a:prstGeom>
        </p:spPr>
      </p:pic>
      <p:pic>
        <p:nvPicPr>
          <p:cNvPr id="8" name="Picture 7">
            <a:extLst>
              <a:ext uri="{FF2B5EF4-FFF2-40B4-BE49-F238E27FC236}">
                <a16:creationId xmlns:a16="http://schemas.microsoft.com/office/drawing/2014/main" id="{4685E950-DB0C-5DAE-4945-0BD7BDEC7C97}"/>
              </a:ext>
            </a:extLst>
          </p:cNvPr>
          <p:cNvPicPr>
            <a:picLocks noChangeAspect="1"/>
          </p:cNvPicPr>
          <p:nvPr/>
        </p:nvPicPr>
        <p:blipFill>
          <a:blip r:embed="rId5"/>
          <a:stretch>
            <a:fillRect/>
          </a:stretch>
        </p:blipFill>
        <p:spPr>
          <a:xfrm>
            <a:off x="854263" y="2880062"/>
            <a:ext cx="3343326" cy="2062103"/>
          </a:xfrm>
          <a:prstGeom prst="rect">
            <a:avLst/>
          </a:prstGeom>
        </p:spPr>
      </p:pic>
    </p:spTree>
    <p:extLst>
      <p:ext uri="{BB962C8B-B14F-4D97-AF65-F5344CB8AC3E}">
        <p14:creationId xmlns:p14="http://schemas.microsoft.com/office/powerpoint/2010/main" val="943474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9" name="Google Shape;918;p66">
            <a:extLst>
              <a:ext uri="{FF2B5EF4-FFF2-40B4-BE49-F238E27FC236}">
                <a16:creationId xmlns:a16="http://schemas.microsoft.com/office/drawing/2014/main" id="{F39B7C5D-84D3-7A8D-5507-FF2C1ADB065E}"/>
              </a:ext>
            </a:extLst>
          </p:cNvPr>
          <p:cNvSpPr txBox="1">
            <a:spLocks noGrp="1"/>
          </p:cNvSpPr>
          <p:nvPr>
            <p:ph type="title" idx="4294967295"/>
          </p:nvPr>
        </p:nvSpPr>
        <p:spPr>
          <a:xfrm>
            <a:off x="780527" y="232352"/>
            <a:ext cx="7704137" cy="573088"/>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1pPr>
            <a:lvl2pPr marR="0" lvl="1"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2pPr>
            <a:lvl3pPr marR="0" lvl="2"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3pPr>
            <a:lvl4pPr marR="0" lvl="3"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4pPr>
            <a:lvl5pPr marR="0" lvl="4"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5pPr>
            <a:lvl6pPr marR="0" lvl="5"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6pPr>
            <a:lvl7pPr marR="0" lvl="6"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7pPr>
            <a:lvl8pPr marR="0" lvl="7"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8pPr>
            <a:lvl9pPr marR="0" lvl="8"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9pPr>
          </a:lstStyle>
          <a:p>
            <a:pPr marL="0" marR="0" lvl="0" indent="0" algn="ctr" defTabSz="914400" rtl="0" eaLnBrk="1" fontAlgn="auto" latinLnBrk="0" hangingPunct="1">
              <a:lnSpc>
                <a:spcPct val="100000"/>
              </a:lnSpc>
              <a:spcBef>
                <a:spcPts val="0"/>
              </a:spcBef>
              <a:spcAft>
                <a:spcPts val="0"/>
              </a:spcAft>
              <a:buClr>
                <a:schemeClr val="dk1"/>
              </a:buClr>
              <a:buSzPts val="3000"/>
              <a:buFont typeface="Space Mono"/>
              <a:buNone/>
              <a:tabLst/>
              <a:defRPr/>
            </a:pPr>
            <a:r>
              <a:rPr kumimoji="0" lang="en-US" sz="2501" b="1" i="0" u="none" strike="noStrike" kern="0" cap="none" spc="0" normalizeH="0" baseline="0" noProof="0" dirty="0">
                <a:ln>
                  <a:noFill/>
                </a:ln>
                <a:solidFill>
                  <a:schemeClr val="accent1">
                    <a:lumMod val="75000"/>
                  </a:schemeClr>
                </a:solidFill>
                <a:effectLst/>
                <a:uLnTx/>
                <a:uFillTx/>
                <a:latin typeface="Space Mono" panose="020B0604020202020204" charset="0"/>
                <a:ea typeface="Space Mono"/>
                <a:cs typeface="Space Mono"/>
                <a:sym typeface="Space Mono"/>
              </a:rPr>
              <a:t>COFFEE ROASTER</a:t>
            </a:r>
          </a:p>
        </p:txBody>
      </p:sp>
      <p:sp>
        <p:nvSpPr>
          <p:cNvPr id="11" name="TextBox 10">
            <a:extLst>
              <a:ext uri="{FF2B5EF4-FFF2-40B4-BE49-F238E27FC236}">
                <a16:creationId xmlns:a16="http://schemas.microsoft.com/office/drawing/2014/main" id="{006821A3-EE6C-3B4D-8317-82783E8AEF08}"/>
              </a:ext>
            </a:extLst>
          </p:cNvPr>
          <p:cNvSpPr txBox="1"/>
          <p:nvPr/>
        </p:nvSpPr>
        <p:spPr>
          <a:xfrm>
            <a:off x="521187" y="890440"/>
            <a:ext cx="3178747" cy="313162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Designed a low-cost coffee roaster using a closed-loop stepper to obtain data and operate the rotary motion. The novelty of the invention lies in its ability to adjust the capacity, eliminating the need for companies to have multiple roasters for different sized loads.</a:t>
            </a:r>
          </a:p>
          <a:p>
            <a:pPr>
              <a:spcAft>
                <a:spcPts val="3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Adjustable batch sizes, thermal and electrical requirements, rotating speed and motor power based on weight and volume of rotating coffee beans.</a:t>
            </a:r>
          </a:p>
          <a:p>
            <a:pPr>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Sole Mechanical and Electrical Design Engineer</a:t>
            </a:r>
          </a:p>
        </p:txBody>
      </p:sp>
      <p:pic>
        <p:nvPicPr>
          <p:cNvPr id="13" name="Picture 12">
            <a:extLst>
              <a:ext uri="{FF2B5EF4-FFF2-40B4-BE49-F238E27FC236}">
                <a16:creationId xmlns:a16="http://schemas.microsoft.com/office/drawing/2014/main" id="{C9D45A5F-2DF5-3533-0A8D-9EFCD201166D}"/>
              </a:ext>
            </a:extLst>
          </p:cNvPr>
          <p:cNvPicPr>
            <a:picLocks noChangeAspect="1"/>
          </p:cNvPicPr>
          <p:nvPr/>
        </p:nvPicPr>
        <p:blipFill>
          <a:blip r:embed="rId3"/>
          <a:stretch>
            <a:fillRect/>
          </a:stretch>
        </p:blipFill>
        <p:spPr>
          <a:xfrm>
            <a:off x="3810628" y="1325032"/>
            <a:ext cx="5273623" cy="3666067"/>
          </a:xfrm>
          <a:prstGeom prst="rect">
            <a:avLst/>
          </a:prstGeom>
        </p:spPr>
      </p:pic>
    </p:spTree>
    <p:extLst>
      <p:ext uri="{BB962C8B-B14F-4D97-AF65-F5344CB8AC3E}">
        <p14:creationId xmlns:p14="http://schemas.microsoft.com/office/powerpoint/2010/main" val="2406217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18;p66">
            <a:extLst>
              <a:ext uri="{FF2B5EF4-FFF2-40B4-BE49-F238E27FC236}">
                <a16:creationId xmlns:a16="http://schemas.microsoft.com/office/drawing/2014/main" id="{C57F3C42-90E6-3CBB-F377-643FA715D885}"/>
              </a:ext>
            </a:extLst>
          </p:cNvPr>
          <p:cNvSpPr txBox="1">
            <a:spLocks noGrp="1"/>
          </p:cNvSpPr>
          <p:nvPr>
            <p:ph type="title" idx="4294967295"/>
          </p:nvPr>
        </p:nvSpPr>
        <p:spPr>
          <a:xfrm>
            <a:off x="721912" y="1990814"/>
            <a:ext cx="7704137" cy="748934"/>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1pPr>
            <a:lvl2pPr marR="0" lvl="1"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2pPr>
            <a:lvl3pPr marR="0" lvl="2"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3pPr>
            <a:lvl4pPr marR="0" lvl="3"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4pPr>
            <a:lvl5pPr marR="0" lvl="4"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5pPr>
            <a:lvl6pPr marR="0" lvl="5"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6pPr>
            <a:lvl7pPr marR="0" lvl="6"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7pPr>
            <a:lvl8pPr marR="0" lvl="7"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8pPr>
            <a:lvl9pPr marR="0" lvl="8"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9pPr>
          </a:lstStyle>
          <a:p>
            <a:pPr marL="0" marR="0" lvl="0" indent="0" algn="ctr" defTabSz="914400" rtl="0" eaLnBrk="1" fontAlgn="auto" latinLnBrk="0" hangingPunct="1">
              <a:lnSpc>
                <a:spcPct val="100000"/>
              </a:lnSpc>
              <a:spcBef>
                <a:spcPts val="0"/>
              </a:spcBef>
              <a:spcAft>
                <a:spcPts val="0"/>
              </a:spcAft>
              <a:buClr>
                <a:schemeClr val="dk1"/>
              </a:buClr>
              <a:buSzPts val="3000"/>
              <a:buFont typeface="Space Mono"/>
              <a:buNone/>
              <a:tabLst/>
              <a:defRPr/>
            </a:pPr>
            <a:r>
              <a:rPr kumimoji="0" lang="en-US" sz="4000" b="1" i="0" u="none" strike="noStrike" kern="0" cap="none" spc="0" normalizeH="0" baseline="0" noProof="0">
                <a:ln>
                  <a:noFill/>
                </a:ln>
                <a:solidFill>
                  <a:schemeClr val="accent1">
                    <a:lumMod val="75000"/>
                  </a:schemeClr>
                </a:solidFill>
                <a:effectLst/>
                <a:uLnTx/>
                <a:uFillTx/>
                <a:latin typeface="Space Mono"/>
                <a:ea typeface="Space Mono"/>
                <a:cs typeface="Space Mono"/>
                <a:sym typeface="Space Mono"/>
              </a:rPr>
              <a:t>PERSONAL PROJECTS</a:t>
            </a:r>
            <a:endParaRPr kumimoji="0" lang="en-US" sz="4000" b="0" i="0" u="none" strike="noStrike" kern="0" cap="none" spc="0" normalizeH="0" baseline="0" noProof="0">
              <a:ln>
                <a:noFill/>
              </a:ln>
              <a:solidFill>
                <a:schemeClr val="accent1">
                  <a:lumMod val="75000"/>
                </a:schemeClr>
              </a:solidFill>
              <a:effectLst/>
              <a:uLnTx/>
              <a:uFillTx/>
              <a:latin typeface="Space Mono"/>
              <a:ea typeface="Space Mono"/>
              <a:cs typeface="Space Mono"/>
              <a:sym typeface="Space Mono"/>
            </a:endParaRPr>
          </a:p>
        </p:txBody>
      </p:sp>
    </p:spTree>
    <p:extLst>
      <p:ext uri="{BB962C8B-B14F-4D97-AF65-F5344CB8AC3E}">
        <p14:creationId xmlns:p14="http://schemas.microsoft.com/office/powerpoint/2010/main" val="2682824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0">
          <a:extLst>
            <a:ext uri="{FF2B5EF4-FFF2-40B4-BE49-F238E27FC236}">
              <a16:creationId xmlns:a16="http://schemas.microsoft.com/office/drawing/2014/main" id="{7E3B1B15-C99C-F73E-8E04-61F72A6A16B6}"/>
            </a:ext>
          </a:extLst>
        </p:cNvPr>
        <p:cNvGrpSpPr/>
        <p:nvPr/>
      </p:nvGrpSpPr>
      <p:grpSpPr>
        <a:xfrm>
          <a:off x="0" y="0"/>
          <a:ext cx="0" cy="0"/>
          <a:chOff x="0" y="0"/>
          <a:chExt cx="0" cy="0"/>
        </a:xfrm>
      </p:grpSpPr>
      <p:sp>
        <p:nvSpPr>
          <p:cNvPr id="9" name="Google Shape;918;p66">
            <a:extLst>
              <a:ext uri="{FF2B5EF4-FFF2-40B4-BE49-F238E27FC236}">
                <a16:creationId xmlns:a16="http://schemas.microsoft.com/office/drawing/2014/main" id="{2E47C7CA-2D21-9181-0999-413D38D101ED}"/>
              </a:ext>
            </a:extLst>
          </p:cNvPr>
          <p:cNvSpPr txBox="1">
            <a:spLocks noGrp="1"/>
          </p:cNvSpPr>
          <p:nvPr>
            <p:ph type="title" idx="4294967295"/>
          </p:nvPr>
        </p:nvSpPr>
        <p:spPr>
          <a:xfrm>
            <a:off x="780527" y="232352"/>
            <a:ext cx="7704137" cy="573088"/>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1pPr>
            <a:lvl2pPr marR="0" lvl="1"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2pPr>
            <a:lvl3pPr marR="0" lvl="2"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3pPr>
            <a:lvl4pPr marR="0" lvl="3"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4pPr>
            <a:lvl5pPr marR="0" lvl="4"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5pPr>
            <a:lvl6pPr marR="0" lvl="5"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6pPr>
            <a:lvl7pPr marR="0" lvl="6"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7pPr>
            <a:lvl8pPr marR="0" lvl="7"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8pPr>
            <a:lvl9pPr marR="0" lvl="8"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9pPr>
          </a:lstStyle>
          <a:p>
            <a:pPr marL="0" marR="0" lvl="0" indent="0" algn="ctr" defTabSz="914400" rtl="0" eaLnBrk="1" fontAlgn="auto" latinLnBrk="0" hangingPunct="1">
              <a:lnSpc>
                <a:spcPct val="100000"/>
              </a:lnSpc>
              <a:spcBef>
                <a:spcPts val="0"/>
              </a:spcBef>
              <a:spcAft>
                <a:spcPts val="0"/>
              </a:spcAft>
              <a:buClr>
                <a:schemeClr val="dk1"/>
              </a:buClr>
              <a:buSzPts val="3000"/>
              <a:buFont typeface="Space Mono"/>
              <a:buNone/>
              <a:tabLst/>
              <a:defRPr/>
            </a:pPr>
            <a:r>
              <a:rPr kumimoji="0" lang="en-US" sz="2500" b="1" i="0" u="none" strike="noStrike" kern="0" cap="none" spc="0" normalizeH="0" baseline="0" noProof="0">
                <a:ln>
                  <a:noFill/>
                </a:ln>
                <a:solidFill>
                  <a:schemeClr val="accent1">
                    <a:lumMod val="75000"/>
                  </a:schemeClr>
                </a:solidFill>
                <a:effectLst/>
                <a:uLnTx/>
                <a:uFillTx/>
                <a:latin typeface="Space Mono"/>
                <a:ea typeface="Space Mono"/>
                <a:cs typeface="Space Mono"/>
                <a:sym typeface="Space Mono"/>
              </a:rPr>
              <a:t>RFID ESCAPE ROOM PUZZLE</a:t>
            </a:r>
            <a:endParaRPr kumimoji="0" lang="en-US" sz="3000" b="0" i="0" u="none" strike="noStrike" kern="0" cap="none" spc="0" normalizeH="0" baseline="0" noProof="0">
              <a:ln>
                <a:noFill/>
              </a:ln>
              <a:solidFill>
                <a:schemeClr val="accent1">
                  <a:lumMod val="75000"/>
                </a:schemeClr>
              </a:solidFill>
              <a:effectLst/>
              <a:uLnTx/>
              <a:uFillTx/>
              <a:latin typeface="Space Mono"/>
              <a:ea typeface="Space Mono"/>
              <a:cs typeface="Space Mono"/>
              <a:sym typeface="Space Mono"/>
            </a:endParaRPr>
          </a:p>
        </p:txBody>
      </p:sp>
      <p:sp>
        <p:nvSpPr>
          <p:cNvPr id="11" name="TextBox 10">
            <a:extLst>
              <a:ext uri="{FF2B5EF4-FFF2-40B4-BE49-F238E27FC236}">
                <a16:creationId xmlns:a16="http://schemas.microsoft.com/office/drawing/2014/main" id="{19F503B9-9794-3825-8AE6-D4F1AC18C895}"/>
              </a:ext>
            </a:extLst>
          </p:cNvPr>
          <p:cNvSpPr txBox="1"/>
          <p:nvPr/>
        </p:nvSpPr>
        <p:spPr>
          <a:xfrm>
            <a:off x="521187" y="890440"/>
            <a:ext cx="3178747" cy="4054956"/>
          </a:xfrm>
          <a:prstGeom prst="rect">
            <a:avLst/>
          </a:prstGeom>
          <a:noFill/>
        </p:spPr>
        <p:txBody>
          <a:bodyPr wrap="square" lIns="91440" tIns="45720" rIns="91440" bIns="45720" rtlCol="0" anchor="t">
            <a:spAutoFit/>
          </a:bodyPr>
          <a:lstStyle/>
          <a:p>
            <a:pPr>
              <a:spcAft>
                <a:spcPts val="300"/>
              </a:spcAft>
            </a:pPr>
            <a:r>
              <a:rPr lang="en-US" sz="1600" b="1" dirty="0">
                <a:solidFill>
                  <a:schemeClr val="accent3"/>
                </a:solidFill>
                <a:latin typeface="Aptos" panose="020B0004020202020204" pitchFamily="34" charset="0"/>
              </a:rPr>
              <a:t>SUMMARY</a:t>
            </a:r>
          </a:p>
          <a:p>
            <a:pPr marL="57150" defTabSz="230193">
              <a:spcAft>
                <a:spcPts val="600"/>
              </a:spcAft>
            </a:pPr>
            <a:r>
              <a:rPr lang="en-US" sz="1200" dirty="0">
                <a:latin typeface="Aptos"/>
              </a:rPr>
              <a:t>Players place 4 bottles, each with a hidden RFID tag, on a pad in the correct order. When the order is right, a 3D-printed iris box opens to reveal a hidden key. Controlled by a Raspberry Pi and powered by a 12V LiFePO4 pack. Built for my </a:t>
            </a:r>
            <a:r>
              <a:rPr lang="en-US" sz="1200">
                <a:latin typeface="Aptos"/>
              </a:rPr>
              <a:t>sister’s neighborhood escape room.</a:t>
            </a:r>
          </a:p>
          <a:p>
            <a:pPr defTabSz="230193">
              <a:spcAft>
                <a:spcPts val="300"/>
              </a:spcAft>
            </a:pPr>
            <a:r>
              <a:rPr lang="en-US" sz="1600" b="1" dirty="0">
                <a:solidFill>
                  <a:schemeClr val="accent3"/>
                </a:solidFill>
                <a:latin typeface="Aptos" panose="020B0004020202020204" pitchFamily="34" charset="0"/>
              </a:rPr>
              <a:t>REQUIREMENTS</a:t>
            </a:r>
          </a:p>
          <a:p>
            <a:pPr defTabSz="230193">
              <a:spcAft>
                <a:spcPts val="600"/>
              </a:spcAft>
            </a:pPr>
            <a:r>
              <a:rPr lang="en-US" sz="1200">
                <a:latin typeface="Aptos"/>
              </a:rPr>
              <a:t>Detect and identify 4 tagged bottles by RFID, open the key box only when all 4 bottles are in the correct order, operator can manually open or close the box and reset the puzzle, self-powered by a rechargeable battery, with all wiring and electronics hidden from players.</a:t>
            </a:r>
          </a:p>
          <a:p>
            <a:pPr>
              <a:spcAft>
                <a:spcPts val="300"/>
              </a:spcAft>
            </a:pPr>
            <a:r>
              <a:rPr lang="en-US" sz="1600" b="1" dirty="0">
                <a:solidFill>
                  <a:schemeClr val="accent3"/>
                </a:solidFill>
                <a:latin typeface="Aptos" panose="020B0004020202020204" pitchFamily="34" charset="0"/>
              </a:rPr>
              <a:t>ROLE</a:t>
            </a:r>
          </a:p>
          <a:p>
            <a:pPr marL="57150" defTabSz="230193">
              <a:spcAft>
                <a:spcPts val="600"/>
              </a:spcAft>
            </a:pPr>
            <a:r>
              <a:rPr lang="en-US" sz="1200">
                <a:latin typeface="Aptos"/>
              </a:rPr>
              <a:t>Designed and built entire system, wired, coded in Python on Raspberry Pi, debugged.</a:t>
            </a:r>
          </a:p>
        </p:txBody>
      </p:sp>
      <p:pic>
        <p:nvPicPr>
          <p:cNvPr id="4" name="Picture 3" descr="A wooden object with a circular cut out">
            <a:extLst>
              <a:ext uri="{FF2B5EF4-FFF2-40B4-BE49-F238E27FC236}">
                <a16:creationId xmlns:a16="http://schemas.microsoft.com/office/drawing/2014/main" id="{26F95E3D-4D92-E02A-6EA9-84C718DB3DBC}"/>
              </a:ext>
            </a:extLst>
          </p:cNvPr>
          <p:cNvPicPr>
            <a:picLocks noChangeAspect="1"/>
          </p:cNvPicPr>
          <p:nvPr/>
        </p:nvPicPr>
        <p:blipFill>
          <a:blip r:embed="rId3"/>
          <a:srcRect l="10644" t="11059" r="2614" b="8641"/>
          <a:stretch>
            <a:fillRect/>
          </a:stretch>
        </p:blipFill>
        <p:spPr>
          <a:xfrm>
            <a:off x="6720996" y="669215"/>
            <a:ext cx="2424313" cy="2244276"/>
          </a:xfrm>
          <a:prstGeom prst="rect">
            <a:avLst/>
          </a:prstGeom>
        </p:spPr>
      </p:pic>
      <p:pic>
        <p:nvPicPr>
          <p:cNvPr id="5" name="Picture 4" descr="A wood pieces on a table&#10;&#10;AI-generated content may be incorrect.">
            <a:extLst>
              <a:ext uri="{FF2B5EF4-FFF2-40B4-BE49-F238E27FC236}">
                <a16:creationId xmlns:a16="http://schemas.microsoft.com/office/drawing/2014/main" id="{220FAB87-9C19-CEE2-B759-E669CB1F52DC}"/>
              </a:ext>
            </a:extLst>
          </p:cNvPr>
          <p:cNvPicPr>
            <a:picLocks noChangeAspect="1"/>
          </p:cNvPicPr>
          <p:nvPr/>
        </p:nvPicPr>
        <p:blipFill>
          <a:blip r:embed="rId4"/>
          <a:srcRect r="-86" b="21563"/>
          <a:stretch>
            <a:fillRect/>
          </a:stretch>
        </p:blipFill>
        <p:spPr>
          <a:xfrm>
            <a:off x="3987098" y="2896643"/>
            <a:ext cx="5154649" cy="2249470"/>
          </a:xfrm>
          <a:prstGeom prst="rect">
            <a:avLst/>
          </a:prstGeom>
        </p:spPr>
      </p:pic>
      <p:pic>
        <p:nvPicPr>
          <p:cNvPr id="6" name="Picture 5">
            <a:extLst>
              <a:ext uri="{FF2B5EF4-FFF2-40B4-BE49-F238E27FC236}">
                <a16:creationId xmlns:a16="http://schemas.microsoft.com/office/drawing/2014/main" id="{7E95534F-935D-3051-09F6-48BCA93584E5}"/>
              </a:ext>
            </a:extLst>
          </p:cNvPr>
          <p:cNvPicPr>
            <a:picLocks noChangeAspect="1"/>
          </p:cNvPicPr>
          <p:nvPr/>
        </p:nvPicPr>
        <p:blipFill>
          <a:blip r:embed="rId5"/>
          <a:srcRect l="19542" r="3456" b="369"/>
          <a:stretch>
            <a:fillRect/>
          </a:stretch>
        </p:blipFill>
        <p:spPr>
          <a:xfrm>
            <a:off x="3818806" y="1084676"/>
            <a:ext cx="2752717" cy="1815495"/>
          </a:xfrm>
          <a:prstGeom prst="rect">
            <a:avLst/>
          </a:prstGeom>
        </p:spPr>
      </p:pic>
    </p:spTree>
    <p:extLst>
      <p:ext uri="{BB962C8B-B14F-4D97-AF65-F5344CB8AC3E}">
        <p14:creationId xmlns:p14="http://schemas.microsoft.com/office/powerpoint/2010/main" val="1295288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4B5A94-B8DA-9A0D-1C55-8407254B4E1D}"/>
              </a:ext>
            </a:extLst>
          </p:cNvPr>
          <p:cNvPicPr>
            <a:picLocks noChangeAspect="1"/>
          </p:cNvPicPr>
          <p:nvPr/>
        </p:nvPicPr>
        <p:blipFill>
          <a:blip r:embed="rId2"/>
          <a:stretch>
            <a:fillRect/>
          </a:stretch>
        </p:blipFill>
        <p:spPr>
          <a:xfrm>
            <a:off x="6286992" y="653858"/>
            <a:ext cx="2242667" cy="2546544"/>
          </a:xfrm>
          <a:prstGeom prst="rect">
            <a:avLst/>
          </a:prstGeom>
        </p:spPr>
      </p:pic>
      <p:pic>
        <p:nvPicPr>
          <p:cNvPr id="10" name="Picture 9">
            <a:extLst>
              <a:ext uri="{FF2B5EF4-FFF2-40B4-BE49-F238E27FC236}">
                <a16:creationId xmlns:a16="http://schemas.microsoft.com/office/drawing/2014/main" id="{786A0C95-92C6-AD5A-6C92-EA0ED938B88E}"/>
              </a:ext>
            </a:extLst>
          </p:cNvPr>
          <p:cNvPicPr>
            <a:picLocks noChangeAspect="1"/>
          </p:cNvPicPr>
          <p:nvPr/>
        </p:nvPicPr>
        <p:blipFill>
          <a:blip r:embed="rId3"/>
          <a:stretch>
            <a:fillRect/>
          </a:stretch>
        </p:blipFill>
        <p:spPr>
          <a:xfrm>
            <a:off x="4213647" y="2487556"/>
            <a:ext cx="4568922" cy="3423122"/>
          </a:xfrm>
          <a:prstGeom prst="rect">
            <a:avLst/>
          </a:prstGeom>
        </p:spPr>
      </p:pic>
      <p:sp>
        <p:nvSpPr>
          <p:cNvPr id="17" name="Google Shape;918;p66">
            <a:extLst>
              <a:ext uri="{FF2B5EF4-FFF2-40B4-BE49-F238E27FC236}">
                <a16:creationId xmlns:a16="http://schemas.microsoft.com/office/drawing/2014/main" id="{5B755B3E-1A7A-61D0-2E0F-D7FAF8F39DBE}"/>
              </a:ext>
            </a:extLst>
          </p:cNvPr>
          <p:cNvSpPr txBox="1">
            <a:spLocks noGrp="1"/>
          </p:cNvSpPr>
          <p:nvPr>
            <p:ph type="title"/>
          </p:nvPr>
        </p:nvSpPr>
        <p:spPr>
          <a:xfrm>
            <a:off x="780595" y="234395"/>
            <a:ext cx="7704000" cy="572700"/>
          </a:xfrm>
          <a:prstGeom prst="rect">
            <a:avLst/>
          </a:prstGeom>
        </p:spPr>
        <p:txBody>
          <a:bodyPr spcFirstLastPara="1" wrap="square" lIns="91425" tIns="91425" rIns="91425" bIns="91425" anchor="t" anchorCtr="0">
            <a:noAutofit/>
          </a:bodyPr>
          <a:lstStyle/>
          <a:p>
            <a:r>
              <a:rPr lang="en-US" sz="2500" b="1" cap="small">
                <a:solidFill>
                  <a:schemeClr val="accent1">
                    <a:lumMod val="75000"/>
                  </a:schemeClr>
                </a:solidFill>
              </a:rPr>
              <a:t>3D PRINTS &amp; MAKES</a:t>
            </a:r>
            <a:endParaRPr lang="en-US">
              <a:solidFill>
                <a:schemeClr val="accent1">
                  <a:lumMod val="75000"/>
                </a:schemeClr>
              </a:solidFill>
            </a:endParaRPr>
          </a:p>
        </p:txBody>
      </p:sp>
      <p:grpSp>
        <p:nvGrpSpPr>
          <p:cNvPr id="5" name="Group 4">
            <a:extLst>
              <a:ext uri="{FF2B5EF4-FFF2-40B4-BE49-F238E27FC236}">
                <a16:creationId xmlns:a16="http://schemas.microsoft.com/office/drawing/2014/main" id="{45FFD5C0-61E0-8320-FE77-2587D7C8E991}"/>
              </a:ext>
            </a:extLst>
          </p:cNvPr>
          <p:cNvGrpSpPr/>
          <p:nvPr/>
        </p:nvGrpSpPr>
        <p:grpSpPr>
          <a:xfrm>
            <a:off x="78558" y="1055099"/>
            <a:ext cx="2439169" cy="3274407"/>
            <a:chOff x="2525750" y="1003811"/>
            <a:chExt cx="2439169" cy="3274407"/>
          </a:xfrm>
        </p:grpSpPr>
        <p:pic>
          <p:nvPicPr>
            <p:cNvPr id="3" name="Picture 2">
              <a:extLst>
                <a:ext uri="{FF2B5EF4-FFF2-40B4-BE49-F238E27FC236}">
                  <a16:creationId xmlns:a16="http://schemas.microsoft.com/office/drawing/2014/main" id="{B8760CAB-613E-6430-5AB7-8DE805E93133}"/>
                </a:ext>
              </a:extLst>
            </p:cNvPr>
            <p:cNvPicPr>
              <a:picLocks noChangeAspect="1"/>
            </p:cNvPicPr>
            <p:nvPr/>
          </p:nvPicPr>
          <p:blipFill>
            <a:blip r:embed="rId4"/>
            <a:stretch>
              <a:fillRect/>
            </a:stretch>
          </p:blipFill>
          <p:spPr>
            <a:xfrm>
              <a:off x="2573952" y="1139107"/>
              <a:ext cx="2258943" cy="3139111"/>
            </a:xfrm>
            <a:prstGeom prst="rect">
              <a:avLst/>
            </a:prstGeom>
          </p:spPr>
        </p:pic>
        <p:sp>
          <p:nvSpPr>
            <p:cNvPr id="2" name="TextBox 1">
              <a:extLst>
                <a:ext uri="{FF2B5EF4-FFF2-40B4-BE49-F238E27FC236}">
                  <a16:creationId xmlns:a16="http://schemas.microsoft.com/office/drawing/2014/main" id="{1FFED0DC-0D50-D3F0-4C42-92B38286F7A4}"/>
                </a:ext>
              </a:extLst>
            </p:cNvPr>
            <p:cNvSpPr txBox="1"/>
            <p:nvPr/>
          </p:nvSpPr>
          <p:spPr>
            <a:xfrm rot="232951">
              <a:off x="2525750" y="1003811"/>
              <a:ext cx="2439169" cy="246221"/>
            </a:xfrm>
            <a:prstGeom prst="rect">
              <a:avLst/>
            </a:prstGeom>
            <a:noFill/>
          </p:spPr>
          <p:txBody>
            <a:bodyPr wrap="square" rtlCol="0">
              <a:spAutoFit/>
            </a:bodyPr>
            <a:lstStyle/>
            <a:p>
              <a:pPr algn="ctr"/>
              <a:r>
                <a:rPr lang="en-US" sz="1000" b="1" dirty="0">
                  <a:solidFill>
                    <a:schemeClr val="accent3"/>
                  </a:solidFill>
                </a:rPr>
                <a:t>LED Backed 3D Printed Lithophane</a:t>
              </a:r>
            </a:p>
          </p:txBody>
        </p:sp>
      </p:grpSp>
      <p:pic>
        <p:nvPicPr>
          <p:cNvPr id="7" name="Picture 6" descr="A sculpture of a person on a box with lights&#10;&#10;AI-generated content may be incorrect.">
            <a:extLst>
              <a:ext uri="{FF2B5EF4-FFF2-40B4-BE49-F238E27FC236}">
                <a16:creationId xmlns:a16="http://schemas.microsoft.com/office/drawing/2014/main" id="{C268E3DA-9E10-77D9-3B18-2205FE8DA3AA}"/>
              </a:ext>
            </a:extLst>
          </p:cNvPr>
          <p:cNvPicPr>
            <a:picLocks noChangeAspect="1"/>
          </p:cNvPicPr>
          <p:nvPr/>
        </p:nvPicPr>
        <p:blipFill>
          <a:blip r:embed="rId5"/>
          <a:stretch>
            <a:fillRect/>
          </a:stretch>
        </p:blipFill>
        <p:spPr>
          <a:xfrm>
            <a:off x="2679761" y="849922"/>
            <a:ext cx="2788016" cy="3275135"/>
          </a:xfrm>
          <a:prstGeom prst="rect">
            <a:avLst/>
          </a:prstGeom>
        </p:spPr>
      </p:pic>
    </p:spTree>
    <p:extLst>
      <p:ext uri="{BB962C8B-B14F-4D97-AF65-F5344CB8AC3E}">
        <p14:creationId xmlns:p14="http://schemas.microsoft.com/office/powerpoint/2010/main" val="2651909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18;p66">
            <a:extLst>
              <a:ext uri="{FF2B5EF4-FFF2-40B4-BE49-F238E27FC236}">
                <a16:creationId xmlns:a16="http://schemas.microsoft.com/office/drawing/2014/main" id="{943F12D3-488A-B115-324F-B73C3BB1E2A8}"/>
              </a:ext>
            </a:extLst>
          </p:cNvPr>
          <p:cNvSpPr txBox="1">
            <a:spLocks noGrp="1"/>
          </p:cNvSpPr>
          <p:nvPr>
            <p:ph type="title" idx="4294967295"/>
          </p:nvPr>
        </p:nvSpPr>
        <p:spPr>
          <a:xfrm>
            <a:off x="780527" y="232352"/>
            <a:ext cx="7704137" cy="573088"/>
          </a:xfrm>
          <a:prstGeom prst="rect">
            <a:avLst/>
          </a:prstGeom>
          <a:noFill/>
          <a:ln>
            <a:noFill/>
            <a:prstDash/>
          </a:ln>
          <a:effectLst/>
        </p:spPr>
        <p:txBody>
          <a:bodyPr rot="0" spcFirstLastPara="1" vertOverflow="overflow" horzOverflow="overflow" vert="horz" wrap="square" lIns="91425" tIns="91425" rIns="91425" bIns="91425"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1pPr>
            <a:lvl2pPr marR="0" lvl="1"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2pPr>
            <a:lvl3pPr marR="0" lvl="2"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3pPr>
            <a:lvl4pPr marR="0" lvl="3"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4pPr>
            <a:lvl5pPr marR="0" lvl="4"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5pPr>
            <a:lvl6pPr marR="0" lvl="5"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6pPr>
            <a:lvl7pPr marR="0" lvl="6"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7pPr>
            <a:lvl8pPr marR="0" lvl="7"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8pPr>
            <a:lvl9pPr marR="0" lvl="8" algn="l" rtl="0">
              <a:lnSpc>
                <a:spcPct val="100000"/>
              </a:lnSpc>
              <a:spcBef>
                <a:spcPts val="0"/>
              </a:spcBef>
              <a:spcAft>
                <a:spcPts val="0"/>
              </a:spcAft>
              <a:buClr>
                <a:schemeClr val="dk1"/>
              </a:buClr>
              <a:buSzPts val="3000"/>
              <a:buFont typeface="Space Mono"/>
              <a:buNone/>
              <a:defRPr sz="3000" b="0" i="0" u="none" strike="noStrike" cap="none">
                <a:solidFill>
                  <a:schemeClr val="dk1"/>
                </a:solidFill>
                <a:latin typeface="Space Mono"/>
                <a:ea typeface="Space Mono"/>
                <a:cs typeface="Space Mono"/>
                <a:sym typeface="Space Mono"/>
              </a:defRPr>
            </a:lvl9pPr>
          </a:lstStyle>
          <a:p>
            <a:pPr marL="0" marR="0" lvl="0" indent="0" algn="ctr" defTabSz="914400" rtl="0" eaLnBrk="1" fontAlgn="auto" latinLnBrk="0" hangingPunct="1">
              <a:lnSpc>
                <a:spcPct val="100000"/>
              </a:lnSpc>
              <a:spcBef>
                <a:spcPts val="0"/>
              </a:spcBef>
              <a:spcAft>
                <a:spcPts val="0"/>
              </a:spcAft>
              <a:buClr>
                <a:schemeClr val="dk1"/>
              </a:buClr>
              <a:buSzPts val="3000"/>
              <a:buFont typeface="Space Mono"/>
              <a:buNone/>
              <a:tabLst/>
              <a:defRPr/>
            </a:pPr>
            <a:r>
              <a:rPr kumimoji="0" lang="en-US" sz="2500" b="1" i="0" u="none" strike="noStrike" kern="0" cap="none" spc="0" normalizeH="0" baseline="0" noProof="0">
                <a:ln>
                  <a:noFill/>
                </a:ln>
                <a:solidFill>
                  <a:schemeClr val="accent1">
                    <a:lumMod val="75000"/>
                  </a:schemeClr>
                </a:solidFill>
                <a:effectLst/>
                <a:uLnTx/>
                <a:uFillTx/>
                <a:latin typeface="Space Mono"/>
                <a:ea typeface="Space Mono"/>
                <a:cs typeface="Space Mono"/>
                <a:sym typeface="Space Mono"/>
              </a:rPr>
              <a:t>3D PRINTS &amp; MAKES (CONT’D)</a:t>
            </a:r>
            <a:endParaRPr kumimoji="0" lang="en-US" sz="3000" b="1" i="0" u="none" strike="noStrike" kern="0" cap="none" spc="0" normalizeH="0" baseline="0" noProof="0">
              <a:ln>
                <a:noFill/>
              </a:ln>
              <a:solidFill>
                <a:schemeClr val="accent1">
                  <a:lumMod val="75000"/>
                </a:schemeClr>
              </a:solidFill>
              <a:effectLst/>
              <a:uLnTx/>
              <a:uFillTx/>
              <a:latin typeface="Space Mono"/>
              <a:ea typeface="Space Mono"/>
              <a:cs typeface="Space Mono"/>
              <a:sym typeface="Space Mono"/>
            </a:endParaRPr>
          </a:p>
        </p:txBody>
      </p:sp>
      <p:grpSp>
        <p:nvGrpSpPr>
          <p:cNvPr id="12" name="Group 11">
            <a:extLst>
              <a:ext uri="{FF2B5EF4-FFF2-40B4-BE49-F238E27FC236}">
                <a16:creationId xmlns:a16="http://schemas.microsoft.com/office/drawing/2014/main" id="{48E46D2A-7DE5-DC68-B45D-E63BFC5D47B0}"/>
              </a:ext>
            </a:extLst>
          </p:cNvPr>
          <p:cNvGrpSpPr/>
          <p:nvPr/>
        </p:nvGrpSpPr>
        <p:grpSpPr>
          <a:xfrm>
            <a:off x="2386081" y="701361"/>
            <a:ext cx="1923905" cy="2089612"/>
            <a:chOff x="2298158" y="694034"/>
            <a:chExt cx="1923905" cy="2089612"/>
          </a:xfrm>
        </p:grpSpPr>
        <p:pic>
          <p:nvPicPr>
            <p:cNvPr id="7" name="Picture 6">
              <a:extLst>
                <a:ext uri="{FF2B5EF4-FFF2-40B4-BE49-F238E27FC236}">
                  <a16:creationId xmlns:a16="http://schemas.microsoft.com/office/drawing/2014/main" id="{1D3686D1-4B2B-DF23-EE1A-207C75EDCECC}"/>
                </a:ext>
              </a:extLst>
            </p:cNvPr>
            <p:cNvPicPr>
              <a:picLocks noChangeAspect="1"/>
            </p:cNvPicPr>
            <p:nvPr/>
          </p:nvPicPr>
          <p:blipFill>
            <a:blip r:embed="rId2"/>
            <a:stretch>
              <a:fillRect/>
            </a:stretch>
          </p:blipFill>
          <p:spPr>
            <a:xfrm>
              <a:off x="2298158" y="1051976"/>
              <a:ext cx="1923904" cy="1731670"/>
            </a:xfrm>
            <a:prstGeom prst="rect">
              <a:avLst/>
            </a:prstGeom>
          </p:spPr>
        </p:pic>
        <p:sp>
          <p:nvSpPr>
            <p:cNvPr id="9" name="TextBox 8">
              <a:extLst>
                <a:ext uri="{FF2B5EF4-FFF2-40B4-BE49-F238E27FC236}">
                  <a16:creationId xmlns:a16="http://schemas.microsoft.com/office/drawing/2014/main" id="{6D5DEBDA-E074-7A64-1018-8E9E9F3F03B7}"/>
                </a:ext>
              </a:extLst>
            </p:cNvPr>
            <p:cNvSpPr txBox="1"/>
            <p:nvPr/>
          </p:nvSpPr>
          <p:spPr>
            <a:xfrm>
              <a:off x="2384016" y="694034"/>
              <a:ext cx="1838047" cy="400110"/>
            </a:xfrm>
            <a:prstGeom prst="rect">
              <a:avLst/>
            </a:prstGeom>
            <a:noFill/>
          </p:spPr>
          <p:txBody>
            <a:bodyPr wrap="square" rtlCol="0">
              <a:spAutoFit/>
            </a:bodyPr>
            <a:lstStyle/>
            <a:p>
              <a:pPr algn="ctr"/>
              <a:r>
                <a:rPr lang="en-US" sz="1000" b="1" dirty="0">
                  <a:solidFill>
                    <a:schemeClr val="accent3"/>
                  </a:solidFill>
                </a:rPr>
                <a:t>Laser cut and Etched Wedding Coasters</a:t>
              </a:r>
            </a:p>
          </p:txBody>
        </p:sp>
      </p:grpSp>
      <p:sp>
        <p:nvSpPr>
          <p:cNvPr id="18" name="AutoShape 2">
            <a:extLst>
              <a:ext uri="{FF2B5EF4-FFF2-40B4-BE49-F238E27FC236}">
                <a16:creationId xmlns:a16="http://schemas.microsoft.com/office/drawing/2014/main" id="{427A8E98-2113-905F-E715-59702CB71C2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Picture 22">
            <a:extLst>
              <a:ext uri="{FF2B5EF4-FFF2-40B4-BE49-F238E27FC236}">
                <a16:creationId xmlns:a16="http://schemas.microsoft.com/office/drawing/2014/main" id="{8A61CB2F-801D-A0D3-9188-995CF02EB623}"/>
              </a:ext>
            </a:extLst>
          </p:cNvPr>
          <p:cNvPicPr>
            <a:picLocks noChangeAspect="1"/>
          </p:cNvPicPr>
          <p:nvPr/>
        </p:nvPicPr>
        <p:blipFill>
          <a:blip r:embed="rId3"/>
          <a:stretch>
            <a:fillRect/>
          </a:stretch>
        </p:blipFill>
        <p:spPr>
          <a:xfrm>
            <a:off x="4419600" y="764015"/>
            <a:ext cx="2065771" cy="2019631"/>
          </a:xfrm>
          <a:prstGeom prst="rect">
            <a:avLst/>
          </a:prstGeom>
        </p:spPr>
      </p:pic>
      <p:sp>
        <p:nvSpPr>
          <p:cNvPr id="2" name="AutoShape 2">
            <a:extLst>
              <a:ext uri="{FF2B5EF4-FFF2-40B4-BE49-F238E27FC236}">
                <a16:creationId xmlns:a16="http://schemas.microsoft.com/office/drawing/2014/main" id="{3529887C-6D62-A6FB-F3EF-B9F4DC278ECD}"/>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C8DDF889-BEED-0BB8-ECED-8523D47D2C81}"/>
              </a:ext>
            </a:extLst>
          </p:cNvPr>
          <p:cNvPicPr>
            <a:picLocks noChangeAspect="1"/>
          </p:cNvPicPr>
          <p:nvPr/>
        </p:nvPicPr>
        <p:blipFill>
          <a:blip r:embed="rId4"/>
          <a:stretch>
            <a:fillRect/>
          </a:stretch>
        </p:blipFill>
        <p:spPr>
          <a:xfrm>
            <a:off x="2128644" y="3057553"/>
            <a:ext cx="4363055" cy="2019631"/>
          </a:xfrm>
          <a:prstGeom prst="rect">
            <a:avLst/>
          </a:prstGeom>
        </p:spPr>
      </p:pic>
      <p:sp>
        <p:nvSpPr>
          <p:cNvPr id="8" name="TextBox 7">
            <a:extLst>
              <a:ext uri="{FF2B5EF4-FFF2-40B4-BE49-F238E27FC236}">
                <a16:creationId xmlns:a16="http://schemas.microsoft.com/office/drawing/2014/main" id="{968C37CC-2528-47A7-7074-CAAFF7BE4517}"/>
              </a:ext>
            </a:extLst>
          </p:cNvPr>
          <p:cNvSpPr txBox="1"/>
          <p:nvPr/>
        </p:nvSpPr>
        <p:spPr>
          <a:xfrm>
            <a:off x="6943321" y="868549"/>
            <a:ext cx="1838047" cy="400110"/>
          </a:xfrm>
          <a:prstGeom prst="rect">
            <a:avLst/>
          </a:prstGeom>
          <a:noFill/>
        </p:spPr>
        <p:txBody>
          <a:bodyPr wrap="square" rtlCol="0">
            <a:spAutoFit/>
          </a:bodyPr>
          <a:lstStyle/>
          <a:p>
            <a:pPr algn="ctr"/>
            <a:r>
              <a:rPr lang="en-US" sz="1000" b="1" dirty="0">
                <a:solidFill>
                  <a:schemeClr val="accent3"/>
                </a:solidFill>
              </a:rPr>
              <a:t>Ramp for Steps (made from scrap metal)</a:t>
            </a:r>
          </a:p>
        </p:txBody>
      </p:sp>
      <p:pic>
        <p:nvPicPr>
          <p:cNvPr id="11" name="Picture 10">
            <a:extLst>
              <a:ext uri="{FF2B5EF4-FFF2-40B4-BE49-F238E27FC236}">
                <a16:creationId xmlns:a16="http://schemas.microsoft.com/office/drawing/2014/main" id="{A585BE3E-F507-449F-85B5-A464DCD114CC}"/>
              </a:ext>
            </a:extLst>
          </p:cNvPr>
          <p:cNvPicPr>
            <a:picLocks noChangeAspect="1"/>
          </p:cNvPicPr>
          <p:nvPr/>
        </p:nvPicPr>
        <p:blipFill>
          <a:blip r:embed="rId5"/>
          <a:stretch>
            <a:fillRect/>
          </a:stretch>
        </p:blipFill>
        <p:spPr>
          <a:xfrm>
            <a:off x="6587857" y="1331768"/>
            <a:ext cx="2496156" cy="3089564"/>
          </a:xfrm>
          <a:prstGeom prst="rect">
            <a:avLst/>
          </a:prstGeom>
        </p:spPr>
      </p:pic>
      <p:pic>
        <p:nvPicPr>
          <p:cNvPr id="10" name="Picture 9" descr="A vase with flowers in it&#10;&#10;AI-generated content may be incorrect.">
            <a:extLst>
              <a:ext uri="{FF2B5EF4-FFF2-40B4-BE49-F238E27FC236}">
                <a16:creationId xmlns:a16="http://schemas.microsoft.com/office/drawing/2014/main" id="{2E982EDD-1D90-B572-1349-7127C1D4C68F}"/>
              </a:ext>
            </a:extLst>
          </p:cNvPr>
          <p:cNvPicPr>
            <a:picLocks noChangeAspect="1"/>
          </p:cNvPicPr>
          <p:nvPr/>
        </p:nvPicPr>
        <p:blipFill>
          <a:blip r:embed="rId6"/>
          <a:stretch>
            <a:fillRect/>
          </a:stretch>
        </p:blipFill>
        <p:spPr>
          <a:xfrm>
            <a:off x="116864" y="988768"/>
            <a:ext cx="2169503" cy="3481022"/>
          </a:xfrm>
          <a:prstGeom prst="rect">
            <a:avLst/>
          </a:prstGeom>
        </p:spPr>
      </p:pic>
    </p:spTree>
    <p:extLst>
      <p:ext uri="{BB962C8B-B14F-4D97-AF65-F5344CB8AC3E}">
        <p14:creationId xmlns:p14="http://schemas.microsoft.com/office/powerpoint/2010/main" val="3791645608"/>
      </p:ext>
    </p:extLst>
  </p:cSld>
  <p:clrMapOvr>
    <a:masterClrMapping/>
  </p:clrMapOvr>
</p:sld>
</file>

<file path=ppt/theme/theme1.xml><?xml version="1.0" encoding="utf-8"?>
<a:theme xmlns:a="http://schemas.openxmlformats.org/drawingml/2006/main" name="Mechanic Gear Aesthetic Project Proposal by Slidesgo">
  <a:themeElements>
    <a:clrScheme name="Custom 3">
      <a:dk1>
        <a:srgbClr val="191919"/>
      </a:dk1>
      <a:lt1>
        <a:srgbClr val="E6E6E6"/>
      </a:lt1>
      <a:dk2>
        <a:srgbClr val="CACACA"/>
      </a:dk2>
      <a:lt2>
        <a:srgbClr val="B6B6B6"/>
      </a:lt2>
      <a:accent1>
        <a:srgbClr val="747474"/>
      </a:accent1>
      <a:accent2>
        <a:srgbClr val="4E4E4E"/>
      </a:accent2>
      <a:accent3>
        <a:srgbClr val="AC0000"/>
      </a:accent3>
      <a:accent4>
        <a:srgbClr val="FFFFFF"/>
      </a:accent4>
      <a:accent5>
        <a:srgbClr val="FFFFFF"/>
      </a:accent5>
      <a:accent6>
        <a:srgbClr val="FFFFFF"/>
      </a:accent6>
      <a:hlink>
        <a:srgbClr val="7474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TotalTime>
  <Words>1654</Words>
  <Application>Microsoft Office PowerPoint</Application>
  <PresentationFormat>On-screen Show (16:9)</PresentationFormat>
  <Paragraphs>194</Paragraphs>
  <Slides>26</Slides>
  <Notes>23</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Mechanic Gear Aesthetic Project Proposal by Slidesgo</vt:lpstr>
      <vt:lpstr>DESIGN PORTFOLIO Michael Murray Sr. Mechanical Design Engineer 2009-2025</vt:lpstr>
      <vt:lpstr>TABLE OF CONTENTS</vt:lpstr>
      <vt:lpstr>ABOUT ME</vt:lpstr>
      <vt:lpstr>3D X-RAY DEVICE</vt:lpstr>
      <vt:lpstr>3D X-RAY DEVICE (CONT’D)</vt:lpstr>
      <vt:lpstr>SURGICAL 3D ROBOTIC MICROSCOPE</vt:lpstr>
      <vt:lpstr>SIMULATION (3D MICROSCOPE)</vt:lpstr>
      <vt:lpstr>DIAPHRAGM PUMP CATHETER DEVICE</vt:lpstr>
      <vt:lpstr>DIAPHRAGM PUMP EXPLODED</vt:lpstr>
      <vt:lpstr>ROBOTIC ENDOSCOPE, INJECTION MOLDED PARTS</vt:lpstr>
      <vt:lpstr>AUTOMATED FOOD PROCESSING DEVICE</vt:lpstr>
      <vt:lpstr>SPRING-LOADED LOCKING SYSTEM, MED DEVICE</vt:lpstr>
      <vt:lpstr>SWITCHGEAR REMOTELY OPERATED RACKING DEVICE</vt:lpstr>
      <vt:lpstr>RACKING DEVICE CONT’D </vt:lpstr>
      <vt:lpstr>PORTABLE MECHANISM OPERATED CELL</vt:lpstr>
      <vt:lpstr>ENDOSCOPIC VISION SYSTEM</vt:lpstr>
      <vt:lpstr>TEAR-INDUCING HEATER</vt:lpstr>
      <vt:lpstr>NARROW LOCK</vt:lpstr>
      <vt:lpstr>CENTRIFUGAL AIR COMPRESSOR DUAL OIL COOLER</vt:lpstr>
      <vt:lpstr>EPOXY COATED “ARM”</vt:lpstr>
      <vt:lpstr>CAN DISPENSER</vt:lpstr>
      <vt:lpstr>COFFEE ROASTER</vt:lpstr>
      <vt:lpstr>PERSONAL PROJECTS</vt:lpstr>
      <vt:lpstr>RFID ESCAPE ROOM PUZZLE</vt:lpstr>
      <vt:lpstr>3D PRINTS &amp; MAKES</vt:lpstr>
      <vt:lpstr>3D PRINTS &amp; MAKES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PORTFOLIO Michael Murray Sr. Mechanical Design Engineer 2009-2024</dc:title>
  <dc:creator>Murray, Michael</dc:creator>
  <cp:lastModifiedBy>Michael Murray</cp:lastModifiedBy>
  <cp:revision>163</cp:revision>
  <dcterms:modified xsi:type="dcterms:W3CDTF">2026-10-12T20:16:26Z</dcterms:modified>
</cp:coreProperties>
</file>